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 id="2147483661" r:id="rId4"/>
    <p:sldMasterId id="2147483663" r:id="rId5"/>
    <p:sldMasterId id="2147483664" r:id="rId6"/>
    <p:sldMasterId id="2147483666" r:id="rId7"/>
    <p:sldMasterId id="2147483668" r:id="rId8"/>
  </p:sldMasterIdLst>
  <p:notesMasterIdLst>
    <p:notesMasterId r:id="rId13"/>
  </p:notesMasterIdLst>
  <p:handoutMasterIdLst>
    <p:handoutMasterId r:id="rId24"/>
  </p:handoutMasterIdLst>
  <p:sldIdLst>
    <p:sldId id="577" r:id="rId9"/>
    <p:sldId id="607" r:id="rId10"/>
    <p:sldId id="619" r:id="rId11"/>
    <p:sldId id="639" r:id="rId12"/>
    <p:sldId id="640" r:id="rId14"/>
    <p:sldId id="641" r:id="rId15"/>
    <p:sldId id="643" r:id="rId16"/>
    <p:sldId id="647" r:id="rId17"/>
    <p:sldId id="648" r:id="rId18"/>
    <p:sldId id="630" r:id="rId19"/>
    <p:sldId id="644" r:id="rId20"/>
    <p:sldId id="645" r:id="rId21"/>
    <p:sldId id="646" r:id="rId22"/>
    <p:sldId id="651" r:id="rId23"/>
  </p:sldIdLst>
  <p:sldSz cx="12192000" cy="6858000"/>
  <p:notesSz cx="6858000" cy="9144000"/>
  <p:embeddedFontLst>
    <p:embeddedFont>
      <p:font typeface="Calibri" panose="020F0502020204030204"/>
      <p:regular r:id="rId28"/>
      <p:bold r:id="rId29"/>
      <p:italic r:id="rId30"/>
      <p:boldItalic r:id="rId31"/>
    </p:embeddedFont>
    <p:embeddedFont>
      <p:font typeface="Microsoft YaHei" panose="020B0503020204020204" charset="-122"/>
      <p:regular r:id="rId3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12" userDrawn="1">
          <p15:clr>
            <a:srgbClr val="A4A3A4"/>
          </p15:clr>
        </p15:guide>
        <p15:guide id="2" pos="379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252"/>
    <a:srgbClr val="D0A4A5"/>
    <a:srgbClr val="DAB8B9"/>
    <a:srgbClr val="A45658"/>
    <a:srgbClr val="CD7F81"/>
    <a:srgbClr val="D4B588"/>
    <a:srgbClr val="E7CBA3"/>
    <a:srgbClr val="F4CD96"/>
    <a:srgbClr val="C1B199"/>
    <a:srgbClr val="AE99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9559" autoAdjust="0"/>
    <p:restoredTop sz="94660"/>
  </p:normalViewPr>
  <p:slideViewPr>
    <p:cSldViewPr snapToGrid="0" showGuides="1">
      <p:cViewPr>
        <p:scale>
          <a:sx n="50" d="100"/>
          <a:sy n="50" d="100"/>
        </p:scale>
        <p:origin x="2106" y="1374"/>
      </p:cViewPr>
      <p:guideLst>
        <p:guide orient="horz" pos="2312"/>
        <p:guide pos="3791"/>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Master" Target="slideMasters/slideMaster2.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notesMaster" Target="notesMasters/notesMaster1.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Arial" panose="020B060402020202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Arial" panose="020B0604020202020204" pitchFamily="34" charset="0"/>
              </a:defRPr>
            </a:lvl1pPr>
          </a:lstStyle>
          <a:p>
            <a:fld id="{7FCF797E-0F98-4FBF-B001-2F886ADDD41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ea typeface="Arial" panose="020B060402020202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ea typeface="Arial" panose="020B0604020202020204" pitchFamily="34" charset="0"/>
              </a:defRPr>
            </a:lvl1pPr>
          </a:lstStyle>
          <a:p>
            <a:fld id="{BDCD27B4-F875-477E-9EE1-9D4B0D1998A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1pPr>
    <a:lvl2pPr marL="4572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2pPr>
    <a:lvl3pPr marL="9144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3pPr>
    <a:lvl4pPr marL="13716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4pPr>
    <a:lvl5pPr marL="18288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title">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and title">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and title">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7BF4A51-10B2-433A-ADB8-406F392DA8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253F59-1630-4D8F-A124-436A6BF89A1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2818356" y="3870544"/>
            <a:ext cx="6538587" cy="2987457"/>
          </a:xfrm>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defTabSz="914400">
              <a:defRPr/>
            </a:pPr>
            <a:fld id="{FC90233D-6623-4FA7-B772-378715BEA79F}" type="datetimeFigureOut">
              <a:rPr lang="zh-CN" altLang="en-US" smtClean="0">
                <a:solidFill>
                  <a:prstClr val="black">
                    <a:tint val="75000"/>
                  </a:prstClr>
                </a:solidFill>
                <a:latin typeface="Calibri" panose="020F0502020204030204"/>
              </a:rPr>
            </a:fld>
            <a:endParaRPr lang="zh-CN" altLang="en-US">
              <a:solidFill>
                <a:prstClr val="black">
                  <a:tint val="75000"/>
                </a:prstClr>
              </a:solidFill>
              <a:latin typeface="Calibri" panose="020F0502020204030204"/>
            </a:endParaRPr>
          </a:p>
        </p:txBody>
      </p:sp>
      <p:sp>
        <p:nvSpPr>
          <p:cNvPr id="5" name="页脚占位符 4"/>
          <p:cNvSpPr>
            <a:spLocks noGrp="1"/>
          </p:cNvSpPr>
          <p:nvPr>
            <p:ph type="ftr" sz="quarter" idx="11"/>
          </p:nvPr>
        </p:nvSpPr>
        <p:spPr/>
        <p:txBody>
          <a:bodyPr/>
          <a:lstStyle>
            <a:lvl1pPr>
              <a:defRPr>
                <a:ea typeface="Arial" panose="020B0604020202020204" pitchFamily="34" charset="0"/>
              </a:defRPr>
            </a:lvl1pPr>
          </a:lstStyle>
          <a:p>
            <a:pPr defTabSz="914400">
              <a:defRPr/>
            </a:pPr>
            <a:endParaRPr lang="zh-CN" altLang="en-US">
              <a:solidFill>
                <a:prstClr val="black">
                  <a:tint val="75000"/>
                </a:prstClr>
              </a:solidFill>
              <a:latin typeface="Calibri" panose="020F0502020204030204"/>
            </a:endParaRPr>
          </a:p>
        </p:txBody>
      </p:sp>
      <p:sp>
        <p:nvSpPr>
          <p:cNvPr id="6" name="灯片编号占位符 5"/>
          <p:cNvSpPr>
            <a:spLocks noGrp="1"/>
          </p:cNvSpPr>
          <p:nvPr>
            <p:ph type="sldNum" sz="quarter" idx="12"/>
          </p:nvPr>
        </p:nvSpPr>
        <p:spPr/>
        <p:txBody>
          <a:bodyPr/>
          <a:lstStyle/>
          <a:p>
            <a:pPr defTabSz="914400">
              <a:defRPr/>
            </a:pPr>
            <a:fld id="{A29F831F-6C41-4EC6-8E12-5116B983723A}" type="slidenum">
              <a:rPr lang="zh-CN" altLang="en-US" smtClean="0">
                <a:solidFill>
                  <a:prstClr val="black">
                    <a:tint val="75000"/>
                  </a:prstClr>
                </a:solidFill>
                <a:latin typeface="Calibri" panose="020F0502020204030204"/>
              </a:rPr>
            </a:fld>
            <a:endParaRPr lang="zh-CN" altLang="en-US">
              <a:solidFill>
                <a:prstClr val="black">
                  <a:tint val="75000"/>
                </a:prstClr>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evices_Tablet_H">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defTabSz="914400"/>
            <a:fld id="{82F288E0-7875-42C4-84C8-98DBBD3BF4D2}" type="datetimeFigureOut">
              <a:rPr lang="zh-CN" altLang="en-US" smtClean="0">
                <a:solidFill>
                  <a:prstClr val="black">
                    <a:tint val="75000"/>
                  </a:prstClr>
                </a:solidFill>
                <a:latin typeface="Calibri" panose="020F0502020204030204"/>
                <a:ea typeface="Arial" panose="020B0604020202020204" pitchFamily="34" charset="0"/>
              </a:rPr>
            </a:fld>
            <a:endParaRPr lang="zh-CN" altLang="en-US">
              <a:solidFill>
                <a:prstClr val="black">
                  <a:tint val="75000"/>
                </a:prstClr>
              </a:solidFill>
              <a:latin typeface="Calibri" panose="020F0502020204030204"/>
              <a:ea typeface="Arial" panose="020B0604020202020204" pitchFamily="34" charset="0"/>
            </a:endParaRPr>
          </a:p>
        </p:txBody>
      </p:sp>
      <p:sp>
        <p:nvSpPr>
          <p:cNvPr id="3" name="页脚占位符 2"/>
          <p:cNvSpPr>
            <a:spLocks noGrp="1"/>
          </p:cNvSpPr>
          <p:nvPr>
            <p:ph type="ftr" sz="quarter" idx="11"/>
          </p:nvPr>
        </p:nvSpPr>
        <p:spPr/>
        <p:txBody>
          <a:bodyPr/>
          <a:lstStyle>
            <a:lvl1pPr>
              <a:defRPr>
                <a:ea typeface="Arial" panose="020B0604020202020204" pitchFamily="34" charset="0"/>
              </a:defRPr>
            </a:lvl1pPr>
          </a:lstStyle>
          <a:p>
            <a:pPr defTabSz="914400"/>
            <a:endParaRPr lang="zh-CN" altLang="en-US">
              <a:solidFill>
                <a:prstClr val="black">
                  <a:tint val="75000"/>
                </a:prstClr>
              </a:solidFill>
              <a:latin typeface="Calibri" panose="020F0502020204030204"/>
            </a:endParaRPr>
          </a:p>
        </p:txBody>
      </p:sp>
      <p:sp>
        <p:nvSpPr>
          <p:cNvPr id="4" name="灯片编号占位符 3"/>
          <p:cNvSpPr>
            <a:spLocks noGrp="1"/>
          </p:cNvSpPr>
          <p:nvPr>
            <p:ph type="sldNum" sz="quarter" idx="12"/>
          </p:nvPr>
        </p:nvSpPr>
        <p:spPr/>
        <p:txBody>
          <a:bodyPr/>
          <a:lstStyle/>
          <a:p>
            <a:pPr defTabSz="914400"/>
            <a:fld id="{7D9BB5D0-35E4-459D-AEF3-FE4D7C45CC19}" type="slidenum">
              <a:rPr lang="zh-CN" altLang="en-US" smtClean="0">
                <a:solidFill>
                  <a:prstClr val="black">
                    <a:tint val="75000"/>
                  </a:prstClr>
                </a:solidFill>
                <a:latin typeface="Calibri" panose="020F0502020204030204"/>
                <a:ea typeface="Arial" panose="020B0604020202020204" pitchFamily="34" charset="0"/>
              </a:rPr>
            </a:fld>
            <a:endParaRPr lang="zh-CN" altLang="en-US">
              <a:solidFill>
                <a:prstClr val="black">
                  <a:tint val="75000"/>
                </a:prstClr>
              </a:solidFill>
              <a:latin typeface="Calibri" panose="020F0502020204030204"/>
              <a:ea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3.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4.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fld id="{97BF4A51-10B2-433A-ADB8-406F392DA8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defRPr>
            </a:lvl1pPr>
          </a:lstStyle>
          <a:p>
            <a:fld id="{8C253F59-1630-4D8F-A124-436A6BF89A1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a:effectLst>
            <a:outerShdw blurRad="88900" dist="101600" dir="5400000" algn="ctr" rotWithShape="0">
              <a:srgbClr val="000000">
                <a:alpha val="2000"/>
              </a:srgbClr>
            </a:outerShdw>
          </a:effectLst>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000" kern="1200">
          <a:solidFill>
            <a:srgbClr val="202020"/>
          </a:solidFill>
          <a:effectLst>
            <a:outerShdw blurRad="50800" dist="38100" dir="5400000" algn="t" rotWithShape="0">
              <a:prstClr val="black">
                <a:alpha val="20000"/>
              </a:prstClr>
            </a:outerShdw>
          </a:effectLst>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120000"/>
        </a:lnSpc>
        <a:spcBef>
          <a:spcPts val="1000"/>
        </a:spcBef>
        <a:buSzPct val="75000"/>
        <a:buFont typeface="Arial" panose="020B0604020202020204" pitchFamily="34" charset="0"/>
        <a:buChar char="•"/>
        <a:defRPr sz="2800" kern="1200">
          <a:solidFill>
            <a:schemeClr val="tx1">
              <a:lumMod val="85000"/>
              <a:lumOff val="15000"/>
            </a:schemeClr>
          </a:solidFill>
          <a:latin typeface="Arial" panose="020B0604020202020204" pitchFamily="34" charset="0"/>
          <a:ea typeface="Arial" panose="020B0604020202020204" pitchFamily="34" charset="0"/>
          <a:cs typeface="+mn-cs"/>
        </a:defRPr>
      </a:lvl1pPr>
      <a:lvl2pPr marL="575945" indent="-228600" algn="l" defTabSz="914400" rtl="0" eaLnBrk="1" fontAlgn="auto" latinLnBrk="0" hangingPunct="1">
        <a:lnSpc>
          <a:spcPct val="120000"/>
        </a:lnSpc>
        <a:spcBef>
          <a:spcPts val="500"/>
        </a:spcBef>
        <a:buSzPct val="75000"/>
        <a:buFont typeface="Arial" panose="020B0604020202020204" pitchFamily="34" charset="0"/>
        <a:buChar char="•"/>
        <a:defRPr sz="2200" kern="1200">
          <a:solidFill>
            <a:schemeClr val="tx1">
              <a:lumMod val="75000"/>
              <a:lumOff val="25000"/>
            </a:schemeClr>
          </a:solidFill>
          <a:latin typeface="Arial" panose="020B0604020202020204" pitchFamily="34" charset="0"/>
          <a:ea typeface="Arial" panose="020B0604020202020204" pitchFamily="34" charset="0"/>
          <a:cs typeface="+mn-cs"/>
        </a:defRPr>
      </a:lvl2pPr>
      <a:lvl3pPr marL="1007745" indent="-228600" algn="l" defTabSz="914400" rtl="0" eaLnBrk="1" fontAlgn="auto" latinLnBrk="0" hangingPunct="1">
        <a:lnSpc>
          <a:spcPct val="120000"/>
        </a:lnSpc>
        <a:spcBef>
          <a:spcPts val="500"/>
        </a:spcBef>
        <a:buSzPct val="75000"/>
        <a:buFont typeface="Arial" panose="020B0604020202020204" pitchFamily="34" charset="0"/>
        <a:buChar char="‒"/>
        <a:defRPr sz="2000" kern="1200">
          <a:solidFill>
            <a:schemeClr val="tx1">
              <a:lumMod val="65000"/>
              <a:lumOff val="35000"/>
            </a:schemeClr>
          </a:solidFill>
          <a:latin typeface="Arial" panose="020B0604020202020204" pitchFamily="34" charset="0"/>
          <a:ea typeface="Arial" panose="020B0604020202020204" pitchFamily="34" charset="0"/>
          <a:cs typeface="+mn-cs"/>
        </a:defRPr>
      </a:lvl3pPr>
      <a:lvl4pPr marL="1511935" indent="-228600" algn="l" defTabSz="914400" rtl="0" eaLnBrk="1" fontAlgn="auto" latinLnBrk="0" hangingPunct="1">
        <a:lnSpc>
          <a:spcPct val="100000"/>
        </a:lnSpc>
        <a:spcBef>
          <a:spcPts val="500"/>
        </a:spcBef>
        <a:buSzPct val="75000"/>
        <a:buFont typeface="Arial" panose="020B0604020202020204" pitchFamily="34" charset="0"/>
        <a:buChar char="˃"/>
        <a:defRPr sz="1800" kern="1200">
          <a:solidFill>
            <a:schemeClr val="tx1">
              <a:lumMod val="50000"/>
              <a:lumOff val="50000"/>
            </a:schemeClr>
          </a:solidFill>
          <a:latin typeface="Arial" panose="020B0604020202020204" pitchFamily="34" charset="0"/>
          <a:ea typeface="Arial" panose="020B0604020202020204" pitchFamily="34" charset="0"/>
          <a:cs typeface="+mn-cs"/>
        </a:defRPr>
      </a:lvl4pPr>
      <a:lvl5pPr marL="1943735" indent="-228600" algn="l" defTabSz="914400" rtl="0" eaLnBrk="1" fontAlgn="auto" latinLnBrk="0" hangingPunct="1">
        <a:lnSpc>
          <a:spcPct val="90000"/>
        </a:lnSpc>
        <a:spcBef>
          <a:spcPts val="500"/>
        </a:spcBef>
        <a:buSzPct val="75000"/>
        <a:buFont typeface="Arial" panose="020B0604020202020204" pitchFamily="34" charset="0"/>
        <a:buChar char="˃"/>
        <a:defRPr sz="1800" kern="1200">
          <a:solidFill>
            <a:schemeClr val="tx1">
              <a:lumMod val="50000"/>
              <a:lumOff val="50000"/>
            </a:schemeClr>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pPr defTabSz="914400"/>
            <a:fld id="{30D57B47-5F05-4ED0-A436-CE6768BA535A}"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pPr defTabSz="9144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defRPr>
            </a:lvl1pPr>
          </a:lstStyle>
          <a:p>
            <a:pPr defTabSz="914400"/>
            <a:fld id="{6D7E76DB-A669-4A76-9E2C-61311E6FAE4A}"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2" r:id="rId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pPr defTabSz="914400"/>
            <a:fld id="{30D57B47-5F05-4ED0-A436-CE6768BA535A}"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pPr defTabSz="9144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defRPr>
            </a:lvl1pPr>
          </a:lstStyle>
          <a:p>
            <a:pPr defTabSz="914400"/>
            <a:fld id="{6D7E76DB-A669-4A76-9E2C-61311E6FAE4A}"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pPr defTabSz="914400"/>
            <a:fld id="{FC90233D-6623-4FA7-B772-378715BEA79F}"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pPr defTabSz="914400"/>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defRPr>
            </a:lvl1pPr>
          </a:lstStyle>
          <a:p>
            <a:pPr defTabSz="914400"/>
            <a:fld id="{A29F831F-6C41-4EC6-8E12-5116B983723A}"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5" r:id="rId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182843" tIns="91422" rIns="182843" bIns="91422"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182843" tIns="91422" rIns="182843" bIns="91422"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5"/>
            <a:ext cx="2743200" cy="365125"/>
          </a:xfrm>
          <a:prstGeom prst="rect">
            <a:avLst/>
          </a:prstGeom>
        </p:spPr>
        <p:txBody>
          <a:bodyPr vert="horz" lIns="182843" tIns="91422" rIns="182843" bIns="91422" rtlCol="0" anchor="ctr"/>
          <a:lstStyle>
            <a:lvl1pPr algn="l">
              <a:defRPr sz="1200">
                <a:solidFill>
                  <a:schemeClr val="tx1">
                    <a:tint val="75000"/>
                  </a:schemeClr>
                </a:solidFill>
                <a:latin typeface="Arial" panose="020B0604020202020204" pitchFamily="34" charset="0"/>
                <a:ea typeface="Arial" panose="020B0604020202020204" pitchFamily="34" charset="0"/>
                <a:sym typeface="Arial" panose="020B0604020202020204" pitchFamily="34" charset="0"/>
              </a:defRPr>
            </a:lvl1pPr>
          </a:lstStyle>
          <a:p>
            <a:pPr fontAlgn="base">
              <a:spcBef>
                <a:spcPct val="0"/>
              </a:spcBef>
              <a:spcAft>
                <a:spcPct val="0"/>
              </a:spcAft>
            </a:pPr>
            <a:endParaRPr lang="en-US" dirty="0">
              <a:solidFill>
                <a:srgbClr val="7E7E7E">
                  <a:tint val="75000"/>
                </a:srgbClr>
              </a:solidFill>
            </a:endParaRPr>
          </a:p>
        </p:txBody>
      </p:sp>
      <p:sp>
        <p:nvSpPr>
          <p:cNvPr id="5" name="Footer Placeholder 4"/>
          <p:cNvSpPr>
            <a:spLocks noGrp="1"/>
          </p:cNvSpPr>
          <p:nvPr>
            <p:ph type="ftr" sz="quarter" idx="3"/>
          </p:nvPr>
        </p:nvSpPr>
        <p:spPr>
          <a:xfrm>
            <a:off x="4038600" y="6356355"/>
            <a:ext cx="4114800" cy="365125"/>
          </a:xfrm>
          <a:prstGeom prst="rect">
            <a:avLst/>
          </a:prstGeom>
        </p:spPr>
        <p:txBody>
          <a:bodyPr vert="horz" lIns="182843" tIns="91422" rIns="182843" bIns="91422" rtlCol="0" anchor="ctr"/>
          <a:lstStyle>
            <a:lvl1pPr algn="ctr">
              <a:defRPr sz="1200">
                <a:solidFill>
                  <a:schemeClr val="tx1">
                    <a:tint val="75000"/>
                  </a:schemeClr>
                </a:solidFill>
                <a:latin typeface="Arial" panose="020B0604020202020204" pitchFamily="34" charset="0"/>
                <a:ea typeface="Arial" panose="020B0604020202020204" pitchFamily="34" charset="0"/>
                <a:sym typeface="Arial" panose="020B0604020202020204" pitchFamily="34" charset="0"/>
              </a:defRPr>
            </a:lvl1pPr>
          </a:lstStyle>
          <a:p>
            <a:pPr fontAlgn="base">
              <a:spcBef>
                <a:spcPct val="0"/>
              </a:spcBef>
              <a:spcAft>
                <a:spcPct val="0"/>
              </a:spcAft>
            </a:pPr>
            <a:endParaRPr lang="en-US" dirty="0">
              <a:solidFill>
                <a:srgbClr val="7E7E7E">
                  <a:tint val="75000"/>
                </a:srgbClr>
              </a:solidFill>
            </a:endParaRPr>
          </a:p>
        </p:txBody>
      </p:sp>
      <p:sp>
        <p:nvSpPr>
          <p:cNvPr id="6" name="Slide Number Placeholder 5"/>
          <p:cNvSpPr>
            <a:spLocks noGrp="1"/>
          </p:cNvSpPr>
          <p:nvPr>
            <p:ph type="sldNum" sz="quarter" idx="4"/>
          </p:nvPr>
        </p:nvSpPr>
        <p:spPr>
          <a:xfrm>
            <a:off x="8610600" y="6356355"/>
            <a:ext cx="2743200" cy="365125"/>
          </a:xfrm>
          <a:prstGeom prst="rect">
            <a:avLst/>
          </a:prstGeom>
        </p:spPr>
        <p:txBody>
          <a:bodyPr vert="horz" lIns="182843" tIns="91422" rIns="182843" bIns="91422" rtlCol="0" anchor="ctr"/>
          <a:lstStyle>
            <a:lvl1pPr algn="r">
              <a:defRPr sz="1200">
                <a:solidFill>
                  <a:schemeClr val="tx1">
                    <a:tint val="75000"/>
                  </a:schemeClr>
                </a:solidFill>
                <a:latin typeface="Lato Regular"/>
              </a:defRPr>
            </a:lvl1pPr>
          </a:lstStyle>
          <a:p>
            <a:pPr fontAlgn="base">
              <a:spcBef>
                <a:spcPct val="0"/>
              </a:spcBef>
              <a:spcAft>
                <a:spcPct val="0"/>
              </a:spcAft>
            </a:pPr>
            <a:fld id="{FCEE2C88-6C8F-484D-AF69-578F576B1F44}" type="slidenum">
              <a:rPr lang="en-US" smtClean="0">
                <a:solidFill>
                  <a:srgbClr val="7E7E7E">
                    <a:tint val="75000"/>
                  </a:srgbClr>
                </a:solidFill>
                <a:sym typeface="Arial" panose="020B0604020202020204" pitchFamily="34" charset="0"/>
              </a:rPr>
            </a:fld>
            <a:endParaRPr lang="en-US" dirty="0">
              <a:solidFill>
                <a:srgbClr val="7E7E7E">
                  <a:tint val="75000"/>
                </a:srgbClr>
              </a:solidFill>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7" r:id="rId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hf hdr="0" ftr="0" dt="0"/>
  <p:txStyles>
    <p:titleStyle>
      <a:lvl1pPr algn="l" defTabSz="913765" rtl="0" eaLnBrk="1" latinLnBrk="0" hangingPunct="1">
        <a:lnSpc>
          <a:spcPct val="90000"/>
        </a:lnSpc>
        <a:spcBef>
          <a:spcPct val="0"/>
        </a:spcBef>
        <a:buNone/>
        <a:defRPr lang="en-US" sz="30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Arial" panose="020B0604020202020204" pitchFamily="34" charset="0"/>
          <a:ea typeface="Arial" panose="020B0604020202020204" pitchFamily="34" charset="0"/>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Arial" panose="020B0604020202020204" pitchFamily="34" charset="0"/>
          <a:ea typeface="Arial" panose="020B0604020202020204" pitchFamily="34" charset="0"/>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Arial" panose="020B0604020202020204" pitchFamily="34" charset="0"/>
          <a:ea typeface="Arial" panose="020B0604020202020204" pitchFamily="34" charset="0"/>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Arial" panose="020B0604020202020204" pitchFamily="34" charset="0"/>
          <a:ea typeface="Arial" panose="020B0604020202020204" pitchFamily="34" charset="0"/>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Arial" panose="020B0604020202020204" pitchFamily="34" charset="0"/>
          <a:ea typeface="Arial" panose="020B0604020202020204" pitchFamily="34" charset="0"/>
          <a:cs typeface="+mn-cs"/>
        </a:defRPr>
      </a:lvl5pPr>
      <a:lvl6pPr marL="25139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spcBef>
                <a:spcPct val="0"/>
              </a:spcBef>
              <a:spcAft>
                <a:spcPct val="0"/>
              </a:spcAft>
            </a:pPr>
            <a:fld id="{82F288E0-7875-42C4-84C8-98DBBD3BF4D2}" type="datetimeFigureOut">
              <a:rPr lang="zh-CN" altLang="en-US" smtClean="0">
                <a:solidFill>
                  <a:prstClr val="black">
                    <a:tint val="75000"/>
                  </a:prstClr>
                </a:solidFill>
                <a:latin typeface="Arial" panose="020B0604020202020204" pitchFamily="34" charset="0"/>
                <a:sym typeface="Arial" panose="020B0604020202020204" pitchFamily="34" charset="0"/>
              </a:rPr>
            </a:fld>
            <a:endParaRPr lang="zh-CN" altLang="en-US">
              <a:solidFill>
                <a:prstClr val="black">
                  <a:tint val="75000"/>
                </a:prstClr>
              </a:solidFill>
              <a:latin typeface="Arial" panose="020B0604020202020204" pitchFamily="34" charset="0"/>
              <a:sym typeface="Arial" panose="020B0604020202020204" pitchFamily="34" charset="0"/>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sym typeface="Arial" panose="020B0604020202020204" pitchFamily="34" charset="0"/>
              </a:defRPr>
            </a:lvl1pPr>
          </a:lstStyle>
          <a:p>
            <a:pPr fontAlgn="base">
              <a:spcBef>
                <a:spcPct val="0"/>
              </a:spcBef>
              <a:spcAft>
                <a:spcPct val="0"/>
              </a:spcAft>
            </a:pPr>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pPr>
            <a:fld id="{7D9BB5D0-35E4-459D-AEF3-FE4D7C45CC19}" type="slidenum">
              <a:rPr lang="zh-CN" altLang="en-US" smtClean="0">
                <a:solidFill>
                  <a:prstClr val="black">
                    <a:tint val="75000"/>
                  </a:prstClr>
                </a:solidFill>
                <a:latin typeface="Arial" panose="020B0604020202020204" pitchFamily="34" charset="0"/>
                <a:sym typeface="Arial" panose="020B0604020202020204" pitchFamily="34" charset="0"/>
              </a:rPr>
            </a:fld>
            <a:endParaRPr lang="zh-CN" altLang="en-US">
              <a:solidFill>
                <a:prstClr val="black">
                  <a:tint val="75000"/>
                </a:prstClr>
              </a:solidFill>
              <a:latin typeface="Arial" panose="020B0604020202020204" pitchFamily="34" charset="0"/>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9" r:id="rId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0" Type="http://schemas.openxmlformats.org/officeDocument/2006/relationships/slideLayout" Target="../slideLayouts/slideLayout2.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5.xml"/><Relationship Id="rId2" Type="http://schemas.openxmlformats.org/officeDocument/2006/relationships/tags" Target="../tags/tag35.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5.xml"/><Relationship Id="rId2" Type="http://schemas.openxmlformats.org/officeDocument/2006/relationships/tags" Target="../tags/tag36.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3" Type="http://schemas.openxmlformats.org/officeDocument/2006/relationships/slideLayout" Target="../slideLayouts/slideLayout14.xml"/><Relationship Id="rId22" Type="http://schemas.openxmlformats.org/officeDocument/2006/relationships/image" Target="../media/image1.png"/><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38.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15237392" flipV="1">
            <a:off x="4734560" y="-323215"/>
            <a:ext cx="6478270" cy="6687820"/>
          </a:xfrm>
          <a:prstGeom prst="rect">
            <a:avLst/>
          </a:prstGeom>
        </p:spPr>
      </p:pic>
      <p:sp>
        <p:nvSpPr>
          <p:cNvPr id="13" name="文本框 12"/>
          <p:cNvSpPr txBox="1"/>
          <p:nvPr/>
        </p:nvSpPr>
        <p:spPr>
          <a:xfrm>
            <a:off x="167640" y="1600835"/>
            <a:ext cx="10374630" cy="1631950"/>
          </a:xfrm>
          <a:prstGeom prst="rect">
            <a:avLst/>
          </a:prstGeom>
          <a:noFill/>
        </p:spPr>
        <p:txBody>
          <a:bodyPr wrap="square" rtlCol="0">
            <a:noAutofit/>
            <a:scene3d>
              <a:camera prst="orthographicFront"/>
              <a:lightRig rig="threePt" dir="t"/>
            </a:scene3d>
            <a:sp3d contourW="12700"/>
          </a:bodyPr>
          <a:lstStyle/>
          <a:p>
            <a:pPr algn="just" fontAlgn="base">
              <a:lnSpc>
                <a:spcPct val="120000"/>
              </a:lnSpc>
              <a:spcBef>
                <a:spcPct val="0"/>
              </a:spcBef>
              <a:spcAft>
                <a:spcPct val="0"/>
              </a:spcAft>
            </a:pPr>
            <a:r>
              <a:rPr lang="en-US" altLang="en-US" sz="2800" spc="-300" dirty="0">
                <a:solidFill>
                  <a:srgbClr val="37302B"/>
                </a:solidFill>
                <a:cs typeface="+mn-ea"/>
                <a:sym typeface="+mn-lt"/>
              </a:rPr>
              <a:t>DESIGN &amp; IMPLEMENTATION OF AN AI - POWERED</a:t>
            </a:r>
            <a:endParaRPr lang="en-US" altLang="en-US" sz="2800" spc="-300" dirty="0">
              <a:solidFill>
                <a:srgbClr val="37302B"/>
              </a:solidFill>
              <a:cs typeface="+mn-ea"/>
              <a:sym typeface="+mn-lt"/>
            </a:endParaRPr>
          </a:p>
          <a:p>
            <a:pPr algn="just" fontAlgn="base">
              <a:lnSpc>
                <a:spcPct val="120000"/>
              </a:lnSpc>
              <a:spcBef>
                <a:spcPct val="0"/>
              </a:spcBef>
              <a:spcAft>
                <a:spcPct val="0"/>
              </a:spcAft>
            </a:pPr>
            <a:r>
              <a:rPr lang="en-US" altLang="en-US" sz="2800" spc="-300" dirty="0">
                <a:solidFill>
                  <a:srgbClr val="37302B"/>
                </a:solidFill>
                <a:cs typeface="+mn-ea"/>
                <a:sym typeface="+mn-lt"/>
              </a:rPr>
              <a:t>TASK MANAGEMENT SYSTEM</a:t>
            </a:r>
            <a:endParaRPr lang="en-US" altLang="en-US" sz="2800" spc="-300" dirty="0">
              <a:solidFill>
                <a:srgbClr val="37302B"/>
              </a:solidFill>
              <a:cs typeface="+mn-ea"/>
              <a:sym typeface="+mn-lt"/>
            </a:endParaRPr>
          </a:p>
          <a:p>
            <a:pPr algn="just" fontAlgn="base">
              <a:lnSpc>
                <a:spcPct val="120000"/>
              </a:lnSpc>
              <a:spcBef>
                <a:spcPct val="0"/>
              </a:spcBef>
              <a:spcAft>
                <a:spcPct val="0"/>
              </a:spcAft>
            </a:pPr>
            <a:r>
              <a:rPr lang="en-US" altLang="en-US" sz="2800" spc="-300" dirty="0">
                <a:solidFill>
                  <a:srgbClr val="37302B"/>
                </a:solidFill>
                <a:cs typeface="+mn-ea"/>
                <a:sym typeface="+mn-lt"/>
              </a:rPr>
              <a:t>(TASKWISE)</a:t>
            </a:r>
            <a:endParaRPr lang="en-US" altLang="en-US" sz="2800" spc="-300" dirty="0">
              <a:solidFill>
                <a:srgbClr val="37302B"/>
              </a:solidFill>
              <a:cs typeface="+mn-ea"/>
              <a:sym typeface="+mn-lt"/>
            </a:endParaRPr>
          </a:p>
        </p:txBody>
      </p:sp>
      <p:sp>
        <p:nvSpPr>
          <p:cNvPr id="2" name="Text Box 1"/>
          <p:cNvSpPr txBox="1"/>
          <p:nvPr/>
        </p:nvSpPr>
        <p:spPr>
          <a:xfrm>
            <a:off x="208280" y="3507105"/>
            <a:ext cx="4683125" cy="1683385"/>
          </a:xfrm>
          <a:prstGeom prst="rect">
            <a:avLst/>
          </a:prstGeom>
          <a:noFill/>
        </p:spPr>
        <p:txBody>
          <a:bodyPr wrap="square" rtlCol="0">
            <a:noAutofit/>
          </a:bodyPr>
          <a:p>
            <a:pPr algn="ctr">
              <a:lnSpc>
                <a:spcPct val="150000"/>
              </a:lnSpc>
            </a:pPr>
            <a:r>
              <a:rPr lang="en-US" altLang="en-US" b="1">
                <a:latin typeface="Times New Roman" panose="02020603050405020304" charset="0"/>
                <a:cs typeface="Times New Roman" panose="02020603050405020304" charset="0"/>
              </a:rPr>
              <a:t>GROUP 4</a:t>
            </a:r>
            <a:endParaRPr lang="en-US" altLang="en-US" b="1">
              <a:latin typeface="Times New Roman" panose="02020603050405020304" charset="0"/>
              <a:cs typeface="Times New Roman" panose="02020603050405020304" charset="0"/>
            </a:endParaRPr>
          </a:p>
          <a:p>
            <a:pPr algn="l">
              <a:lnSpc>
                <a:spcPct val="150000"/>
              </a:lnSpc>
            </a:pPr>
            <a:r>
              <a:rPr lang="en-US" altLang="en-US" b="1">
                <a:latin typeface="Times New Roman" panose="02020603050405020304" charset="0"/>
                <a:cs typeface="Times New Roman" panose="02020603050405020304" charset="0"/>
              </a:rPr>
              <a:t>ADEBOWALE OLUWASEGUN  22/0306</a:t>
            </a:r>
            <a:endParaRPr lang="en-US" altLang="en-US" b="1">
              <a:latin typeface="Times New Roman" panose="02020603050405020304" charset="0"/>
              <a:cs typeface="Times New Roman" panose="02020603050405020304" charset="0"/>
            </a:endParaRPr>
          </a:p>
          <a:p>
            <a:pPr algn="l">
              <a:lnSpc>
                <a:spcPct val="150000"/>
              </a:lnSpc>
            </a:pPr>
            <a:r>
              <a:rPr lang="en-US" altLang="en-US" b="1">
                <a:latin typeface="Times New Roman" panose="02020603050405020304" charset="0"/>
                <a:cs typeface="Times New Roman" panose="02020603050405020304" charset="0"/>
              </a:rPr>
              <a:t> AGOHA EMMANUEL          22/0255 </a:t>
            </a:r>
            <a:endParaRPr lang="en-US" altLang="en-US" b="1">
              <a:latin typeface="Times New Roman" panose="02020603050405020304" charset="0"/>
              <a:cs typeface="Times New Roman" panose="02020603050405020304" charset="0"/>
            </a:endParaRPr>
          </a:p>
          <a:p>
            <a:pPr algn="l">
              <a:lnSpc>
                <a:spcPct val="150000"/>
              </a:lnSpc>
            </a:pPr>
            <a:r>
              <a:rPr lang="en-US" altLang="en-US" b="1">
                <a:latin typeface="Times New Roman" panose="02020603050405020304" charset="0"/>
                <a:cs typeface="Times New Roman" panose="02020603050405020304" charset="0"/>
              </a:rPr>
              <a:t>ANURIAM ISAAC          22/0004</a:t>
            </a:r>
            <a:endParaRPr lang="en-US" altLang="en-US" b="1">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750"/>
                                        <p:tgtEl>
                                          <p:spTgt spid="7"/>
                                        </p:tgtEl>
                                      </p:cBhvr>
                                    </p:animEffect>
                                  </p:childTnLst>
                                </p:cTn>
                              </p:par>
                            </p:childTnLst>
                          </p:cTn>
                        </p:par>
                        <p:par>
                          <p:cTn id="8" fill="hold">
                            <p:stCondLst>
                              <p:cond delay="1000"/>
                            </p:stCondLst>
                            <p:childTnLst>
                              <p:par>
                                <p:cTn id="9" presetID="2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750" fill="hold"/>
                                        <p:tgtEl>
                                          <p:spTgt spid="13"/>
                                        </p:tgtEl>
                                        <p:attrNameLst>
                                          <p:attrName>ppt_w</p:attrName>
                                        </p:attrNameLst>
                                      </p:cBhvr>
                                      <p:tavLst>
                                        <p:tav tm="0">
                                          <p:val>
                                            <p:fltVal val="0"/>
                                          </p:val>
                                        </p:tav>
                                        <p:tav tm="100000">
                                          <p:val>
                                            <p:strVal val="#ppt_w"/>
                                          </p:val>
                                        </p:tav>
                                      </p:tavLst>
                                    </p:anim>
                                    <p:anim calcmode="lin" valueType="num">
                                      <p:cBhvr>
                                        <p:cTn id="12" dur="75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12404141" flipH="1" flipV="1">
            <a:off x="6487795" y="-242570"/>
            <a:ext cx="7261860" cy="5575300"/>
          </a:xfrm>
          <a:prstGeom prst="rect">
            <a:avLst/>
          </a:prstGeom>
        </p:spPr>
      </p:pic>
      <p:grpSp>
        <p:nvGrpSpPr>
          <p:cNvPr id="57" name="组合 56"/>
          <p:cNvGrpSpPr/>
          <p:nvPr>
            <p:custDataLst>
              <p:tags r:id="rId2"/>
            </p:custDataLst>
          </p:nvPr>
        </p:nvGrpSpPr>
        <p:grpSpPr>
          <a:xfrm>
            <a:off x="6981746" y="1539574"/>
            <a:ext cx="3943364" cy="678005"/>
            <a:chOff x="7286546" y="2777189"/>
            <a:chExt cx="3943364" cy="678005"/>
          </a:xfrm>
        </p:grpSpPr>
        <p:sp>
          <p:nvSpPr>
            <p:cNvPr id="58" name="椭圆 1"/>
            <p:cNvSpPr>
              <a:spLocks noChangeArrowheads="1"/>
            </p:cNvSpPr>
            <p:nvPr>
              <p:custDataLst>
                <p:tags r:id="rId3"/>
              </p:custDataLst>
            </p:nvPr>
          </p:nvSpPr>
          <p:spPr bwMode="auto">
            <a:xfrm>
              <a:off x="7286546" y="2777189"/>
              <a:ext cx="678005" cy="678005"/>
            </a:xfrm>
            <a:prstGeom prst="rect">
              <a:avLst/>
            </a:prstGeom>
            <a:solidFill>
              <a:srgbClr val="525252"/>
            </a:solidFill>
            <a:ln w="28575">
              <a:noFill/>
            </a:ln>
            <a:effectLst/>
          </p:spPr>
          <p:txBody>
            <a:bodyPr anchor="ct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algn="ctr" eaLnBrk="1" hangingPunct="1">
                <a:defRPr/>
              </a:pPr>
              <a:endParaRPr lang="zh-CN" altLang="en-US" kern="0">
                <a:solidFill>
                  <a:srgbClr val="525252"/>
                </a:solidFill>
                <a:latin typeface="+mn-lt"/>
                <a:ea typeface="+mn-ea"/>
                <a:cs typeface="+mn-ea"/>
                <a:sym typeface="+mn-lt"/>
              </a:endParaRPr>
            </a:p>
          </p:txBody>
        </p:sp>
        <p:sp>
          <p:nvSpPr>
            <p:cNvPr id="59" name="TextBox 32"/>
            <p:cNvSpPr txBox="1">
              <a:spLocks noChangeArrowheads="1"/>
            </p:cNvSpPr>
            <p:nvPr>
              <p:custDataLst>
                <p:tags r:id="rId4"/>
              </p:custDataLst>
            </p:nvPr>
          </p:nvSpPr>
          <p:spPr bwMode="auto">
            <a:xfrm>
              <a:off x="7345414" y="2850012"/>
              <a:ext cx="5822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eaLnBrk="1" hangingPunct="1">
                <a:defRPr/>
              </a:pPr>
              <a:r>
                <a:rPr lang="en-US" altLang="zh-CN" sz="2800" kern="0" dirty="0">
                  <a:solidFill>
                    <a:prstClr val="white"/>
                  </a:solidFill>
                  <a:latin typeface="+mn-lt"/>
                  <a:ea typeface="+mn-ea"/>
                  <a:cs typeface="+mn-ea"/>
                  <a:sym typeface="+mn-lt"/>
                </a:rPr>
                <a:t>02</a:t>
              </a:r>
              <a:endParaRPr lang="zh-CN" altLang="en-US" sz="2800" kern="0" dirty="0">
                <a:solidFill>
                  <a:prstClr val="white"/>
                </a:solidFill>
                <a:latin typeface="+mn-lt"/>
                <a:ea typeface="+mn-ea"/>
                <a:cs typeface="+mn-ea"/>
                <a:sym typeface="+mn-lt"/>
              </a:endParaRPr>
            </a:p>
          </p:txBody>
        </p:sp>
        <p:sp>
          <p:nvSpPr>
            <p:cNvPr id="60" name="矩形 59"/>
            <p:cNvSpPr/>
            <p:nvPr>
              <p:custDataLst>
                <p:tags r:id="rId5"/>
              </p:custDataLst>
            </p:nvPr>
          </p:nvSpPr>
          <p:spPr>
            <a:xfrm>
              <a:off x="8170480" y="2942243"/>
              <a:ext cx="3059430" cy="398780"/>
            </a:xfrm>
            <a:prstGeom prst="rect">
              <a:avLst/>
            </a:prstGeom>
          </p:spPr>
          <p:txBody>
            <a:bodyPr wrap="square">
              <a:spAutoFit/>
            </a:bodyPr>
            <a:lstStyle/>
            <a:p>
              <a:pPr algn="l">
                <a:spcBef>
                  <a:spcPct val="0"/>
                </a:spcBef>
                <a:defRPr/>
              </a:pPr>
              <a:r>
                <a:rPr lang="en-US" altLang="en-US" sz="2000" kern="0" dirty="0">
                  <a:solidFill>
                    <a:prstClr val="black">
                      <a:lumMod val="75000"/>
                      <a:lumOff val="25000"/>
                    </a:prstClr>
                  </a:solidFill>
                  <a:cs typeface="+mn-ea"/>
                  <a:sym typeface="+mn-lt"/>
                </a:rPr>
                <a:t>Statement of the Problem</a:t>
              </a:r>
              <a:endParaRPr lang="en-US" altLang="en-US" sz="2000" kern="0" dirty="0">
                <a:solidFill>
                  <a:prstClr val="black">
                    <a:lumMod val="75000"/>
                    <a:lumOff val="25000"/>
                  </a:prstClr>
                </a:solidFill>
                <a:cs typeface="+mn-ea"/>
                <a:sym typeface="+mn-lt"/>
              </a:endParaRPr>
            </a:p>
          </p:txBody>
        </p:sp>
      </p:grpSp>
      <p:grpSp>
        <p:nvGrpSpPr>
          <p:cNvPr id="62" name="组合 61"/>
          <p:cNvGrpSpPr/>
          <p:nvPr>
            <p:custDataLst>
              <p:tags r:id="rId6"/>
            </p:custDataLst>
          </p:nvPr>
        </p:nvGrpSpPr>
        <p:grpSpPr>
          <a:xfrm>
            <a:off x="1355986" y="2794716"/>
            <a:ext cx="3253119" cy="678005"/>
            <a:chOff x="2171961" y="4139646"/>
            <a:chExt cx="3253119" cy="678005"/>
          </a:xfrm>
        </p:grpSpPr>
        <p:sp>
          <p:nvSpPr>
            <p:cNvPr id="63" name="椭圆 1"/>
            <p:cNvSpPr>
              <a:spLocks noChangeArrowheads="1"/>
            </p:cNvSpPr>
            <p:nvPr>
              <p:custDataLst>
                <p:tags r:id="rId7"/>
              </p:custDataLst>
            </p:nvPr>
          </p:nvSpPr>
          <p:spPr bwMode="auto">
            <a:xfrm>
              <a:off x="2171961" y="4139646"/>
              <a:ext cx="678005" cy="678005"/>
            </a:xfrm>
            <a:prstGeom prst="rect">
              <a:avLst/>
            </a:prstGeom>
            <a:solidFill>
              <a:srgbClr val="525252"/>
            </a:solidFill>
            <a:ln w="28575">
              <a:noFill/>
            </a:ln>
            <a:effectLst/>
          </p:spPr>
          <p:txBody>
            <a:bodyPr anchor="ct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algn="ctr" eaLnBrk="1" hangingPunct="1">
                <a:defRPr/>
              </a:pPr>
              <a:endParaRPr lang="zh-CN" altLang="en-US" kern="0">
                <a:solidFill>
                  <a:prstClr val="white"/>
                </a:solidFill>
                <a:latin typeface="+mn-lt"/>
                <a:ea typeface="+mn-ea"/>
                <a:cs typeface="+mn-ea"/>
                <a:sym typeface="+mn-lt"/>
              </a:endParaRPr>
            </a:p>
          </p:txBody>
        </p:sp>
        <p:sp>
          <p:nvSpPr>
            <p:cNvPr id="64" name="TextBox 32"/>
            <p:cNvSpPr txBox="1">
              <a:spLocks noChangeArrowheads="1"/>
            </p:cNvSpPr>
            <p:nvPr>
              <p:custDataLst>
                <p:tags r:id="rId8"/>
              </p:custDataLst>
            </p:nvPr>
          </p:nvSpPr>
          <p:spPr bwMode="auto">
            <a:xfrm>
              <a:off x="2230829" y="4212469"/>
              <a:ext cx="5822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eaLnBrk="1" hangingPunct="1">
                <a:defRPr/>
              </a:pPr>
              <a:r>
                <a:rPr lang="en-US" altLang="zh-CN" sz="2800" kern="0" dirty="0">
                  <a:solidFill>
                    <a:prstClr val="white"/>
                  </a:solidFill>
                  <a:latin typeface="+mn-lt"/>
                  <a:ea typeface="+mn-ea"/>
                  <a:cs typeface="+mn-ea"/>
                  <a:sym typeface="+mn-lt"/>
                </a:rPr>
                <a:t>03</a:t>
              </a:r>
              <a:endParaRPr lang="zh-CN" altLang="en-US" sz="2800" kern="0" dirty="0">
                <a:solidFill>
                  <a:prstClr val="white"/>
                </a:solidFill>
                <a:latin typeface="+mn-lt"/>
                <a:ea typeface="+mn-ea"/>
                <a:cs typeface="+mn-ea"/>
                <a:sym typeface="+mn-lt"/>
              </a:endParaRPr>
            </a:p>
          </p:txBody>
        </p:sp>
        <p:sp>
          <p:nvSpPr>
            <p:cNvPr id="65" name="矩形 64"/>
            <p:cNvSpPr/>
            <p:nvPr>
              <p:custDataLst>
                <p:tags r:id="rId9"/>
              </p:custDataLst>
            </p:nvPr>
          </p:nvSpPr>
          <p:spPr>
            <a:xfrm>
              <a:off x="3055895" y="4257569"/>
              <a:ext cx="2369185" cy="398780"/>
            </a:xfrm>
            <a:prstGeom prst="rect">
              <a:avLst/>
            </a:prstGeom>
          </p:spPr>
          <p:txBody>
            <a:bodyPr wrap="square">
              <a:spAutoFit/>
            </a:bodyPr>
            <a:lstStyle/>
            <a:p>
              <a:pPr algn="l">
                <a:spcBef>
                  <a:spcPct val="0"/>
                </a:spcBef>
                <a:defRPr/>
              </a:pPr>
              <a:r>
                <a:rPr lang="en-US" altLang="en-US" sz="2000" kern="0" dirty="0">
                  <a:solidFill>
                    <a:prstClr val="black">
                      <a:lumMod val="75000"/>
                      <a:lumOff val="25000"/>
                    </a:prstClr>
                  </a:solidFill>
                  <a:cs typeface="+mn-ea"/>
                  <a:sym typeface="+mn-lt"/>
                </a:rPr>
                <a:t>Aim and Objectives</a:t>
              </a:r>
              <a:endParaRPr lang="en-US" altLang="en-US" sz="2000" kern="0" dirty="0">
                <a:solidFill>
                  <a:prstClr val="black">
                    <a:lumMod val="75000"/>
                    <a:lumOff val="25000"/>
                  </a:prstClr>
                </a:solidFill>
                <a:cs typeface="+mn-ea"/>
                <a:sym typeface="+mn-lt"/>
              </a:endParaRPr>
            </a:p>
          </p:txBody>
        </p:sp>
      </p:grpSp>
      <p:grpSp>
        <p:nvGrpSpPr>
          <p:cNvPr id="67" name="组合 66"/>
          <p:cNvGrpSpPr/>
          <p:nvPr>
            <p:custDataLst>
              <p:tags r:id="rId10"/>
            </p:custDataLst>
          </p:nvPr>
        </p:nvGrpSpPr>
        <p:grpSpPr>
          <a:xfrm>
            <a:off x="6981747" y="2731851"/>
            <a:ext cx="3041029" cy="678005"/>
            <a:chOff x="7286547" y="4139646"/>
            <a:chExt cx="3041029" cy="678005"/>
          </a:xfrm>
        </p:grpSpPr>
        <p:sp>
          <p:nvSpPr>
            <p:cNvPr id="68" name="椭圆 1"/>
            <p:cNvSpPr>
              <a:spLocks noChangeArrowheads="1"/>
            </p:cNvSpPr>
            <p:nvPr>
              <p:custDataLst>
                <p:tags r:id="rId11"/>
              </p:custDataLst>
            </p:nvPr>
          </p:nvSpPr>
          <p:spPr bwMode="auto">
            <a:xfrm>
              <a:off x="7286547" y="4139646"/>
              <a:ext cx="678005" cy="678005"/>
            </a:xfrm>
            <a:prstGeom prst="rect">
              <a:avLst/>
            </a:prstGeom>
            <a:solidFill>
              <a:srgbClr val="525252"/>
            </a:solidFill>
            <a:ln w="28575">
              <a:noFill/>
            </a:ln>
            <a:effectLst/>
          </p:spPr>
          <p:txBody>
            <a:bodyPr anchor="ct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algn="ctr" eaLnBrk="1" hangingPunct="1">
                <a:defRPr/>
              </a:pPr>
              <a:endParaRPr lang="zh-CN" altLang="en-US" kern="0">
                <a:solidFill>
                  <a:prstClr val="white"/>
                </a:solidFill>
                <a:latin typeface="+mn-lt"/>
                <a:ea typeface="+mn-ea"/>
                <a:cs typeface="+mn-ea"/>
                <a:sym typeface="+mn-lt"/>
              </a:endParaRPr>
            </a:p>
          </p:txBody>
        </p:sp>
        <p:sp>
          <p:nvSpPr>
            <p:cNvPr id="69" name="TextBox 32"/>
            <p:cNvSpPr txBox="1">
              <a:spLocks noChangeArrowheads="1"/>
            </p:cNvSpPr>
            <p:nvPr>
              <p:custDataLst>
                <p:tags r:id="rId12"/>
              </p:custDataLst>
            </p:nvPr>
          </p:nvSpPr>
          <p:spPr bwMode="auto">
            <a:xfrm>
              <a:off x="7345415" y="4212469"/>
              <a:ext cx="5822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eaLnBrk="1" hangingPunct="1">
                <a:defRPr/>
              </a:pPr>
              <a:r>
                <a:rPr lang="en-US" altLang="zh-CN" sz="2800" kern="0" dirty="0">
                  <a:solidFill>
                    <a:prstClr val="white"/>
                  </a:solidFill>
                  <a:latin typeface="+mn-lt"/>
                  <a:ea typeface="+mn-ea"/>
                  <a:cs typeface="+mn-ea"/>
                  <a:sym typeface="+mn-lt"/>
                </a:rPr>
                <a:t>04</a:t>
              </a:r>
              <a:endParaRPr lang="zh-CN" altLang="en-US" sz="2800" kern="0" dirty="0">
                <a:solidFill>
                  <a:prstClr val="white"/>
                </a:solidFill>
                <a:latin typeface="+mn-lt"/>
                <a:ea typeface="+mn-ea"/>
                <a:cs typeface="+mn-ea"/>
                <a:sym typeface="+mn-lt"/>
              </a:endParaRPr>
            </a:p>
          </p:txBody>
        </p:sp>
        <p:sp>
          <p:nvSpPr>
            <p:cNvPr id="70" name="矩形 69"/>
            <p:cNvSpPr/>
            <p:nvPr>
              <p:custDataLst>
                <p:tags r:id="rId13"/>
              </p:custDataLst>
            </p:nvPr>
          </p:nvSpPr>
          <p:spPr>
            <a:xfrm>
              <a:off x="8170481" y="4304702"/>
              <a:ext cx="2157095" cy="398780"/>
            </a:xfrm>
            <a:prstGeom prst="rect">
              <a:avLst/>
            </a:prstGeom>
          </p:spPr>
          <p:txBody>
            <a:bodyPr wrap="square">
              <a:spAutoFit/>
            </a:bodyPr>
            <a:lstStyle/>
            <a:p>
              <a:pPr algn="l">
                <a:spcBef>
                  <a:spcPct val="0"/>
                </a:spcBef>
                <a:defRPr/>
              </a:pPr>
              <a:r>
                <a:rPr lang="en-US" altLang="en-US" sz="2000" kern="0" dirty="0">
                  <a:solidFill>
                    <a:prstClr val="black">
                      <a:lumMod val="75000"/>
                      <a:lumOff val="25000"/>
                    </a:prstClr>
                  </a:solidFill>
                  <a:cs typeface="+mn-ea"/>
                  <a:sym typeface="+mn-lt"/>
                </a:rPr>
                <a:t>Literature Review</a:t>
              </a:r>
              <a:endParaRPr lang="en-US" altLang="en-US" sz="2000" kern="0" dirty="0">
                <a:solidFill>
                  <a:prstClr val="black">
                    <a:lumMod val="75000"/>
                    <a:lumOff val="25000"/>
                  </a:prstClr>
                </a:solidFill>
                <a:cs typeface="+mn-ea"/>
                <a:sym typeface="+mn-lt"/>
              </a:endParaRPr>
            </a:p>
          </p:txBody>
        </p:sp>
      </p:grpSp>
      <p:sp>
        <p:nvSpPr>
          <p:cNvPr id="73" name="文本框 72"/>
          <p:cNvSpPr txBox="1"/>
          <p:nvPr/>
        </p:nvSpPr>
        <p:spPr>
          <a:xfrm>
            <a:off x="3747770" y="618490"/>
            <a:ext cx="4308475" cy="645160"/>
          </a:xfrm>
          <a:prstGeom prst="rect">
            <a:avLst/>
          </a:prstGeom>
          <a:noFill/>
        </p:spPr>
        <p:txBody>
          <a:bodyPr wrap="square" rtlCol="0">
            <a:spAutoFit/>
          </a:bodyPr>
          <a:lstStyle/>
          <a:p>
            <a:pPr algn="ctr">
              <a:defRPr/>
            </a:pPr>
            <a:r>
              <a:rPr lang="en-US" altLang="en-US" sz="3600" b="1" dirty="0">
                <a:solidFill>
                  <a:prstClr val="black">
                    <a:lumMod val="85000"/>
                    <a:lumOff val="15000"/>
                  </a:prstClr>
                </a:solidFill>
                <a:cs typeface="+mn-ea"/>
                <a:sym typeface="+mn-lt"/>
              </a:rPr>
              <a:t>Table of Contents</a:t>
            </a:r>
            <a:endParaRPr lang="en-US" altLang="en-US" sz="3600" b="1" dirty="0">
              <a:solidFill>
                <a:prstClr val="black">
                  <a:lumMod val="85000"/>
                  <a:lumOff val="15000"/>
                </a:prstClr>
              </a:solidFill>
              <a:cs typeface="+mn-ea"/>
              <a:sym typeface="+mn-lt"/>
            </a:endParaRPr>
          </a:p>
        </p:txBody>
      </p:sp>
      <p:grpSp>
        <p:nvGrpSpPr>
          <p:cNvPr id="75" name="组合 74"/>
          <p:cNvGrpSpPr/>
          <p:nvPr>
            <p:custDataLst>
              <p:tags r:id="rId14"/>
            </p:custDataLst>
          </p:nvPr>
        </p:nvGrpSpPr>
        <p:grpSpPr>
          <a:xfrm>
            <a:off x="1355985" y="1546559"/>
            <a:ext cx="2392059" cy="678005"/>
            <a:chOff x="2171960" y="2777189"/>
            <a:chExt cx="2392059" cy="678005"/>
          </a:xfrm>
        </p:grpSpPr>
        <p:sp>
          <p:nvSpPr>
            <p:cNvPr id="76" name="椭圆 1"/>
            <p:cNvSpPr>
              <a:spLocks noChangeArrowheads="1"/>
            </p:cNvSpPr>
            <p:nvPr>
              <p:custDataLst>
                <p:tags r:id="rId15"/>
              </p:custDataLst>
            </p:nvPr>
          </p:nvSpPr>
          <p:spPr bwMode="auto">
            <a:xfrm>
              <a:off x="2171960" y="2777189"/>
              <a:ext cx="678005" cy="678005"/>
            </a:xfrm>
            <a:prstGeom prst="rect">
              <a:avLst/>
            </a:prstGeom>
            <a:solidFill>
              <a:srgbClr val="525252"/>
            </a:solidFill>
            <a:ln w="28575">
              <a:noFill/>
            </a:ln>
            <a:effectLst/>
          </p:spPr>
          <p:txBody>
            <a:bodyPr anchor="ct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algn="ctr" eaLnBrk="1" hangingPunct="1">
                <a:defRPr/>
              </a:pPr>
              <a:endParaRPr lang="zh-CN" altLang="en-US" kern="0">
                <a:solidFill>
                  <a:prstClr val="white"/>
                </a:solidFill>
                <a:latin typeface="+mn-lt"/>
                <a:ea typeface="+mn-ea"/>
                <a:cs typeface="+mn-ea"/>
                <a:sym typeface="+mn-lt"/>
              </a:endParaRPr>
            </a:p>
          </p:txBody>
        </p:sp>
        <p:sp>
          <p:nvSpPr>
            <p:cNvPr id="77" name="矩形 76"/>
            <p:cNvSpPr/>
            <p:nvPr>
              <p:custDataLst>
                <p:tags r:id="rId16"/>
              </p:custDataLst>
            </p:nvPr>
          </p:nvSpPr>
          <p:spPr>
            <a:xfrm>
              <a:off x="3055894" y="2913963"/>
              <a:ext cx="1508125" cy="398780"/>
            </a:xfrm>
            <a:prstGeom prst="rect">
              <a:avLst/>
            </a:prstGeom>
          </p:spPr>
          <p:txBody>
            <a:bodyPr wrap="square">
              <a:spAutoFit/>
            </a:bodyPr>
            <a:lstStyle/>
            <a:p>
              <a:pPr algn="l">
                <a:spcBef>
                  <a:spcPct val="0"/>
                </a:spcBef>
                <a:defRPr/>
              </a:pPr>
              <a:r>
                <a:rPr lang="en-US" altLang="en-US" sz="2000" kern="0" dirty="0">
                  <a:solidFill>
                    <a:prstClr val="black">
                      <a:lumMod val="75000"/>
                      <a:lumOff val="25000"/>
                    </a:prstClr>
                  </a:solidFill>
                  <a:cs typeface="+mn-ea"/>
                  <a:sym typeface="+mn-lt"/>
                </a:rPr>
                <a:t>Introduction</a:t>
              </a:r>
              <a:endParaRPr lang="en-US" altLang="en-US" sz="2000" kern="0" dirty="0">
                <a:solidFill>
                  <a:prstClr val="black">
                    <a:lumMod val="75000"/>
                    <a:lumOff val="25000"/>
                  </a:prstClr>
                </a:solidFill>
                <a:cs typeface="+mn-ea"/>
                <a:sym typeface="+mn-lt"/>
              </a:endParaRPr>
            </a:p>
          </p:txBody>
        </p:sp>
        <p:sp>
          <p:nvSpPr>
            <p:cNvPr id="79" name="TextBox 32"/>
            <p:cNvSpPr txBox="1">
              <a:spLocks noChangeArrowheads="1"/>
            </p:cNvSpPr>
            <p:nvPr>
              <p:custDataLst>
                <p:tags r:id="rId17"/>
              </p:custDataLst>
            </p:nvPr>
          </p:nvSpPr>
          <p:spPr bwMode="auto">
            <a:xfrm>
              <a:off x="2230828" y="2850012"/>
              <a:ext cx="5822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eaLnBrk="1" hangingPunct="1">
                <a:defRPr/>
              </a:pPr>
              <a:r>
                <a:rPr lang="en-US" altLang="zh-CN" sz="2800" kern="0" dirty="0">
                  <a:solidFill>
                    <a:schemeClr val="bg1"/>
                  </a:solidFill>
                  <a:latin typeface="+mn-lt"/>
                  <a:ea typeface="+mn-ea"/>
                  <a:cs typeface="+mn-ea"/>
                  <a:sym typeface="+mn-lt"/>
                </a:rPr>
                <a:t>01</a:t>
              </a:r>
              <a:endParaRPr lang="zh-CN" altLang="en-US" sz="2800" kern="0" dirty="0">
                <a:solidFill>
                  <a:schemeClr val="bg1"/>
                </a:solidFill>
                <a:latin typeface="+mn-lt"/>
                <a:ea typeface="+mn-ea"/>
                <a:cs typeface="+mn-ea"/>
                <a:sym typeface="+mn-lt"/>
              </a:endParaRPr>
            </a:p>
          </p:txBody>
        </p:sp>
      </p:grpSp>
      <p:grpSp>
        <p:nvGrpSpPr>
          <p:cNvPr id="6" name="组合 61"/>
          <p:cNvGrpSpPr/>
          <p:nvPr>
            <p:custDataLst>
              <p:tags r:id="rId18"/>
            </p:custDataLst>
          </p:nvPr>
        </p:nvGrpSpPr>
        <p:grpSpPr>
          <a:xfrm>
            <a:off x="1355986" y="3969466"/>
            <a:ext cx="3253119" cy="824678"/>
            <a:chOff x="2171961" y="4139646"/>
            <a:chExt cx="3253119" cy="824678"/>
          </a:xfrm>
        </p:grpSpPr>
        <p:sp>
          <p:nvSpPr>
            <p:cNvPr id="7" name="椭圆 1"/>
            <p:cNvSpPr>
              <a:spLocks noChangeArrowheads="1"/>
            </p:cNvSpPr>
            <p:nvPr>
              <p:custDataLst>
                <p:tags r:id="rId19"/>
              </p:custDataLst>
            </p:nvPr>
          </p:nvSpPr>
          <p:spPr bwMode="auto">
            <a:xfrm>
              <a:off x="2171961" y="4139646"/>
              <a:ext cx="678005" cy="678005"/>
            </a:xfrm>
            <a:prstGeom prst="rect">
              <a:avLst/>
            </a:prstGeom>
            <a:solidFill>
              <a:srgbClr val="525252"/>
            </a:solidFill>
            <a:ln w="28575">
              <a:noFill/>
            </a:ln>
            <a:effectLst/>
          </p:spPr>
          <p:txBody>
            <a:bodyPr anchor="ct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algn="ctr" eaLnBrk="1" hangingPunct="1">
                <a:defRPr/>
              </a:pPr>
              <a:endParaRPr lang="zh-CN" altLang="en-US" kern="0">
                <a:solidFill>
                  <a:prstClr val="white"/>
                </a:solidFill>
                <a:latin typeface="+mn-lt"/>
                <a:ea typeface="+mn-ea"/>
                <a:cs typeface="+mn-ea"/>
                <a:sym typeface="+mn-lt"/>
              </a:endParaRPr>
            </a:p>
          </p:txBody>
        </p:sp>
        <p:sp>
          <p:nvSpPr>
            <p:cNvPr id="8" name="TextBox 32"/>
            <p:cNvSpPr txBox="1">
              <a:spLocks noChangeArrowheads="1"/>
            </p:cNvSpPr>
            <p:nvPr>
              <p:custDataLst>
                <p:tags r:id="rId20"/>
              </p:custDataLst>
            </p:nvPr>
          </p:nvSpPr>
          <p:spPr bwMode="auto">
            <a:xfrm>
              <a:off x="2230829" y="4212469"/>
              <a:ext cx="5822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eaLnBrk="1" hangingPunct="1">
                <a:defRPr/>
              </a:pPr>
              <a:r>
                <a:rPr lang="en-US" altLang="zh-CN" sz="2800" kern="0" dirty="0">
                  <a:solidFill>
                    <a:prstClr val="white"/>
                  </a:solidFill>
                  <a:latin typeface="+mn-lt"/>
                  <a:ea typeface="+mn-ea"/>
                  <a:cs typeface="+mn-ea"/>
                  <a:sym typeface="+mn-lt"/>
                </a:rPr>
                <a:t>05</a:t>
              </a:r>
              <a:endParaRPr lang="zh-CN" altLang="en-US" sz="2800" kern="0" dirty="0">
                <a:solidFill>
                  <a:prstClr val="white"/>
                </a:solidFill>
                <a:latin typeface="+mn-lt"/>
                <a:ea typeface="+mn-ea"/>
                <a:cs typeface="+mn-ea"/>
                <a:sym typeface="+mn-lt"/>
              </a:endParaRPr>
            </a:p>
          </p:txBody>
        </p:sp>
        <p:sp>
          <p:nvSpPr>
            <p:cNvPr id="9" name="矩形 64"/>
            <p:cNvSpPr/>
            <p:nvPr>
              <p:custDataLst>
                <p:tags r:id="rId21"/>
              </p:custDataLst>
            </p:nvPr>
          </p:nvSpPr>
          <p:spPr>
            <a:xfrm>
              <a:off x="3055895" y="4257569"/>
              <a:ext cx="2369185" cy="706755"/>
            </a:xfrm>
            <a:prstGeom prst="rect">
              <a:avLst/>
            </a:prstGeom>
          </p:spPr>
          <p:txBody>
            <a:bodyPr wrap="square">
              <a:spAutoFit/>
            </a:bodyPr>
            <a:lstStyle/>
            <a:p>
              <a:pPr algn="l">
                <a:spcBef>
                  <a:spcPct val="0"/>
                </a:spcBef>
                <a:defRPr/>
              </a:pPr>
              <a:r>
                <a:rPr lang="en-US" altLang="en-US" sz="2000" kern="0" dirty="0">
                  <a:solidFill>
                    <a:prstClr val="black">
                      <a:lumMod val="75000"/>
                      <a:lumOff val="25000"/>
                    </a:prstClr>
                  </a:solidFill>
                  <a:cs typeface="+mn-ea"/>
                  <a:sym typeface="+mn-lt"/>
                </a:rPr>
                <a:t>Modelling and             Design</a:t>
              </a:r>
              <a:endParaRPr lang="en-US" altLang="en-US" sz="2000" kern="0" dirty="0">
                <a:solidFill>
                  <a:prstClr val="black">
                    <a:lumMod val="75000"/>
                    <a:lumOff val="25000"/>
                  </a:prstClr>
                </a:solidFill>
                <a:cs typeface="+mn-ea"/>
                <a:sym typeface="+mn-lt"/>
              </a:endParaRPr>
            </a:p>
          </p:txBody>
        </p:sp>
      </p:grpSp>
      <p:grpSp>
        <p:nvGrpSpPr>
          <p:cNvPr id="11" name="组合 61"/>
          <p:cNvGrpSpPr/>
          <p:nvPr>
            <p:custDataLst>
              <p:tags r:id="rId22"/>
            </p:custDataLst>
          </p:nvPr>
        </p:nvGrpSpPr>
        <p:grpSpPr>
          <a:xfrm>
            <a:off x="6982086" y="4060906"/>
            <a:ext cx="3253119" cy="678005"/>
            <a:chOff x="2171961" y="4139646"/>
            <a:chExt cx="3253119" cy="678005"/>
          </a:xfrm>
        </p:grpSpPr>
        <p:sp>
          <p:nvSpPr>
            <p:cNvPr id="12" name="椭圆 1"/>
            <p:cNvSpPr>
              <a:spLocks noChangeArrowheads="1"/>
            </p:cNvSpPr>
            <p:nvPr>
              <p:custDataLst>
                <p:tags r:id="rId23"/>
              </p:custDataLst>
            </p:nvPr>
          </p:nvSpPr>
          <p:spPr bwMode="auto">
            <a:xfrm>
              <a:off x="2171961" y="4139646"/>
              <a:ext cx="678005" cy="678005"/>
            </a:xfrm>
            <a:prstGeom prst="rect">
              <a:avLst/>
            </a:prstGeom>
            <a:solidFill>
              <a:srgbClr val="525252"/>
            </a:solidFill>
            <a:ln w="28575">
              <a:noFill/>
            </a:ln>
            <a:effectLst/>
          </p:spPr>
          <p:txBody>
            <a:bodyPr anchor="ct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algn="ctr" eaLnBrk="1" hangingPunct="1">
                <a:defRPr/>
              </a:pPr>
              <a:endParaRPr lang="zh-CN" altLang="en-US" kern="0">
                <a:solidFill>
                  <a:prstClr val="white"/>
                </a:solidFill>
                <a:latin typeface="+mn-lt"/>
                <a:ea typeface="+mn-ea"/>
                <a:cs typeface="+mn-ea"/>
                <a:sym typeface="+mn-lt"/>
              </a:endParaRPr>
            </a:p>
          </p:txBody>
        </p:sp>
        <p:sp>
          <p:nvSpPr>
            <p:cNvPr id="13" name="TextBox 32"/>
            <p:cNvSpPr txBox="1">
              <a:spLocks noChangeArrowheads="1"/>
            </p:cNvSpPr>
            <p:nvPr>
              <p:custDataLst>
                <p:tags r:id="rId24"/>
              </p:custDataLst>
            </p:nvPr>
          </p:nvSpPr>
          <p:spPr bwMode="auto">
            <a:xfrm>
              <a:off x="2230829" y="4212469"/>
              <a:ext cx="5822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eaLnBrk="1" hangingPunct="1">
                <a:defRPr/>
              </a:pPr>
              <a:r>
                <a:rPr lang="en-US" altLang="zh-CN" sz="2800" kern="0" dirty="0">
                  <a:solidFill>
                    <a:prstClr val="white"/>
                  </a:solidFill>
                  <a:latin typeface="+mn-lt"/>
                  <a:ea typeface="+mn-ea"/>
                  <a:cs typeface="+mn-ea"/>
                  <a:sym typeface="+mn-lt"/>
                </a:rPr>
                <a:t>06</a:t>
              </a:r>
              <a:endParaRPr lang="zh-CN" altLang="en-US" sz="2800" kern="0" dirty="0">
                <a:solidFill>
                  <a:prstClr val="white"/>
                </a:solidFill>
                <a:latin typeface="+mn-lt"/>
                <a:ea typeface="+mn-ea"/>
                <a:cs typeface="+mn-ea"/>
                <a:sym typeface="+mn-lt"/>
              </a:endParaRPr>
            </a:p>
          </p:txBody>
        </p:sp>
        <p:sp>
          <p:nvSpPr>
            <p:cNvPr id="14" name="矩形 64"/>
            <p:cNvSpPr/>
            <p:nvPr>
              <p:custDataLst>
                <p:tags r:id="rId25"/>
              </p:custDataLst>
            </p:nvPr>
          </p:nvSpPr>
          <p:spPr>
            <a:xfrm>
              <a:off x="3055895" y="4257569"/>
              <a:ext cx="2369185" cy="398780"/>
            </a:xfrm>
            <a:prstGeom prst="rect">
              <a:avLst/>
            </a:prstGeom>
          </p:spPr>
          <p:txBody>
            <a:bodyPr wrap="square">
              <a:spAutoFit/>
            </a:bodyPr>
            <a:lstStyle/>
            <a:p>
              <a:pPr algn="l">
                <a:spcBef>
                  <a:spcPct val="0"/>
                </a:spcBef>
                <a:defRPr/>
              </a:pPr>
              <a:r>
                <a:rPr lang="en-US" altLang="en-US" sz="2000" kern="0" dirty="0">
                  <a:solidFill>
                    <a:prstClr val="black">
                      <a:lumMod val="75000"/>
                      <a:lumOff val="25000"/>
                    </a:prstClr>
                  </a:solidFill>
                  <a:cs typeface="+mn-ea"/>
                  <a:sym typeface="+mn-lt"/>
                </a:rPr>
                <a:t>Methodology</a:t>
              </a:r>
              <a:endParaRPr lang="en-US" altLang="en-US" sz="2000" kern="0" dirty="0">
                <a:solidFill>
                  <a:prstClr val="black">
                    <a:lumMod val="75000"/>
                    <a:lumOff val="25000"/>
                  </a:prstClr>
                </a:solidFill>
                <a:cs typeface="+mn-ea"/>
                <a:sym typeface="+mn-lt"/>
              </a:endParaRPr>
            </a:p>
          </p:txBody>
        </p:sp>
      </p:grpSp>
      <p:grpSp>
        <p:nvGrpSpPr>
          <p:cNvPr id="2" name="组合 61"/>
          <p:cNvGrpSpPr/>
          <p:nvPr>
            <p:custDataLst>
              <p:tags r:id="rId26"/>
            </p:custDataLst>
          </p:nvPr>
        </p:nvGrpSpPr>
        <p:grpSpPr>
          <a:xfrm>
            <a:off x="4134111" y="4960701"/>
            <a:ext cx="3253119" cy="678005"/>
            <a:chOff x="2171961" y="4139646"/>
            <a:chExt cx="3253119" cy="678005"/>
          </a:xfrm>
        </p:grpSpPr>
        <p:sp>
          <p:nvSpPr>
            <p:cNvPr id="3" name="椭圆 1"/>
            <p:cNvSpPr>
              <a:spLocks noChangeArrowheads="1"/>
            </p:cNvSpPr>
            <p:nvPr>
              <p:custDataLst>
                <p:tags r:id="rId27"/>
              </p:custDataLst>
            </p:nvPr>
          </p:nvSpPr>
          <p:spPr bwMode="auto">
            <a:xfrm>
              <a:off x="2171961" y="4139646"/>
              <a:ext cx="678005" cy="678005"/>
            </a:xfrm>
            <a:prstGeom prst="rect">
              <a:avLst/>
            </a:prstGeom>
            <a:solidFill>
              <a:srgbClr val="525252"/>
            </a:solidFill>
            <a:ln w="28575">
              <a:noFill/>
            </a:ln>
            <a:effectLst/>
          </p:spPr>
          <p:txBody>
            <a:bodyPr anchor="ct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algn="ctr" eaLnBrk="1" hangingPunct="1">
                <a:defRPr/>
              </a:pPr>
              <a:endParaRPr lang="zh-CN" altLang="en-US" kern="0">
                <a:solidFill>
                  <a:prstClr val="white"/>
                </a:solidFill>
                <a:latin typeface="+mn-lt"/>
                <a:ea typeface="+mn-ea"/>
                <a:cs typeface="+mn-ea"/>
                <a:sym typeface="+mn-lt"/>
              </a:endParaRPr>
            </a:p>
          </p:txBody>
        </p:sp>
        <p:sp>
          <p:nvSpPr>
            <p:cNvPr id="4" name="TextBox 32"/>
            <p:cNvSpPr txBox="1">
              <a:spLocks noChangeArrowheads="1"/>
            </p:cNvSpPr>
            <p:nvPr>
              <p:custDataLst>
                <p:tags r:id="rId28"/>
              </p:custDataLst>
            </p:nvPr>
          </p:nvSpPr>
          <p:spPr bwMode="auto">
            <a:xfrm>
              <a:off x="2230829" y="4212469"/>
              <a:ext cx="5822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eaLnBrk="1" hangingPunct="1">
                <a:defRPr/>
              </a:pPr>
              <a:r>
                <a:rPr lang="en-US" altLang="zh-CN" sz="2800" kern="0" dirty="0">
                  <a:solidFill>
                    <a:prstClr val="white"/>
                  </a:solidFill>
                  <a:latin typeface="+mn-lt"/>
                  <a:ea typeface="+mn-ea"/>
                  <a:cs typeface="+mn-ea"/>
                  <a:sym typeface="+mn-lt"/>
                </a:rPr>
                <a:t>07</a:t>
              </a:r>
              <a:endParaRPr lang="zh-CN" altLang="en-US" sz="2800" kern="0" dirty="0">
                <a:solidFill>
                  <a:prstClr val="white"/>
                </a:solidFill>
                <a:latin typeface="+mn-lt"/>
                <a:ea typeface="+mn-ea"/>
                <a:cs typeface="+mn-ea"/>
                <a:sym typeface="+mn-lt"/>
              </a:endParaRPr>
            </a:p>
          </p:txBody>
        </p:sp>
        <p:sp>
          <p:nvSpPr>
            <p:cNvPr id="5" name="矩形 64"/>
            <p:cNvSpPr/>
            <p:nvPr>
              <p:custDataLst>
                <p:tags r:id="rId29"/>
              </p:custDataLst>
            </p:nvPr>
          </p:nvSpPr>
          <p:spPr>
            <a:xfrm>
              <a:off x="3055895" y="4257569"/>
              <a:ext cx="2369185" cy="398780"/>
            </a:xfrm>
            <a:prstGeom prst="rect">
              <a:avLst/>
            </a:prstGeom>
          </p:spPr>
          <p:txBody>
            <a:bodyPr wrap="square">
              <a:spAutoFit/>
            </a:bodyPr>
            <a:lstStyle/>
            <a:p>
              <a:pPr algn="l">
                <a:spcBef>
                  <a:spcPct val="0"/>
                </a:spcBef>
                <a:defRPr/>
              </a:pPr>
              <a:r>
                <a:rPr lang="en-US" altLang="en-US" sz="2000" kern="0" dirty="0">
                  <a:solidFill>
                    <a:prstClr val="black">
                      <a:lumMod val="75000"/>
                      <a:lumOff val="25000"/>
                    </a:prstClr>
                  </a:solidFill>
                  <a:cs typeface="+mn-ea"/>
                  <a:sym typeface="+mn-lt"/>
                </a:rPr>
                <a:t>Conclusion</a:t>
              </a:r>
              <a:endParaRPr lang="en-US" altLang="en-US" sz="2000" kern="0" dirty="0">
                <a:solidFill>
                  <a:prstClr val="black">
                    <a:lumMod val="75000"/>
                    <a:lumOff val="25000"/>
                  </a:prstClr>
                </a:solidFill>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right)">
                                      <p:cBhvr>
                                        <p:cTn id="7" dur="750"/>
                                        <p:tgtEl>
                                          <p:spTgt spid="56"/>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wipe(left)">
                                      <p:cBhvr>
                                        <p:cTn id="11" dur="500"/>
                                        <p:tgtEl>
                                          <p:spTgt spid="73"/>
                                        </p:tgtEl>
                                      </p:cBhvr>
                                    </p:animEffect>
                                  </p:childTnLst>
                                </p:cTn>
                              </p:par>
                            </p:childTnLst>
                          </p:cTn>
                        </p:par>
                        <p:par>
                          <p:cTn id="12" fill="hold">
                            <p:stCondLst>
                              <p:cond delay="1500"/>
                            </p:stCondLst>
                            <p:childTnLst>
                              <p:par>
                                <p:cTn id="13" presetID="23" presetClass="entr" presetSubtype="16" fill="hold" nodeType="afterEffect">
                                  <p:stCondLst>
                                    <p:cond delay="0"/>
                                  </p:stCondLst>
                                  <p:childTnLst>
                                    <p:set>
                                      <p:cBhvr>
                                        <p:cTn id="14" dur="1" fill="hold">
                                          <p:stCondLst>
                                            <p:cond delay="0"/>
                                          </p:stCondLst>
                                        </p:cTn>
                                        <p:tgtEl>
                                          <p:spTgt spid="75"/>
                                        </p:tgtEl>
                                        <p:attrNameLst>
                                          <p:attrName>style.visibility</p:attrName>
                                        </p:attrNameLst>
                                      </p:cBhvr>
                                      <p:to>
                                        <p:strVal val="visible"/>
                                      </p:to>
                                    </p:set>
                                    <p:anim calcmode="lin" valueType="num">
                                      <p:cBhvr>
                                        <p:cTn id="15" dur="750" fill="hold"/>
                                        <p:tgtEl>
                                          <p:spTgt spid="75"/>
                                        </p:tgtEl>
                                        <p:attrNameLst>
                                          <p:attrName>ppt_w</p:attrName>
                                        </p:attrNameLst>
                                      </p:cBhvr>
                                      <p:tavLst>
                                        <p:tav tm="0">
                                          <p:val>
                                            <p:fltVal val="0"/>
                                          </p:val>
                                        </p:tav>
                                        <p:tav tm="100000">
                                          <p:val>
                                            <p:strVal val="#ppt_w"/>
                                          </p:val>
                                        </p:tav>
                                      </p:tavLst>
                                    </p:anim>
                                    <p:anim calcmode="lin" valueType="num">
                                      <p:cBhvr>
                                        <p:cTn id="16" dur="750" fill="hold"/>
                                        <p:tgtEl>
                                          <p:spTgt spid="75"/>
                                        </p:tgtEl>
                                        <p:attrNameLst>
                                          <p:attrName>ppt_h</p:attrName>
                                        </p:attrNameLst>
                                      </p:cBhvr>
                                      <p:tavLst>
                                        <p:tav tm="0">
                                          <p:val>
                                            <p:fltVal val="0"/>
                                          </p:val>
                                        </p:tav>
                                        <p:tav tm="100000">
                                          <p:val>
                                            <p:strVal val="#ppt_h"/>
                                          </p:val>
                                        </p:tav>
                                      </p:tavLst>
                                    </p:anim>
                                  </p:childTnLst>
                                </p:cTn>
                              </p:par>
                            </p:childTnLst>
                          </p:cTn>
                        </p:par>
                        <p:par>
                          <p:cTn id="17" fill="hold">
                            <p:stCondLst>
                              <p:cond delay="2500"/>
                            </p:stCondLst>
                            <p:childTnLst>
                              <p:par>
                                <p:cTn id="18" presetID="23" presetClass="entr" presetSubtype="16" fill="hold" nodeType="afterEffect">
                                  <p:stCondLst>
                                    <p:cond delay="0"/>
                                  </p:stCondLst>
                                  <p:childTnLst>
                                    <p:set>
                                      <p:cBhvr>
                                        <p:cTn id="19" dur="1" fill="hold">
                                          <p:stCondLst>
                                            <p:cond delay="0"/>
                                          </p:stCondLst>
                                        </p:cTn>
                                        <p:tgtEl>
                                          <p:spTgt spid="57"/>
                                        </p:tgtEl>
                                        <p:attrNameLst>
                                          <p:attrName>style.visibility</p:attrName>
                                        </p:attrNameLst>
                                      </p:cBhvr>
                                      <p:to>
                                        <p:strVal val="visible"/>
                                      </p:to>
                                    </p:set>
                                    <p:anim calcmode="lin" valueType="num">
                                      <p:cBhvr>
                                        <p:cTn id="20" dur="750" fill="hold"/>
                                        <p:tgtEl>
                                          <p:spTgt spid="57"/>
                                        </p:tgtEl>
                                        <p:attrNameLst>
                                          <p:attrName>ppt_w</p:attrName>
                                        </p:attrNameLst>
                                      </p:cBhvr>
                                      <p:tavLst>
                                        <p:tav tm="0">
                                          <p:val>
                                            <p:fltVal val="0"/>
                                          </p:val>
                                        </p:tav>
                                        <p:tav tm="100000">
                                          <p:val>
                                            <p:strVal val="#ppt_w"/>
                                          </p:val>
                                        </p:tav>
                                      </p:tavLst>
                                    </p:anim>
                                    <p:anim calcmode="lin" valueType="num">
                                      <p:cBhvr>
                                        <p:cTn id="21" dur="750" fill="hold"/>
                                        <p:tgtEl>
                                          <p:spTgt spid="57"/>
                                        </p:tgtEl>
                                        <p:attrNameLst>
                                          <p:attrName>ppt_h</p:attrName>
                                        </p:attrNameLst>
                                      </p:cBhvr>
                                      <p:tavLst>
                                        <p:tav tm="0">
                                          <p:val>
                                            <p:fltVal val="0"/>
                                          </p:val>
                                        </p:tav>
                                        <p:tav tm="100000">
                                          <p:val>
                                            <p:strVal val="#ppt_h"/>
                                          </p:val>
                                        </p:tav>
                                      </p:tavLst>
                                    </p:anim>
                                  </p:childTnLst>
                                </p:cTn>
                              </p:par>
                            </p:childTnLst>
                          </p:cTn>
                        </p:par>
                        <p:par>
                          <p:cTn id="22" fill="hold">
                            <p:stCondLst>
                              <p:cond delay="3500"/>
                            </p:stCondLst>
                            <p:childTnLst>
                              <p:par>
                                <p:cTn id="23" presetID="23" presetClass="entr" presetSubtype="16" fill="hold" nodeType="afterEffect">
                                  <p:stCondLst>
                                    <p:cond delay="0"/>
                                  </p:stCondLst>
                                  <p:childTnLst>
                                    <p:set>
                                      <p:cBhvr>
                                        <p:cTn id="24" dur="1" fill="hold">
                                          <p:stCondLst>
                                            <p:cond delay="0"/>
                                          </p:stCondLst>
                                        </p:cTn>
                                        <p:tgtEl>
                                          <p:spTgt spid="62"/>
                                        </p:tgtEl>
                                        <p:attrNameLst>
                                          <p:attrName>style.visibility</p:attrName>
                                        </p:attrNameLst>
                                      </p:cBhvr>
                                      <p:to>
                                        <p:strVal val="visible"/>
                                      </p:to>
                                    </p:set>
                                    <p:anim calcmode="lin" valueType="num">
                                      <p:cBhvr>
                                        <p:cTn id="25" dur="750" fill="hold"/>
                                        <p:tgtEl>
                                          <p:spTgt spid="62"/>
                                        </p:tgtEl>
                                        <p:attrNameLst>
                                          <p:attrName>ppt_w</p:attrName>
                                        </p:attrNameLst>
                                      </p:cBhvr>
                                      <p:tavLst>
                                        <p:tav tm="0">
                                          <p:val>
                                            <p:fltVal val="0"/>
                                          </p:val>
                                        </p:tav>
                                        <p:tav tm="100000">
                                          <p:val>
                                            <p:strVal val="#ppt_w"/>
                                          </p:val>
                                        </p:tav>
                                      </p:tavLst>
                                    </p:anim>
                                    <p:anim calcmode="lin" valueType="num">
                                      <p:cBhvr>
                                        <p:cTn id="26" dur="750" fill="hold"/>
                                        <p:tgtEl>
                                          <p:spTgt spid="62"/>
                                        </p:tgtEl>
                                        <p:attrNameLst>
                                          <p:attrName>ppt_h</p:attrName>
                                        </p:attrNameLst>
                                      </p:cBhvr>
                                      <p:tavLst>
                                        <p:tav tm="0">
                                          <p:val>
                                            <p:fltVal val="0"/>
                                          </p:val>
                                        </p:tav>
                                        <p:tav tm="100000">
                                          <p:val>
                                            <p:strVal val="#ppt_h"/>
                                          </p:val>
                                        </p:tav>
                                      </p:tavLst>
                                    </p:anim>
                                  </p:childTnLst>
                                </p:cTn>
                              </p:par>
                            </p:childTnLst>
                          </p:cTn>
                        </p:par>
                        <p:par>
                          <p:cTn id="27" fill="hold">
                            <p:stCondLst>
                              <p:cond delay="4500"/>
                            </p:stCondLst>
                            <p:childTnLst>
                              <p:par>
                                <p:cTn id="28" presetID="23" presetClass="entr" presetSubtype="16" fill="hold" nodeType="afterEffect">
                                  <p:stCondLst>
                                    <p:cond delay="0"/>
                                  </p:stCondLst>
                                  <p:childTnLst>
                                    <p:set>
                                      <p:cBhvr>
                                        <p:cTn id="29" dur="1" fill="hold">
                                          <p:stCondLst>
                                            <p:cond delay="0"/>
                                          </p:stCondLst>
                                        </p:cTn>
                                        <p:tgtEl>
                                          <p:spTgt spid="67"/>
                                        </p:tgtEl>
                                        <p:attrNameLst>
                                          <p:attrName>style.visibility</p:attrName>
                                        </p:attrNameLst>
                                      </p:cBhvr>
                                      <p:to>
                                        <p:strVal val="visible"/>
                                      </p:to>
                                    </p:set>
                                    <p:anim calcmode="lin" valueType="num">
                                      <p:cBhvr>
                                        <p:cTn id="30" dur="750" fill="hold"/>
                                        <p:tgtEl>
                                          <p:spTgt spid="67"/>
                                        </p:tgtEl>
                                        <p:attrNameLst>
                                          <p:attrName>ppt_w</p:attrName>
                                        </p:attrNameLst>
                                      </p:cBhvr>
                                      <p:tavLst>
                                        <p:tav tm="0">
                                          <p:val>
                                            <p:fltVal val="0"/>
                                          </p:val>
                                        </p:tav>
                                        <p:tav tm="100000">
                                          <p:val>
                                            <p:strVal val="#ppt_w"/>
                                          </p:val>
                                        </p:tav>
                                      </p:tavLst>
                                    </p:anim>
                                    <p:anim calcmode="lin" valueType="num">
                                      <p:cBhvr>
                                        <p:cTn id="31" dur="750" fill="hold"/>
                                        <p:tgtEl>
                                          <p:spTgt spid="67"/>
                                        </p:tgtEl>
                                        <p:attrNameLst>
                                          <p:attrName>ppt_h</p:attrName>
                                        </p:attrNameLst>
                                      </p:cBhvr>
                                      <p:tavLst>
                                        <p:tav tm="0">
                                          <p:val>
                                            <p:fltVal val="0"/>
                                          </p:val>
                                        </p:tav>
                                        <p:tav tm="100000">
                                          <p:val>
                                            <p:strVal val="#ppt_h"/>
                                          </p:val>
                                        </p:tav>
                                      </p:tavLst>
                                    </p:anim>
                                  </p:childTnLst>
                                </p:cTn>
                              </p:par>
                            </p:childTnLst>
                          </p:cTn>
                        </p:par>
                        <p:par>
                          <p:cTn id="32" fill="hold">
                            <p:stCondLst>
                              <p:cond delay="5500"/>
                            </p:stCondLst>
                            <p:childTnLst>
                              <p:par>
                                <p:cTn id="33" presetID="23" presetClass="entr" presetSubtype="16"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750" fill="hold"/>
                                        <p:tgtEl>
                                          <p:spTgt spid="6"/>
                                        </p:tgtEl>
                                        <p:attrNameLst>
                                          <p:attrName>ppt_w</p:attrName>
                                        </p:attrNameLst>
                                      </p:cBhvr>
                                      <p:tavLst>
                                        <p:tav tm="0">
                                          <p:val>
                                            <p:fltVal val="0"/>
                                          </p:val>
                                        </p:tav>
                                        <p:tav tm="100000">
                                          <p:val>
                                            <p:strVal val="#ppt_w"/>
                                          </p:val>
                                        </p:tav>
                                      </p:tavLst>
                                    </p:anim>
                                    <p:anim calcmode="lin" valueType="num">
                                      <p:cBhvr>
                                        <p:cTn id="36" dur="750" fill="hold"/>
                                        <p:tgtEl>
                                          <p:spTgt spid="6"/>
                                        </p:tgtEl>
                                        <p:attrNameLst>
                                          <p:attrName>ppt_h</p:attrName>
                                        </p:attrNameLst>
                                      </p:cBhvr>
                                      <p:tavLst>
                                        <p:tav tm="0">
                                          <p:val>
                                            <p:fltVal val="0"/>
                                          </p:val>
                                        </p:tav>
                                        <p:tav tm="100000">
                                          <p:val>
                                            <p:strVal val="#ppt_h"/>
                                          </p:val>
                                        </p:tav>
                                      </p:tavLst>
                                    </p:anim>
                                  </p:childTnLst>
                                </p:cTn>
                              </p:par>
                            </p:childTnLst>
                          </p:cTn>
                        </p:par>
                        <p:par>
                          <p:cTn id="37" fill="hold">
                            <p:stCondLst>
                              <p:cond delay="6500"/>
                            </p:stCondLst>
                            <p:childTnLst>
                              <p:par>
                                <p:cTn id="38" presetID="23" presetClass="entr" presetSubtype="16" fill="hold" nodeType="after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750" fill="hold"/>
                                        <p:tgtEl>
                                          <p:spTgt spid="11"/>
                                        </p:tgtEl>
                                        <p:attrNameLst>
                                          <p:attrName>ppt_w</p:attrName>
                                        </p:attrNameLst>
                                      </p:cBhvr>
                                      <p:tavLst>
                                        <p:tav tm="0">
                                          <p:val>
                                            <p:fltVal val="0"/>
                                          </p:val>
                                        </p:tav>
                                        <p:tav tm="100000">
                                          <p:val>
                                            <p:strVal val="#ppt_w"/>
                                          </p:val>
                                        </p:tav>
                                      </p:tavLst>
                                    </p:anim>
                                    <p:anim calcmode="lin" valueType="num">
                                      <p:cBhvr>
                                        <p:cTn id="41" dur="750" fill="hold"/>
                                        <p:tgtEl>
                                          <p:spTgt spid="11"/>
                                        </p:tgtEl>
                                        <p:attrNameLst>
                                          <p:attrName>ppt_h</p:attrName>
                                        </p:attrNameLst>
                                      </p:cBhvr>
                                      <p:tavLst>
                                        <p:tav tm="0">
                                          <p:val>
                                            <p:fltVal val="0"/>
                                          </p:val>
                                        </p:tav>
                                        <p:tav tm="100000">
                                          <p:val>
                                            <p:strVal val="#ppt_h"/>
                                          </p:val>
                                        </p:tav>
                                      </p:tavLst>
                                    </p:anim>
                                  </p:childTnLst>
                                </p:cTn>
                              </p:par>
                            </p:childTnLst>
                          </p:cTn>
                        </p:par>
                        <p:par>
                          <p:cTn id="42" fill="hold">
                            <p:stCondLst>
                              <p:cond delay="7500"/>
                            </p:stCondLst>
                            <p:childTnLst>
                              <p:par>
                                <p:cTn id="43" presetID="23" presetClass="entr" presetSubtype="16" fill="hold" nodeType="after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p:cTn id="45" dur="750" fill="hold"/>
                                        <p:tgtEl>
                                          <p:spTgt spid="2"/>
                                        </p:tgtEl>
                                        <p:attrNameLst>
                                          <p:attrName>ppt_w</p:attrName>
                                        </p:attrNameLst>
                                      </p:cBhvr>
                                      <p:tavLst>
                                        <p:tav tm="0">
                                          <p:val>
                                            <p:fltVal val="0"/>
                                          </p:val>
                                        </p:tav>
                                        <p:tav tm="100000">
                                          <p:val>
                                            <p:strVal val="#ppt_w"/>
                                          </p:val>
                                        </p:tav>
                                      </p:tavLst>
                                    </p:anim>
                                    <p:anim calcmode="lin" valueType="num">
                                      <p:cBhvr>
                                        <p:cTn id="46" dur="75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16200000" flipV="1">
            <a:off x="7098030" y="1261745"/>
            <a:ext cx="5850255" cy="4338320"/>
          </a:xfrm>
          <a:prstGeom prst="rect">
            <a:avLst/>
          </a:prstGeom>
        </p:spPr>
      </p:pic>
      <p:grpSp>
        <p:nvGrpSpPr>
          <p:cNvPr id="3" name="组合 2"/>
          <p:cNvGrpSpPr/>
          <p:nvPr/>
        </p:nvGrpSpPr>
        <p:grpSpPr>
          <a:xfrm>
            <a:off x="2003952" y="626519"/>
            <a:ext cx="7269696" cy="5284943"/>
            <a:chOff x="2461152" y="2532154"/>
            <a:chExt cx="7269696" cy="5284943"/>
          </a:xfrm>
        </p:grpSpPr>
        <p:sp>
          <p:nvSpPr>
            <p:cNvPr id="4" name="Shape 6922"/>
            <p:cNvSpPr/>
            <p:nvPr/>
          </p:nvSpPr>
          <p:spPr>
            <a:xfrm>
              <a:off x="2461152" y="3616572"/>
              <a:ext cx="7269696" cy="4200525"/>
            </a:xfrm>
            <a:prstGeom prst="rect">
              <a:avLst/>
            </a:prstGeom>
            <a:ln w="12700">
              <a:round/>
            </a:ln>
          </p:spPr>
          <p:txBody>
            <a:bodyPr wrap="square" lIns="38100" tIns="38100" rIns="38100" bIns="38100">
              <a:spAutoFit/>
            </a:bodyPr>
            <a:lstStyle>
              <a:lvl1pPr>
                <a:buClr>
                  <a:srgbClr val="B5B5B5"/>
                </a:buClr>
                <a:defRPr sz="1100">
                  <a:solidFill>
                    <a:srgbClr val="B5B5B5"/>
                  </a:solidFill>
                  <a:uFill>
                    <a:solidFill>
                      <a:srgbClr val="B5B5B5"/>
                    </a:solidFill>
                  </a:uFill>
                </a:defRPr>
              </a:lvl1pPr>
            </a:lstStyle>
            <a:p>
              <a:pPr algn="just" defTabSz="1216025">
                <a:lnSpc>
                  <a:spcPct val="100000"/>
                </a:lnSpc>
                <a:spcBef>
                  <a:spcPct val="20000"/>
                </a:spcBef>
              </a:pPr>
              <a:r>
                <a:rPr kumimoji="0" lang="en-US" altLang="en-US" sz="2000" b="0" i="0" u="none" strike="noStrike" kern="0" cap="none" spc="0" normalizeH="0" baseline="0" noProof="0" dirty="0">
                  <a:ln/>
                  <a:solidFill>
                    <a:schemeClr val="tx1"/>
                  </a:solidFill>
                  <a:effectLst>
                    <a:outerShdw blurRad="38100" dist="19050" dir="2700000" algn="tl" rotWithShape="0">
                      <a:schemeClr val="dk1">
                        <a:alpha val="40000"/>
                      </a:schemeClr>
                    </a:outerShdw>
                  </a:effectLst>
                  <a:uLnTx/>
                  <a:uFillTx/>
                  <a:cs typeface="+mn-lt"/>
                  <a:sym typeface="+mn-lt"/>
                </a:rPr>
                <a:t>Our increasing reliance on technology for effective time organization highlights a critical gap: while current systems offer basic recording, reminders, and progress tracking, they still demand high manual input and lack true automation.</a:t>
              </a:r>
              <a:endParaRPr kumimoji="0" lang="en-US" altLang="en-US" sz="2000" b="0" i="0" u="none" strike="noStrike" kern="0" cap="none" spc="0" normalizeH="0" baseline="0" noProof="0" dirty="0">
                <a:ln/>
                <a:solidFill>
                  <a:schemeClr val="tx1"/>
                </a:solidFill>
                <a:effectLst>
                  <a:outerShdw blurRad="38100" dist="19050" dir="2700000" algn="tl" rotWithShape="0">
                    <a:schemeClr val="dk1">
                      <a:alpha val="40000"/>
                    </a:schemeClr>
                  </a:outerShdw>
                </a:effectLst>
                <a:uLnTx/>
                <a:uFillTx/>
                <a:cs typeface="+mn-lt"/>
                <a:sym typeface="+mn-lt"/>
              </a:endParaRPr>
            </a:p>
            <a:p>
              <a:pPr algn="just" defTabSz="1216025">
                <a:lnSpc>
                  <a:spcPct val="100000"/>
                </a:lnSpc>
                <a:spcBef>
                  <a:spcPct val="20000"/>
                </a:spcBef>
              </a:pPr>
              <a:endParaRPr kumimoji="0" lang="en-US" altLang="en-US" sz="2000" b="0" i="0" u="none" strike="noStrike" kern="0" cap="none" spc="0" normalizeH="0" baseline="0" noProof="0" dirty="0">
                <a:ln/>
                <a:solidFill>
                  <a:schemeClr val="tx1"/>
                </a:solidFill>
                <a:effectLst>
                  <a:outerShdw blurRad="38100" dist="19050" dir="2700000" algn="tl" rotWithShape="0">
                    <a:schemeClr val="dk1">
                      <a:alpha val="40000"/>
                    </a:schemeClr>
                  </a:outerShdw>
                </a:effectLst>
                <a:uLnTx/>
                <a:uFillTx/>
                <a:cs typeface="+mn-lt"/>
                <a:sym typeface="+mn-lt"/>
              </a:endParaRPr>
            </a:p>
            <a:p>
              <a:pPr algn="just" defTabSz="1216025">
                <a:lnSpc>
                  <a:spcPct val="100000"/>
                </a:lnSpc>
                <a:spcBef>
                  <a:spcPct val="20000"/>
                </a:spcBef>
              </a:pPr>
              <a:r>
                <a:rPr kumimoji="0" lang="en-US" altLang="en-US" sz="2000" b="0" i="0" u="none" strike="noStrike" kern="0" cap="none" spc="0" normalizeH="0" baseline="0" noProof="0" dirty="0">
                  <a:ln/>
                  <a:solidFill>
                    <a:schemeClr val="tx1"/>
                  </a:solidFill>
                  <a:effectLst>
                    <a:outerShdw blurRad="38100" dist="19050" dir="2700000" algn="tl" rotWithShape="0">
                      <a:schemeClr val="dk1">
                        <a:alpha val="40000"/>
                      </a:schemeClr>
                    </a:outerShdw>
                  </a:effectLst>
                  <a:uLnTx/>
                  <a:uFillTx/>
                  <a:cs typeface="+mn-lt"/>
                  <a:sym typeface="+mn-lt"/>
                </a:rPr>
                <a:t>Artificial Intelligence (AI) is the essential enabler to bridge this gap. By integrating core technologies like Natural Language Processing (NLP) and Voice Recognition, AI provides the capabilities to reason, learn, and respond intelligently. This allows users to communicate with the system naturally (e.g., "Remind me to attend a meeting at 10 a.m. every Monday"), transforming basic tools into genuinely automated and intelligent time management solutions. </a:t>
              </a:r>
              <a:endParaRPr kumimoji="0" lang="en-US" altLang="en-US" sz="2000" b="0" i="0" u="none" strike="noStrike" kern="0" cap="none" spc="0" normalizeH="0" baseline="0" noProof="0" dirty="0">
                <a:ln/>
                <a:solidFill>
                  <a:schemeClr val="tx1"/>
                </a:solidFill>
                <a:effectLst>
                  <a:outerShdw blurRad="38100" dist="19050" dir="2700000" algn="tl" rotWithShape="0">
                    <a:schemeClr val="dk1">
                      <a:alpha val="40000"/>
                    </a:schemeClr>
                  </a:outerShdw>
                </a:effectLst>
                <a:uLnTx/>
                <a:uFillTx/>
                <a:cs typeface="+mn-lt"/>
                <a:sym typeface="+mn-lt"/>
              </a:endParaRPr>
            </a:p>
          </p:txBody>
        </p:sp>
        <p:sp>
          <p:nvSpPr>
            <p:cNvPr id="6" name="矩形 5"/>
            <p:cNvSpPr/>
            <p:nvPr/>
          </p:nvSpPr>
          <p:spPr>
            <a:xfrm>
              <a:off x="3937425" y="3213257"/>
              <a:ext cx="309880" cy="583565"/>
            </a:xfrm>
            <a:prstGeom prst="rect">
              <a:avLst/>
            </a:prstGeom>
          </p:spPr>
          <p:txBody>
            <a:bodyPr wrap="none">
              <a:spAutoFit/>
            </a:bodyPr>
            <a:lstStyle/>
            <a:p>
              <a:endParaRPr lang="zh-CN" altLang="en-US" sz="3200" spc="300">
                <a:solidFill>
                  <a:schemeClr val="tx1">
                    <a:lumMod val="75000"/>
                    <a:lumOff val="25000"/>
                  </a:schemeClr>
                </a:solidFill>
                <a:cs typeface="+mn-ea"/>
                <a:sym typeface="+mn-lt"/>
              </a:endParaRPr>
            </a:p>
          </p:txBody>
        </p:sp>
        <p:sp>
          <p:nvSpPr>
            <p:cNvPr id="7" name="文本框 6"/>
            <p:cNvSpPr txBox="1"/>
            <p:nvPr/>
          </p:nvSpPr>
          <p:spPr>
            <a:xfrm>
              <a:off x="4896548" y="2532154"/>
              <a:ext cx="2452588" cy="3987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charset="0"/>
                  <a:cs typeface="Times New Roman" panose="02020603050405020304" charset="0"/>
                  <a:sym typeface="+mn-lt"/>
                </a:rPr>
                <a:t>INTRODUCTION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charset="0"/>
                <a:cs typeface="Times New Roman" panose="02020603050405020304"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right)">
                                      <p:cBhvr>
                                        <p:cTn id="7" dur="750"/>
                                        <p:tgtEl>
                                          <p:spTgt spid="56"/>
                                        </p:tgtEl>
                                      </p:cBhvr>
                                    </p:animEffect>
                                  </p:childTnLst>
                                </p:cTn>
                              </p:par>
                            </p:childTnLst>
                          </p:cTn>
                        </p:par>
                        <p:par>
                          <p:cTn id="8" fill="hold">
                            <p:stCondLst>
                              <p:cond delay="1000"/>
                            </p:stCondLst>
                            <p:childTnLst>
                              <p:par>
                                <p:cTn id="9" presetID="47"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alphaModFix amt="20000"/>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flipV="1">
            <a:off x="2355284" y="266971"/>
            <a:ext cx="8532090" cy="7144653"/>
          </a:xfrm>
          <a:prstGeom prst="rect">
            <a:avLst/>
          </a:prstGeom>
        </p:spPr>
      </p:pic>
      <p:grpSp>
        <p:nvGrpSpPr>
          <p:cNvPr id="13" name="组合 12"/>
          <p:cNvGrpSpPr/>
          <p:nvPr/>
        </p:nvGrpSpPr>
        <p:grpSpPr>
          <a:xfrm>
            <a:off x="602370" y="1051773"/>
            <a:ext cx="10208895" cy="5222875"/>
            <a:chOff x="6320383" y="2283770"/>
            <a:chExt cx="7656671" cy="3917157"/>
          </a:xfrm>
        </p:grpSpPr>
        <p:sp>
          <p:nvSpPr>
            <p:cNvPr id="14" name="文本框 21"/>
            <p:cNvSpPr/>
            <p:nvPr/>
          </p:nvSpPr>
          <p:spPr>
            <a:xfrm>
              <a:off x="6320383" y="2929089"/>
              <a:ext cx="2927985" cy="1940719"/>
            </a:xfrm>
            <a:prstGeom prst="rect">
              <a:avLst/>
            </a:prstGeom>
            <a:noFill/>
            <a:ln w="9525">
              <a:noFill/>
            </a:ln>
          </p:spPr>
          <p:txBody>
            <a:bodyPr wrap="square">
              <a:noAutofit/>
            </a:bodyPr>
            <a:lstStyle/>
            <a:p>
              <a:pPr algn="just">
                <a:lnSpc>
                  <a:spcPct val="150000"/>
                </a:lnSpc>
                <a:defRPr/>
              </a:pPr>
              <a:r>
                <a:rPr lang="en-US" altLang="en-US" sz="2000" b="1" dirty="0">
                  <a:ln/>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sym typeface="+mn-lt"/>
                </a:rPr>
                <a:t>Primary Issue</a:t>
              </a:r>
              <a:r>
                <a:rPr lang="en-US" altLang="en-US" dirty="0">
                  <a:ln/>
                  <a:solidFill>
                    <a:schemeClr val="tx1"/>
                  </a:solidFill>
                  <a:effectLst>
                    <a:outerShdw blurRad="38100" dist="19050" dir="2700000" algn="tl" rotWithShape="0">
                      <a:schemeClr val="dk1">
                        <a:alpha val="40000"/>
                      </a:schemeClr>
                    </a:outerShdw>
                  </a:effectLst>
                  <a:cs typeface="+mn-ea"/>
                  <a:sym typeface="+mn-lt"/>
                </a:rPr>
                <a:t>: Over-reliance on structured, manual input leads to inefficiency, time wastage, and cognitive overload.</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p:txBody>
        </p:sp>
        <p:sp>
          <p:nvSpPr>
            <p:cNvPr id="16" name="文本框 21"/>
            <p:cNvSpPr/>
            <p:nvPr/>
          </p:nvSpPr>
          <p:spPr>
            <a:xfrm>
              <a:off x="9648894" y="3548690"/>
              <a:ext cx="4328160" cy="2652237"/>
            </a:xfrm>
            <a:prstGeom prst="rect">
              <a:avLst/>
            </a:prstGeom>
            <a:noFill/>
            <a:ln w="9525">
              <a:noFill/>
            </a:ln>
          </p:spPr>
          <p:txBody>
            <a:bodyPr wrap="square">
              <a:noAutofit/>
            </a:bodyPr>
            <a:lstStyle/>
            <a:p>
              <a:pPr algn="just">
                <a:lnSpc>
                  <a:spcPct val="130000"/>
                </a:lnSpc>
                <a:defRPr/>
              </a:pPr>
              <a:r>
                <a:rPr lang="en-US" altLang="en-US" sz="1600" dirty="0">
                  <a:ln/>
                  <a:solidFill>
                    <a:schemeClr val="tx1"/>
                  </a:solidFill>
                  <a:effectLst>
                    <a:outerShdw blurRad="38100" dist="19050" dir="2700000" algn="tl" rotWithShape="0">
                      <a:schemeClr val="dk1">
                        <a:alpha val="40000"/>
                      </a:schemeClr>
                    </a:outerShdw>
                  </a:effectLst>
                  <a:cs typeface="+mn-ea"/>
                  <a:sym typeface="+mn-lt"/>
                </a:rPr>
                <a:t>                </a:t>
              </a:r>
              <a:r>
                <a:rPr lang="en-US" altLang="en-US" sz="2000" b="1" dirty="0">
                  <a:ln/>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sym typeface="+mn-lt"/>
                </a:rPr>
                <a:t>Limitations</a:t>
              </a:r>
              <a:endParaRPr lang="en-US" altLang="en-US" sz="1600" dirty="0">
                <a:ln/>
                <a:solidFill>
                  <a:schemeClr val="tx1"/>
                </a:solidFill>
                <a:effectLst>
                  <a:outerShdw blurRad="38100" dist="19050" dir="2700000" algn="tl" rotWithShape="0">
                    <a:schemeClr val="dk1">
                      <a:alpha val="40000"/>
                    </a:schemeClr>
                  </a:outerShdw>
                </a:effectLst>
                <a:cs typeface="+mn-ea"/>
                <a:sym typeface="+mn-lt"/>
              </a:endParaRPr>
            </a:p>
            <a:p>
              <a:pPr algn="just">
                <a:lnSpc>
                  <a:spcPct val="130000"/>
                </a:lnSpc>
                <a:defRPr/>
              </a:pPr>
              <a:r>
                <a:rPr lang="en-US" altLang="en-US" dirty="0">
                  <a:ln/>
                  <a:solidFill>
                    <a:schemeClr val="tx1"/>
                  </a:solidFill>
                  <a:effectLst>
                    <a:outerShdw blurRad="38100" dist="19050" dir="2700000" algn="tl" rotWithShape="0">
                      <a:schemeClr val="dk1">
                        <a:alpha val="40000"/>
                      </a:schemeClr>
                    </a:outerShdw>
                  </a:effectLst>
                  <a:cs typeface="+mn-ea"/>
                  <a:sym typeface="+mn-lt"/>
                </a:rPr>
                <a:t>1. Existing apps struggle to interpret contextual language and</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a:lnSpc>
                  <a:spcPct val="130000"/>
                </a:lnSpc>
                <a:defRPr/>
              </a:pPr>
              <a:r>
                <a:rPr lang="en-US" altLang="en-US" dirty="0">
                  <a:ln/>
                  <a:solidFill>
                    <a:schemeClr val="tx1"/>
                  </a:solidFill>
                  <a:effectLst>
                    <a:outerShdw blurRad="38100" dist="19050" dir="2700000" algn="tl" rotWithShape="0">
                      <a:schemeClr val="dk1">
                        <a:alpha val="40000"/>
                      </a:schemeClr>
                    </a:outerShdw>
                  </a:effectLst>
                  <a:cs typeface="+mn-ea"/>
                  <a:sym typeface="+mn-lt"/>
                </a:rPr>
                <a:t>complex requests.</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a:lnSpc>
                  <a:spcPct val="130000"/>
                </a:lnSpc>
                <a:defRPr/>
              </a:pPr>
              <a:r>
                <a:rPr lang="en-US" altLang="en-US" dirty="0">
                  <a:ln/>
                  <a:solidFill>
                    <a:schemeClr val="tx1"/>
                  </a:solidFill>
                  <a:effectLst>
                    <a:outerShdw blurRad="38100" dist="19050" dir="2700000" algn="tl" rotWithShape="0">
                      <a:schemeClr val="dk1">
                        <a:alpha val="40000"/>
                      </a:schemeClr>
                    </a:outerShdw>
                  </a:effectLst>
                  <a:cs typeface="+mn-ea"/>
                  <a:sym typeface="+mn-lt"/>
                </a:rPr>
                <a:t>2. Lack of proactive automation in scheduling and task generation.</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a:lnSpc>
                  <a:spcPct val="130000"/>
                </a:lnSpc>
                <a:defRPr/>
              </a:pPr>
              <a:endParaRPr lang="en-US" altLang="en-US" sz="1600" dirty="0">
                <a:ln/>
                <a:solidFill>
                  <a:schemeClr val="tx1"/>
                </a:solidFill>
                <a:effectLst>
                  <a:outerShdw blurRad="38100" dist="19050" dir="2700000" algn="tl" rotWithShape="0">
                    <a:schemeClr val="dk1">
                      <a:alpha val="40000"/>
                    </a:schemeClr>
                  </a:outerShdw>
                </a:effectLst>
                <a:cs typeface="+mn-ea"/>
                <a:sym typeface="+mn-lt"/>
              </a:endParaRPr>
            </a:p>
            <a:p>
              <a:pPr algn="just">
                <a:lnSpc>
                  <a:spcPct val="150000"/>
                </a:lnSpc>
                <a:defRPr/>
              </a:pPr>
              <a:r>
                <a:rPr lang="en-US" altLang="en-US" sz="2000" b="1" dirty="0">
                  <a:ln/>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sym typeface="+mn-lt"/>
                </a:rPr>
                <a:t> The Goal</a:t>
              </a:r>
              <a:r>
                <a:rPr lang="en-US" altLang="en-US" sz="1600" dirty="0">
                  <a:ln/>
                  <a:solidFill>
                    <a:schemeClr val="tx1"/>
                  </a:solidFill>
                  <a:effectLst>
                    <a:outerShdw blurRad="38100" dist="19050" dir="2700000" algn="tl" rotWithShape="0">
                      <a:schemeClr val="dk1">
                        <a:alpha val="40000"/>
                      </a:schemeClr>
                    </a:outerShdw>
                  </a:effectLst>
                  <a:cs typeface="+mn-ea"/>
                  <a:sym typeface="+mn-lt"/>
                </a:rPr>
                <a:t>:</a:t>
              </a:r>
              <a:r>
                <a:rPr lang="en-US" altLang="en-US" dirty="0">
                  <a:ln/>
                  <a:solidFill>
                    <a:schemeClr val="tx1"/>
                  </a:solidFill>
                  <a:effectLst>
                    <a:outerShdw blurRad="38100" dist="19050" dir="2700000" algn="tl" rotWithShape="0">
                      <a:schemeClr val="dk1">
                        <a:alpha val="40000"/>
                      </a:schemeClr>
                    </a:outerShdw>
                  </a:effectLst>
                  <a:cs typeface="+mn-ea"/>
                  <a:sym typeface="+mn-lt"/>
                </a:rPr>
                <a:t> A necessity for an automated, intelligent system to simplify task creation and boost productivity</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defTabSz="1219200"/>
              <a:endParaRPr lang="en-US" altLang="en-US" dirty="0">
                <a:ln/>
                <a:solidFill>
                  <a:schemeClr val="tx1"/>
                </a:solidFill>
                <a:effectLst>
                  <a:outerShdw blurRad="38100" dist="19050" dir="2700000" algn="tl" rotWithShape="0">
                    <a:schemeClr val="dk1">
                      <a:alpha val="40000"/>
                    </a:schemeClr>
                  </a:outerShdw>
                </a:effectLst>
                <a:cs typeface="+mn-ea"/>
                <a:sym typeface="+mn-lt"/>
              </a:endParaRPr>
            </a:p>
          </p:txBody>
        </p:sp>
        <p:sp>
          <p:nvSpPr>
            <p:cNvPr id="17" name="文本框 16"/>
            <p:cNvSpPr txBox="1"/>
            <p:nvPr/>
          </p:nvSpPr>
          <p:spPr>
            <a:xfrm>
              <a:off x="8249187" y="2283770"/>
              <a:ext cx="3896201" cy="299085"/>
            </a:xfrm>
            <a:prstGeom prst="rect">
              <a:avLst/>
            </a:prstGeom>
            <a:noFill/>
          </p:spPr>
          <p:txBody>
            <a:bodyPr wrap="square" rtlCol="0">
              <a:spAutoFit/>
            </a:bodyPr>
            <a:lstStyle/>
            <a:p>
              <a:pPr algn="ctr" defTabSz="1219200"/>
              <a:r>
                <a:rPr lang="en-US" altLang="en-US" sz="2000" b="1">
                  <a:solidFill>
                    <a:prstClr val="black"/>
                  </a:solidFill>
                  <a:latin typeface="Times New Roman" panose="02020603050405020304" charset="0"/>
                  <a:cs typeface="Times New Roman" panose="02020603050405020304" charset="0"/>
                  <a:sym typeface="+mn-lt"/>
                </a:rPr>
                <a:t>Statement of the Problem</a:t>
              </a:r>
              <a:endParaRPr lang="en-US" altLang="en-US" sz="2000" b="1">
                <a:solidFill>
                  <a:prstClr val="black"/>
                </a:solidFill>
                <a:latin typeface="Times New Roman" panose="02020603050405020304" charset="0"/>
                <a:cs typeface="Times New Roman" panose="02020603050405020304" charset="0"/>
                <a:sym typeface="+mn-lt"/>
              </a:endParaRPr>
            </a:p>
          </p:txBody>
        </p:sp>
      </p:grpSp>
      <p:sp>
        <p:nvSpPr>
          <p:cNvPr id="2" name="Text Box 1"/>
          <p:cNvSpPr txBox="1"/>
          <p:nvPr/>
        </p:nvSpPr>
        <p:spPr>
          <a:xfrm>
            <a:off x="657225" y="2129155"/>
            <a:ext cx="4064000" cy="368300"/>
          </a:xfrm>
          <a:prstGeom prst="rect">
            <a:avLst/>
          </a:prstGeom>
          <a:noFill/>
        </p:spPr>
        <p:txBody>
          <a:bodyPr wrap="square" rtlCol="0">
            <a:spAutoFit/>
          </a:bodyPr>
          <a:p>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right)">
                                      <p:cBhvr>
                                        <p:cTn id="7" dur="7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alphaModFix amt="40000"/>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flipV="1">
            <a:off x="3660209" y="271"/>
            <a:ext cx="8532090" cy="7144653"/>
          </a:xfrm>
          <a:prstGeom prst="rect">
            <a:avLst/>
          </a:prstGeom>
        </p:spPr>
      </p:pic>
      <p:grpSp>
        <p:nvGrpSpPr>
          <p:cNvPr id="13" name="组合 12"/>
          <p:cNvGrpSpPr/>
          <p:nvPr>
            <p:custDataLst>
              <p:tags r:id="rId2"/>
            </p:custDataLst>
          </p:nvPr>
        </p:nvGrpSpPr>
        <p:grpSpPr>
          <a:xfrm>
            <a:off x="345440" y="1051560"/>
            <a:ext cx="5609590" cy="3170555"/>
            <a:chOff x="6127502" y="2283770"/>
            <a:chExt cx="4832724" cy="2377991"/>
          </a:xfrm>
        </p:grpSpPr>
        <p:sp>
          <p:nvSpPr>
            <p:cNvPr id="14" name="文本框 21"/>
            <p:cNvSpPr/>
            <p:nvPr>
              <p:custDataLst>
                <p:tags r:id="rId3"/>
              </p:custDataLst>
            </p:nvPr>
          </p:nvSpPr>
          <p:spPr>
            <a:xfrm>
              <a:off x="6320614" y="2929109"/>
              <a:ext cx="4639612" cy="1732652"/>
            </a:xfrm>
            <a:prstGeom prst="rect">
              <a:avLst/>
            </a:prstGeom>
            <a:noFill/>
            <a:ln w="9525">
              <a:noFill/>
            </a:ln>
          </p:spPr>
          <p:txBody>
            <a:bodyPr wrap="square">
              <a:noAutofit/>
            </a:bodyPr>
            <a:lstStyle/>
            <a:p>
              <a:pPr algn="just" defTabSz="1219200">
                <a:lnSpc>
                  <a:spcPct val="150000"/>
                </a:lnSpc>
              </a:pPr>
              <a:r>
                <a:rPr lang="en-US" altLang="en-US" dirty="0">
                  <a:ln/>
                  <a:solidFill>
                    <a:schemeClr val="tx1"/>
                  </a:solidFill>
                  <a:effectLst>
                    <a:outerShdw blurRad="38100" dist="19050" dir="2700000" algn="tl" rotWithShape="0">
                      <a:schemeClr val="dk1">
                        <a:alpha val="40000"/>
                      </a:schemeClr>
                    </a:outerShdw>
                  </a:effectLst>
                  <a:cs typeface="+mn-ea"/>
                  <a:sym typeface="+mn-lt"/>
                </a:rPr>
                <a:t>Overall Aim: To design and implement a robust, AI powered task management system, </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defTabSz="1219200">
                <a:lnSpc>
                  <a:spcPct val="150000"/>
                </a:lnSpc>
              </a:pPr>
              <a:r>
                <a:rPr lang="en-US" altLang="en-US" dirty="0">
                  <a:ln/>
                  <a:solidFill>
                    <a:schemeClr val="tx1"/>
                  </a:solidFill>
                  <a:effectLst>
                    <a:outerShdw blurRad="38100" dist="19050" dir="2700000" algn="tl" rotWithShape="0">
                      <a:schemeClr val="dk1">
                        <a:alpha val="40000"/>
                      </a:schemeClr>
                    </a:outerShdw>
                  </a:effectLst>
                  <a:cs typeface="+mn-ea"/>
                  <a:sym typeface="+mn-lt"/>
                </a:rPr>
                <a:t>TASKWISE, that minimizes manual input and </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defTabSz="1219200">
                <a:lnSpc>
                  <a:spcPct val="150000"/>
                </a:lnSpc>
              </a:pPr>
              <a:r>
                <a:rPr lang="en-US" altLang="en-US" dirty="0">
                  <a:ln/>
                  <a:solidFill>
                    <a:schemeClr val="tx1"/>
                  </a:solidFill>
                  <a:effectLst>
                    <a:outerShdw blurRad="38100" dist="19050" dir="2700000" algn="tl" rotWithShape="0">
                      <a:schemeClr val="dk1">
                        <a:alpha val="40000"/>
                      </a:schemeClr>
                    </a:outerShdw>
                  </a:effectLst>
                  <a:cs typeface="+mn-ea"/>
                  <a:sym typeface="+mn-lt"/>
                </a:rPr>
                <a:t>maximizes task automation to significantly enhance </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defTabSz="1219200">
                <a:lnSpc>
                  <a:spcPct val="150000"/>
                </a:lnSpc>
              </a:pPr>
              <a:r>
                <a:rPr lang="en-US" altLang="en-US" dirty="0">
                  <a:ln/>
                  <a:solidFill>
                    <a:schemeClr val="tx1"/>
                  </a:solidFill>
                  <a:effectLst>
                    <a:outerShdw blurRad="38100" dist="19050" dir="2700000" algn="tl" rotWithShape="0">
                      <a:schemeClr val="dk1">
                        <a:alpha val="40000"/>
                      </a:schemeClr>
                    </a:outerShdw>
                  </a:effectLst>
                  <a:cs typeface="+mn-ea"/>
                  <a:sym typeface="+mn-lt"/>
                </a:rPr>
                <a:t>user productivity</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p:txBody>
        </p:sp>
        <p:sp>
          <p:nvSpPr>
            <p:cNvPr id="17" name="文本框 16"/>
            <p:cNvSpPr txBox="1"/>
            <p:nvPr>
              <p:custDataLst>
                <p:tags r:id="rId4"/>
              </p:custDataLst>
            </p:nvPr>
          </p:nvSpPr>
          <p:spPr>
            <a:xfrm>
              <a:off x="6127502" y="2283770"/>
              <a:ext cx="3162551" cy="345292"/>
            </a:xfrm>
            <a:prstGeom prst="rect">
              <a:avLst/>
            </a:prstGeom>
            <a:noFill/>
          </p:spPr>
          <p:txBody>
            <a:bodyPr wrap="square" rtlCol="0">
              <a:spAutoFit/>
            </a:bodyPr>
            <a:lstStyle/>
            <a:p>
              <a:pPr algn="ctr" defTabSz="1219200"/>
              <a:r>
                <a:rPr lang="en-US" altLang="en-US" sz="2400">
                  <a:solidFill>
                    <a:prstClr val="black"/>
                  </a:solidFill>
                  <a:latin typeface="Times New Roman" panose="02020603050405020304" charset="0"/>
                  <a:cs typeface="Times New Roman" panose="02020603050405020304" charset="0"/>
                  <a:sym typeface="+mn-lt"/>
                </a:rPr>
                <a:t>Aim of the Project</a:t>
              </a:r>
              <a:endParaRPr lang="en-US" altLang="en-US" sz="2400">
                <a:solidFill>
                  <a:prstClr val="black"/>
                </a:solidFill>
                <a:latin typeface="Times New Roman" panose="02020603050405020304" charset="0"/>
                <a:cs typeface="Times New Roman" panose="02020603050405020304" charset="0"/>
                <a:sym typeface="+mn-lt"/>
              </a:endParaRPr>
            </a:p>
          </p:txBody>
        </p:sp>
      </p:grpSp>
      <p:grpSp>
        <p:nvGrpSpPr>
          <p:cNvPr id="3" name="组合 12"/>
          <p:cNvGrpSpPr/>
          <p:nvPr>
            <p:custDataLst>
              <p:tags r:id="rId5"/>
            </p:custDataLst>
          </p:nvPr>
        </p:nvGrpSpPr>
        <p:grpSpPr>
          <a:xfrm>
            <a:off x="6421755" y="1911986"/>
            <a:ext cx="5408930" cy="4717415"/>
            <a:chOff x="6384712" y="3660169"/>
            <a:chExt cx="5228908" cy="4008336"/>
          </a:xfrm>
        </p:grpSpPr>
        <p:sp>
          <p:nvSpPr>
            <p:cNvPr id="4" name="文本框 21"/>
            <p:cNvSpPr/>
            <p:nvPr>
              <p:custDataLst>
                <p:tags r:id="rId6"/>
              </p:custDataLst>
            </p:nvPr>
          </p:nvSpPr>
          <p:spPr>
            <a:xfrm>
              <a:off x="6384712" y="4847185"/>
              <a:ext cx="5228908" cy="2821320"/>
            </a:xfrm>
            <a:prstGeom prst="rect">
              <a:avLst/>
            </a:prstGeom>
            <a:noFill/>
            <a:ln w="9525">
              <a:noFill/>
            </a:ln>
          </p:spPr>
          <p:txBody>
            <a:bodyPr wrap="square">
              <a:noAutofit/>
            </a:bodyPr>
            <a:lstStyle/>
            <a:p>
              <a:pPr algn="just" defTabSz="1219200"/>
              <a:r>
                <a:rPr lang="en-US" altLang="en-US" dirty="0">
                  <a:ln/>
                  <a:solidFill>
                    <a:schemeClr val="tx1"/>
                  </a:solidFill>
                  <a:effectLst>
                    <a:outerShdw blurRad="38100" dist="19050" dir="2700000" algn="tl" rotWithShape="0">
                      <a:schemeClr val="dk1">
                        <a:alpha val="40000"/>
                      </a:schemeClr>
                    </a:outerShdw>
                  </a:effectLst>
                  <a:cs typeface="+mn-ea"/>
                  <a:sym typeface="+mn-lt"/>
                </a:rPr>
                <a:t>1.Design and Implement a user-friendly interface  for seamless interaction.</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defTabSz="1219200"/>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defTabSz="1219200"/>
              <a:r>
                <a:rPr lang="en-US" altLang="en-US" dirty="0">
                  <a:ln/>
                  <a:solidFill>
                    <a:schemeClr val="tx1"/>
                  </a:solidFill>
                  <a:effectLst>
                    <a:outerShdw blurRad="38100" dist="19050" dir="2700000" algn="tl" rotWithShape="0">
                      <a:schemeClr val="dk1">
                        <a:alpha val="40000"/>
                      </a:schemeClr>
                    </a:outerShdw>
                  </a:effectLst>
                  <a:cs typeface="+mn-ea"/>
                  <a:sym typeface="+mn-lt"/>
                </a:rPr>
                <a:t>2. Integrate AI/NLP to accurately process natural   language (text/voice) into structured task data.</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defTabSz="1219200"/>
              <a:endParaRPr lang="en-US" altLang="en-US" dirty="0">
                <a:ln/>
                <a:solidFill>
                  <a:schemeClr val="tx1"/>
                </a:solidFill>
                <a:effectLst>
                  <a:outerShdw blurRad="38100" dist="19050" dir="2700000" algn="tl" rotWithShape="0">
                    <a:schemeClr val="dk1">
                      <a:alpha val="40000"/>
                    </a:schemeClr>
                  </a:outerShdw>
                </a:effectLst>
                <a:cs typeface="+mn-ea"/>
                <a:sym typeface="+mn-lt"/>
              </a:endParaRPr>
            </a:p>
            <a:p>
              <a:pPr algn="just" defTabSz="1219200"/>
              <a:r>
                <a:rPr lang="en-US" altLang="en-US" dirty="0">
                  <a:ln/>
                  <a:solidFill>
                    <a:schemeClr val="tx1"/>
                  </a:solidFill>
                  <a:effectLst>
                    <a:outerShdw blurRad="38100" dist="19050" dir="2700000" algn="tl" rotWithShape="0">
                      <a:schemeClr val="dk1">
                        <a:alpha val="40000"/>
                      </a:schemeClr>
                    </a:outerShdw>
                  </a:effectLst>
                  <a:cs typeface="+mn-ea"/>
                  <a:sym typeface="+mn-lt"/>
                </a:rPr>
                <a:t>3. Develop Automated Scheduling and intelligent</a:t>
              </a:r>
              <a:endParaRPr lang="en-US" altLang="en-US" dirty="0">
                <a:ln/>
                <a:solidFill>
                  <a:schemeClr val="tx1"/>
                </a:solidFill>
                <a:effectLst>
                  <a:outerShdw blurRad="38100" dist="19050" dir="2700000" algn="tl" rotWithShape="0">
                    <a:schemeClr val="dk1">
                      <a:alpha val="40000"/>
                    </a:schemeClr>
                  </a:outerShdw>
                </a:effectLst>
                <a:cs typeface="+mn-ea"/>
                <a:sym typeface="+mn-lt"/>
              </a:endParaRPr>
            </a:p>
          </p:txBody>
        </p:sp>
        <p:sp>
          <p:nvSpPr>
            <p:cNvPr id="5" name="文本框 16"/>
            <p:cNvSpPr txBox="1"/>
            <p:nvPr>
              <p:custDataLst>
                <p:tags r:id="rId7"/>
              </p:custDataLst>
            </p:nvPr>
          </p:nvSpPr>
          <p:spPr>
            <a:xfrm>
              <a:off x="6384712" y="3660169"/>
              <a:ext cx="3317330" cy="391176"/>
            </a:xfrm>
            <a:prstGeom prst="rect">
              <a:avLst/>
            </a:prstGeom>
            <a:noFill/>
          </p:spPr>
          <p:txBody>
            <a:bodyPr wrap="square" rtlCol="0">
              <a:spAutoFit/>
            </a:bodyPr>
            <a:lstStyle/>
            <a:p>
              <a:pPr algn="ctr" defTabSz="1219200"/>
              <a:r>
                <a:rPr lang="en-US" altLang="en-US" sz="2400">
                  <a:solidFill>
                    <a:prstClr val="black"/>
                  </a:solidFill>
                  <a:latin typeface="Times New Roman" panose="02020603050405020304" charset="0"/>
                  <a:cs typeface="Times New Roman" panose="02020603050405020304" charset="0"/>
                  <a:sym typeface="+mn-lt"/>
                </a:rPr>
                <a:t>Project Objectives</a:t>
              </a:r>
              <a:endParaRPr lang="en-US" altLang="en-US" sz="2400">
                <a:solidFill>
                  <a:prstClr val="black"/>
                </a:solidFill>
                <a:latin typeface="Times New Roman" panose="02020603050405020304" charset="0"/>
                <a:cs typeface="Times New Roman" panose="02020603050405020304" charset="0"/>
                <a:sym typeface="+mn-lt"/>
              </a:endParaRPr>
            </a:p>
          </p:txBody>
        </p:sp>
      </p:grpSp>
      <p:sp>
        <p:nvSpPr>
          <p:cNvPr id="2" name="Text Box 1"/>
          <p:cNvSpPr txBox="1"/>
          <p:nvPr/>
        </p:nvSpPr>
        <p:spPr>
          <a:xfrm>
            <a:off x="1023620" y="4939030"/>
            <a:ext cx="4064000" cy="368300"/>
          </a:xfrm>
          <a:prstGeom prst="rect">
            <a:avLst/>
          </a:prstGeom>
          <a:noFill/>
        </p:spPr>
        <p:txBody>
          <a:bodyPr wrap="square" rtlCol="0">
            <a:spAutoFit/>
          </a:bodyPr>
          <a:p>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right)">
                                      <p:cBhvr>
                                        <p:cTn id="7" dur="7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alphaModFix amt="20000"/>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flipV="1">
            <a:off x="3536384" y="-142604"/>
            <a:ext cx="8532090" cy="7144653"/>
          </a:xfrm>
          <a:prstGeom prst="rect">
            <a:avLst/>
          </a:prstGeom>
        </p:spPr>
      </p:pic>
      <p:graphicFrame>
        <p:nvGraphicFramePr>
          <p:cNvPr id="2" name="Table 1"/>
          <p:cNvGraphicFramePr/>
          <p:nvPr>
            <p:custDataLst>
              <p:tags r:id="rId2"/>
            </p:custDataLst>
          </p:nvPr>
        </p:nvGraphicFramePr>
        <p:xfrm>
          <a:off x="314325" y="427355"/>
          <a:ext cx="11409045" cy="5740400"/>
        </p:xfrm>
        <a:graphic>
          <a:graphicData uri="http://schemas.openxmlformats.org/drawingml/2006/table">
            <a:tbl>
              <a:tblPr firstRow="1" bandRow="1">
                <a:tableStyleId>{5DA37D80-6434-44D0-A028-1B22A696006F}</a:tableStyleId>
              </a:tblPr>
              <a:tblGrid>
                <a:gridCol w="3803015"/>
                <a:gridCol w="3803015"/>
                <a:gridCol w="3803015"/>
              </a:tblGrid>
              <a:tr h="1002030">
                <a:tc>
                  <a:txBody>
                    <a:bodyPr/>
                    <a:p>
                      <a:pPr algn="ctr">
                        <a:buNone/>
                      </a:pPr>
                      <a:r>
                        <a:rPr lang="en-US" altLang="en-US" sz="2000" b="1">
                          <a:latin typeface="Times New Roman" panose="02020603050405020304" charset="0"/>
                          <a:cs typeface="Times New Roman" panose="02020603050405020304" charset="0"/>
                        </a:rPr>
                        <a:t>Literature Review and Citation</a:t>
                      </a:r>
                      <a:endParaRPr lang="en-US" altLang="en-US" sz="2000" b="1">
                        <a:latin typeface="Times New Roman" panose="02020603050405020304" charset="0"/>
                        <a:cs typeface="Times New Roman" panose="02020603050405020304" charset="0"/>
                      </a:endParaRPr>
                    </a:p>
                  </a:txBody>
                  <a:tcPr/>
                </a:tc>
                <a:tc>
                  <a:txBody>
                    <a:bodyPr/>
                    <a:p>
                      <a:pPr algn="ctr">
                        <a:buNone/>
                      </a:pPr>
                      <a:r>
                        <a:rPr lang="en-US" altLang="en-US" sz="2000">
                          <a:latin typeface="Times New Roman" panose="02020603050405020304" charset="0"/>
                          <a:cs typeface="Times New Roman" panose="02020603050405020304" charset="0"/>
                        </a:rPr>
                        <a:t>Gaps and Limitations</a:t>
                      </a:r>
                      <a:endParaRPr lang="en-US" altLang="en-US" sz="2000">
                        <a:latin typeface="Times New Roman" panose="02020603050405020304" charset="0"/>
                        <a:cs typeface="Times New Roman" panose="02020603050405020304" charset="0"/>
                      </a:endParaRPr>
                    </a:p>
                    <a:p>
                      <a:pPr algn="ctr">
                        <a:buNone/>
                      </a:pPr>
                      <a:r>
                        <a:rPr lang="en-US" altLang="en-US" sz="2000">
                          <a:latin typeface="Times New Roman" panose="02020603050405020304" charset="0"/>
                          <a:cs typeface="Times New Roman" panose="02020603050405020304" charset="0"/>
                        </a:rPr>
                        <a:t>Identified</a:t>
                      </a:r>
                      <a:endParaRPr lang="en-US" altLang="en-US" sz="2000">
                        <a:latin typeface="Times New Roman" panose="02020603050405020304" charset="0"/>
                        <a:cs typeface="Times New Roman" panose="02020603050405020304" charset="0"/>
                      </a:endParaRPr>
                    </a:p>
                  </a:txBody>
                  <a:tcPr/>
                </a:tc>
                <a:tc>
                  <a:txBody>
                    <a:bodyPr/>
                    <a:p>
                      <a:pPr algn="ctr">
                        <a:buNone/>
                      </a:pPr>
                      <a:r>
                        <a:rPr lang="en-US" altLang="en-US" sz="2000">
                          <a:latin typeface="Times New Roman" panose="02020603050405020304" charset="0"/>
                          <a:cs typeface="Times New Roman" panose="02020603050405020304" charset="0"/>
                        </a:rPr>
                        <a:t>How TaskWise Aims to Fix</a:t>
                      </a:r>
                      <a:endParaRPr lang="en-US" altLang="en-US" sz="2000">
                        <a:latin typeface="Times New Roman" panose="02020603050405020304" charset="0"/>
                        <a:cs typeface="Times New Roman" panose="02020603050405020304" charset="0"/>
                      </a:endParaRPr>
                    </a:p>
                    <a:p>
                      <a:pPr algn="ctr">
                        <a:buNone/>
                      </a:pPr>
                      <a:r>
                        <a:rPr lang="en-US" altLang="en-US" sz="2000">
                          <a:latin typeface="Times New Roman" panose="02020603050405020304" charset="0"/>
                          <a:cs typeface="Times New Roman" panose="02020603050405020304" charset="0"/>
                        </a:rPr>
                        <a:t>That</a:t>
                      </a:r>
                      <a:endParaRPr lang="en-US" altLang="en-US" sz="2000">
                        <a:latin typeface="Times New Roman" panose="02020603050405020304" charset="0"/>
                        <a:cs typeface="Times New Roman" panose="02020603050405020304" charset="0"/>
                      </a:endParaRPr>
                    </a:p>
                  </a:txBody>
                  <a:tcPr/>
                </a:tc>
              </a:tr>
              <a:tr h="1737360">
                <a:tc>
                  <a:txBody>
                    <a:bodyPr/>
                    <a:p>
                      <a:pPr algn="just">
                        <a:buNone/>
                      </a:pPr>
                      <a:r>
                        <a:rPr lang="en-US" altLang="en-US"/>
                        <a:t>However, despite these</a:t>
                      </a:r>
                      <a:endParaRPr lang="en-US" altLang="en-US"/>
                    </a:p>
                    <a:p>
                      <a:pPr algn="just">
                        <a:buNone/>
                      </a:pPr>
                      <a:r>
                        <a:rPr lang="en-US" altLang="en-US"/>
                        <a:t>advancements, most available</a:t>
                      </a:r>
                      <a:endParaRPr lang="en-US" altLang="en-US"/>
                    </a:p>
                    <a:p>
                      <a:pPr algn="just">
                        <a:buNone/>
                      </a:pPr>
                      <a:r>
                        <a:rPr lang="en-US" altLang="en-US"/>
                        <a:t>applications still depend heavily on manual input and provide limited automation features" (McKinsey, 2025)</a:t>
                      </a:r>
                      <a:endParaRPr lang="en-US" altLang="en-US"/>
                    </a:p>
                  </a:txBody>
                  <a:tcPr/>
                </a:tc>
                <a:tc>
                  <a:txBody>
                    <a:bodyPr/>
                    <a:p>
                      <a:pPr algn="just">
                        <a:buNone/>
                      </a:pPr>
                      <a:r>
                        <a:rPr lang="en-US" altLang="en-US"/>
                        <a:t>Existing systems are heavily reliant on manual data entry and lack</a:t>
                      </a:r>
                      <a:endParaRPr lang="en-US" altLang="en-US"/>
                    </a:p>
                    <a:p>
                      <a:pPr algn="just">
                        <a:buNone/>
                      </a:pPr>
                      <a:r>
                        <a:rPr lang="en-US" altLang="en-US"/>
                        <a:t>adequate automation.</a:t>
                      </a:r>
                      <a:endParaRPr lang="en-US" altLang="en-US"/>
                    </a:p>
                  </a:txBody>
                  <a:tcPr/>
                </a:tc>
                <a:tc>
                  <a:txBody>
                    <a:bodyPr/>
                    <a:p>
                      <a:pPr algn="just">
                        <a:buNone/>
                      </a:pPr>
                      <a:r>
                        <a:rPr lang="en-US" altLang="en-US"/>
                        <a:t>TaskWise uses AI and Natural</a:t>
                      </a:r>
                      <a:endParaRPr lang="en-US" altLang="en-US"/>
                    </a:p>
                    <a:p>
                      <a:pPr algn="just">
                        <a:buNone/>
                      </a:pPr>
                      <a:r>
                        <a:rPr lang="en-US" altLang="en-US"/>
                        <a:t>Language Processing (NLP)</a:t>
                      </a:r>
                      <a:endParaRPr lang="en-US" altLang="en-US"/>
                    </a:p>
                    <a:p>
                      <a:pPr algn="just">
                        <a:buNone/>
                      </a:pPr>
                      <a:r>
                        <a:rPr lang="en-US" altLang="en-US"/>
                        <a:t>to automate task creation,</a:t>
                      </a:r>
                      <a:endParaRPr lang="en-US" altLang="en-US"/>
                    </a:p>
                    <a:p>
                      <a:pPr algn="just">
                        <a:buNone/>
                      </a:pPr>
                      <a:r>
                        <a:rPr lang="en-US" altLang="en-US"/>
                        <a:t>scheduling, and progress</a:t>
                      </a:r>
                      <a:endParaRPr lang="en-US" altLang="en-US"/>
                    </a:p>
                    <a:p>
                      <a:pPr algn="just">
                        <a:buNone/>
                      </a:pPr>
                      <a:r>
                        <a:rPr lang="en-US" altLang="en-US"/>
                        <a:t>tracking, minimizing manual</a:t>
                      </a:r>
                      <a:endParaRPr lang="en-US" altLang="en-US"/>
                    </a:p>
                    <a:p>
                      <a:pPr algn="just">
                        <a:buNone/>
                      </a:pPr>
                      <a:r>
                        <a:rPr lang="en-US" altLang="en-US"/>
                        <a:t>input.</a:t>
                      </a:r>
                      <a:endParaRPr lang="en-US" altLang="en-US"/>
                    </a:p>
                  </a:txBody>
                  <a:tcPr/>
                </a:tc>
              </a:tr>
              <a:tr h="1510030">
                <a:tc>
                  <a:txBody>
                    <a:bodyPr/>
                    <a:p>
                      <a:pPr algn="just">
                        <a:buNone/>
                      </a:pPr>
                      <a:r>
                        <a:rPr lang="en-US" altLang="en-US"/>
                        <a:t>"Traditional productivity</a:t>
                      </a:r>
                      <a:endParaRPr lang="en-US" altLang="en-US"/>
                    </a:p>
                    <a:p>
                      <a:pPr algn="just">
                        <a:buNone/>
                      </a:pPr>
                      <a:r>
                        <a:rPr lang="en-US" altLang="en-US"/>
                        <a:t>applications focus solely on end-user functionality, neglecting the need for administrative monitoring and data management" (Microsoft</a:t>
                      </a:r>
                      <a:endParaRPr lang="en-US" altLang="en-US"/>
                    </a:p>
                    <a:p>
                      <a:pPr algn="just">
                        <a:buNone/>
                      </a:pPr>
                      <a:r>
                        <a:rPr lang="en-US" altLang="en-US"/>
                        <a:t>Research, 2025)</a:t>
                      </a:r>
                      <a:endParaRPr lang="en-US" altLang="en-US"/>
                    </a:p>
                  </a:txBody>
                  <a:tcPr/>
                </a:tc>
                <a:tc>
                  <a:txBody>
                    <a:bodyPr/>
                    <a:p>
                      <a:pPr algn="just">
                        <a:buNone/>
                      </a:pPr>
                      <a:r>
                        <a:rPr lang="en-US" altLang="en-US"/>
                        <a:t>Neglect of administrative</a:t>
                      </a:r>
                      <a:endParaRPr lang="en-US" altLang="en-US"/>
                    </a:p>
                    <a:p>
                      <a:pPr algn="just">
                        <a:buNone/>
                      </a:pPr>
                      <a:r>
                        <a:rPr lang="en-US" altLang="en-US"/>
                        <a:t>features, user management, and</a:t>
                      </a:r>
                      <a:endParaRPr lang="en-US" altLang="en-US"/>
                    </a:p>
                    <a:p>
                      <a:pPr algn="just">
                        <a:buNone/>
                      </a:pPr>
                      <a:r>
                        <a:rPr lang="en-US" altLang="en-US"/>
                        <a:t>detailed analytics needed</a:t>
                      </a:r>
                      <a:endParaRPr lang="en-US" altLang="en-US"/>
                    </a:p>
                    <a:p>
                      <a:pPr algn="just">
                        <a:buNone/>
                      </a:pPr>
                      <a:r>
                        <a:rPr lang="en-US" altLang="en-US"/>
                        <a:t>for scalability and organizational oversight</a:t>
                      </a:r>
                      <a:endParaRPr lang="en-US" altLang="en-US"/>
                    </a:p>
                  </a:txBody>
                  <a:tcPr/>
                </a:tc>
                <a:tc>
                  <a:txBody>
                    <a:bodyPr/>
                    <a:p>
                      <a:pPr algn="just">
                        <a:buNone/>
                      </a:pPr>
                      <a:r>
                        <a:rPr lang="en-US" altLang="en-US"/>
                        <a:t>TaskWise includes a</a:t>
                      </a:r>
                      <a:endParaRPr lang="en-US" altLang="en-US"/>
                    </a:p>
                    <a:p>
                      <a:pPr algn="just">
                        <a:buNone/>
                      </a:pPr>
                      <a:r>
                        <a:rPr lang="en-US" altLang="en-US"/>
                        <a:t>comprehensive Admin Panel</a:t>
                      </a:r>
                      <a:endParaRPr lang="en-US" altLang="en-US"/>
                    </a:p>
                    <a:p>
                      <a:pPr algn="just">
                        <a:buNone/>
                      </a:pPr>
                      <a:r>
                        <a:rPr lang="en-US" altLang="en-US"/>
                        <a:t>for managing users, viewing deep productivity analytics, and handling premium access controls.</a:t>
                      </a:r>
                      <a:endParaRPr lang="en-US" altLang="en-US"/>
                    </a:p>
                  </a:txBody>
                  <a:tcPr/>
                </a:tc>
              </a:tr>
              <a:tr h="1490980">
                <a:tc>
                  <a:txBody>
                    <a:bodyPr/>
                    <a:p>
                      <a:pPr algn="just">
                        <a:buNone/>
                      </a:pPr>
                      <a:r>
                        <a:rPr lang="en-US" altLang="en-US"/>
                        <a:t>Users must frequently switch</a:t>
                      </a:r>
                      <a:endParaRPr lang="en-US" altLang="en-US"/>
                    </a:p>
                    <a:p>
                      <a:pPr algn="just">
                        <a:buNone/>
                      </a:pPr>
                      <a:r>
                        <a:rPr lang="en-US" altLang="en-US"/>
                        <a:t>between applications to track</a:t>
                      </a:r>
                      <a:endParaRPr lang="en-US" altLang="en-US"/>
                    </a:p>
                    <a:p>
                      <a:pPr algn="just">
                        <a:buNone/>
                      </a:pPr>
                      <a:r>
                        <a:rPr lang="en-US" altLang="en-US"/>
                        <a:t>deadlines, set reminders, and</a:t>
                      </a:r>
                      <a:endParaRPr lang="en-US" altLang="en-US"/>
                    </a:p>
                    <a:p>
                      <a:pPr algn="just">
                        <a:buNone/>
                      </a:pPr>
                      <a:r>
                        <a:rPr lang="en-US" altLang="en-US"/>
                        <a:t>monitor progress, which leads</a:t>
                      </a:r>
                      <a:endParaRPr lang="en-US" altLang="en-US"/>
                    </a:p>
                    <a:p>
                      <a:pPr algn="just">
                        <a:buNone/>
                      </a:pPr>
                      <a:r>
                        <a:rPr lang="en-US" altLang="en-US"/>
                        <a:t>to inefficiency and reduced</a:t>
                      </a:r>
                      <a:endParaRPr lang="en-US" altLang="en-US"/>
                    </a:p>
                    <a:p>
                      <a:pPr algn="just">
                        <a:buNone/>
                      </a:pPr>
                      <a:r>
                        <a:rPr lang="en-US" altLang="en-US"/>
                        <a:t>productivity" (Kumar et al.,2025)</a:t>
                      </a:r>
                      <a:endParaRPr lang="en-US" altLang="en-US"/>
                    </a:p>
                  </a:txBody>
                  <a:tcPr/>
                </a:tc>
                <a:tc>
                  <a:txBody>
                    <a:bodyPr/>
                    <a:p>
                      <a:pPr>
                        <a:buNone/>
                      </a:pPr>
                      <a:r>
                        <a:rPr lang="en-US" altLang="en-US"/>
                        <a:t>Fragmentation of features across multiple applications, causing inefficiency and a loss of focus</a:t>
                      </a:r>
                      <a:endParaRPr lang="en-US" altLang="en-US"/>
                    </a:p>
                  </a:txBody>
                  <a:tcPr/>
                </a:tc>
                <a:tc>
                  <a:txBody>
                    <a:bodyPr/>
                    <a:p>
                      <a:pPr>
                        <a:buNone/>
                      </a:pPr>
                      <a:r>
                        <a:rPr lang="en-US" altLang="en-US"/>
                        <a:t>TaskWise is a unified platform that centralizes task management, notes, scheduling, reminders, and analytics in a single application.</a:t>
                      </a:r>
                      <a:endParaRPr lang="en-US" altLang="en-US"/>
                    </a:p>
                  </a:txBody>
                  <a:tcPr/>
                </a:tc>
              </a:tr>
            </a:tbl>
          </a:graphicData>
        </a:graphic>
      </p:graphicFrame>
      <p:sp>
        <p:nvSpPr>
          <p:cNvPr id="3" name="Text Box 2"/>
          <p:cNvSpPr txBox="1"/>
          <p:nvPr/>
        </p:nvSpPr>
        <p:spPr>
          <a:xfrm>
            <a:off x="4648200" y="66675"/>
            <a:ext cx="2407285" cy="429895"/>
          </a:xfrm>
          <a:prstGeom prst="rect">
            <a:avLst/>
          </a:prstGeom>
          <a:noFill/>
        </p:spPr>
        <p:txBody>
          <a:bodyPr wrap="square" rtlCol="0">
            <a:spAutoFit/>
          </a:bodyPr>
          <a:p>
            <a:pPr algn="just"/>
            <a:r>
              <a:rPr lang="en-US" sz="2200" b="1">
                <a:latin typeface="Times New Roman" panose="02020603050405020304" charset="0"/>
                <a:cs typeface="Times New Roman" panose="02020603050405020304" charset="0"/>
              </a:rPr>
              <a:t>Literature Review</a:t>
            </a:r>
            <a:endParaRPr lang="en-US" sz="2200" b="1">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right)">
                                      <p:cBhvr>
                                        <p:cTn id="7" dur="7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alphaModFix amt="40000"/>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flipV="1">
            <a:off x="3660209" y="271"/>
            <a:ext cx="8532090" cy="7144653"/>
          </a:xfrm>
          <a:prstGeom prst="rect">
            <a:avLst/>
          </a:prstGeom>
        </p:spPr>
      </p:pic>
      <p:sp>
        <p:nvSpPr>
          <p:cNvPr id="2" name="Text Box 1"/>
          <p:cNvSpPr txBox="1"/>
          <p:nvPr/>
        </p:nvSpPr>
        <p:spPr>
          <a:xfrm>
            <a:off x="3438525" y="481330"/>
            <a:ext cx="4064000" cy="460375"/>
          </a:xfrm>
          <a:prstGeom prst="rect">
            <a:avLst/>
          </a:prstGeom>
          <a:noFill/>
        </p:spPr>
        <p:txBody>
          <a:bodyPr wrap="square" rtlCol="0">
            <a:spAutoFit/>
          </a:bodyPr>
          <a:p>
            <a:pPr algn="ctr"/>
            <a:r>
              <a:rPr lang="en-US" sz="2400" b="1">
                <a:latin typeface="Times New Roman" panose="02020603050405020304" charset="0"/>
                <a:cs typeface="Times New Roman" panose="02020603050405020304" charset="0"/>
              </a:rPr>
              <a:t>Modelling and Design </a:t>
            </a:r>
            <a:endParaRPr lang="en-US" sz="2400" b="1">
              <a:latin typeface="Times New Roman" panose="02020603050405020304" charset="0"/>
              <a:cs typeface="Times New Roman" panose="02020603050405020304" charset="0"/>
            </a:endParaRPr>
          </a:p>
        </p:txBody>
      </p:sp>
      <p:graphicFrame>
        <p:nvGraphicFramePr>
          <p:cNvPr id="6" name="Table 5"/>
          <p:cNvGraphicFramePr/>
          <p:nvPr>
            <p:custDataLst>
              <p:tags r:id="rId2"/>
            </p:custDataLst>
          </p:nvPr>
        </p:nvGraphicFramePr>
        <p:xfrm>
          <a:off x="371475" y="1171575"/>
          <a:ext cx="11513820" cy="5394960"/>
        </p:xfrm>
        <a:graphic>
          <a:graphicData uri="http://schemas.openxmlformats.org/drawingml/2006/table">
            <a:tbl>
              <a:tblPr firstRow="1" bandRow="1">
                <a:tableStyleId>{5DA37D80-6434-44D0-A028-1B22A696006F}</a:tableStyleId>
              </a:tblPr>
              <a:tblGrid>
                <a:gridCol w="3837940"/>
                <a:gridCol w="3837940"/>
                <a:gridCol w="3837940"/>
              </a:tblGrid>
              <a:tr h="1117600">
                <a:tc>
                  <a:txBody>
                    <a:bodyPr/>
                    <a:p>
                      <a:pPr algn="ctr">
                        <a:buNone/>
                      </a:pPr>
                      <a:r>
                        <a:rPr lang="en-US" altLang="en-US" sz="2000">
                          <a:latin typeface="Times New Roman" panose="02020603050405020304" charset="0"/>
                          <a:cs typeface="Times New Roman" panose="02020603050405020304" charset="0"/>
                        </a:rPr>
                        <a:t>System</a:t>
                      </a:r>
                      <a:endParaRPr lang="en-US" altLang="en-US" sz="2000">
                        <a:latin typeface="Times New Roman" panose="02020603050405020304" charset="0"/>
                        <a:cs typeface="Times New Roman" panose="02020603050405020304" charset="0"/>
                      </a:endParaRPr>
                    </a:p>
                    <a:p>
                      <a:pPr algn="ctr">
                        <a:buNone/>
                      </a:pPr>
                      <a:r>
                        <a:rPr lang="en-US" altLang="en-US" sz="2000">
                          <a:latin typeface="Times New Roman" panose="02020603050405020304" charset="0"/>
                          <a:cs typeface="Times New Roman" panose="02020603050405020304" charset="0"/>
                        </a:rPr>
                        <a:t>Architecture (High Level)</a:t>
                      </a:r>
                      <a:endParaRPr lang="en-US" altLang="en-US" sz="2000">
                        <a:latin typeface="Times New Roman" panose="02020603050405020304" charset="0"/>
                        <a:cs typeface="Times New Roman" panose="02020603050405020304" charset="0"/>
                      </a:endParaRPr>
                    </a:p>
                  </a:txBody>
                  <a:tcPr/>
                </a:tc>
                <a:tc>
                  <a:txBody>
                    <a:bodyPr/>
                    <a:p>
                      <a:pPr algn="ctr">
                        <a:buNone/>
                      </a:pPr>
                      <a:r>
                        <a:rPr lang="en-US" altLang="en-US" sz="2000">
                          <a:latin typeface="Times New Roman" panose="02020603050405020304" charset="0"/>
                          <a:cs typeface="Times New Roman" panose="02020603050405020304" charset="0"/>
                        </a:rPr>
                        <a:t>AI/NLP Model</a:t>
                      </a:r>
                      <a:endParaRPr lang="en-US" altLang="en-US" sz="2000">
                        <a:latin typeface="Times New Roman" panose="02020603050405020304" charset="0"/>
                        <a:cs typeface="Times New Roman" panose="02020603050405020304" charset="0"/>
                      </a:endParaRPr>
                    </a:p>
                    <a:p>
                      <a:pPr algn="ctr">
                        <a:buNone/>
                      </a:pPr>
                      <a:r>
                        <a:rPr lang="en-US" altLang="en-US" sz="2000">
                          <a:latin typeface="Times New Roman" panose="02020603050405020304" charset="0"/>
                          <a:cs typeface="Times New Roman" panose="02020603050405020304" charset="0"/>
                        </a:rPr>
                        <a:t>Design</a:t>
                      </a:r>
                      <a:endParaRPr lang="en-US" altLang="en-US" sz="2000">
                        <a:latin typeface="Times New Roman" panose="02020603050405020304" charset="0"/>
                        <a:cs typeface="Times New Roman" panose="02020603050405020304" charset="0"/>
                      </a:endParaRPr>
                    </a:p>
                  </a:txBody>
                  <a:tcPr/>
                </a:tc>
                <a:tc>
                  <a:txBody>
                    <a:bodyPr/>
                    <a:p>
                      <a:pPr algn="ctr">
                        <a:buNone/>
                      </a:pPr>
                      <a:r>
                        <a:rPr lang="en-US" altLang="en-US" sz="2000">
                          <a:latin typeface="Times New Roman" panose="02020603050405020304" charset="0"/>
                          <a:cs typeface="Times New Roman" panose="02020603050405020304" charset="0"/>
                        </a:rPr>
                        <a:t>Data Modeling</a:t>
                      </a:r>
                      <a:endParaRPr lang="en-US" altLang="en-US" sz="2000">
                        <a:latin typeface="Times New Roman" panose="02020603050405020304" charset="0"/>
                        <a:cs typeface="Times New Roman" panose="02020603050405020304" charset="0"/>
                      </a:endParaRPr>
                    </a:p>
                    <a:p>
                      <a:pPr algn="ctr">
                        <a:buNone/>
                      </a:pPr>
                      <a:r>
                        <a:rPr lang="en-US" altLang="en-US" sz="2000">
                          <a:latin typeface="Times New Roman" panose="02020603050405020304" charset="0"/>
                          <a:cs typeface="Times New Roman" panose="02020603050405020304" charset="0"/>
                        </a:rPr>
                        <a:t>(Key Entities)</a:t>
                      </a:r>
                      <a:endParaRPr lang="en-US" altLang="en-US" sz="2000">
                        <a:latin typeface="Times New Roman" panose="02020603050405020304" charset="0"/>
                        <a:cs typeface="Times New Roman" panose="02020603050405020304" charset="0"/>
                      </a:endParaRPr>
                    </a:p>
                  </a:txBody>
                  <a:tcPr/>
                </a:tc>
              </a:tr>
              <a:tr h="1275715">
                <a:tc>
                  <a:txBody>
                    <a:bodyPr/>
                    <a:p>
                      <a:pPr marL="285750" indent="-285750" algn="just">
                        <a:buFont typeface="Arial" panose="020B0604020202020204" pitchFamily="34" charset="0"/>
                        <a:buChar char="•"/>
                      </a:pPr>
                      <a:r>
                        <a:rPr lang="en-US" altLang="en-US"/>
                        <a:t>Client Layer: User-friendly</a:t>
                      </a:r>
                      <a:endParaRPr lang="en-US" altLang="en-US"/>
                    </a:p>
                    <a:p>
                      <a:pPr algn="just">
                        <a:buNone/>
                      </a:pPr>
                      <a:r>
                        <a:rPr lang="en-US" altLang="en-US"/>
                        <a:t>  Mobile/Web Interface for natural </a:t>
                      </a:r>
                      <a:endParaRPr lang="en-US" altLang="en-US"/>
                    </a:p>
                    <a:p>
                      <a:pPr algn="just">
                        <a:buNone/>
                      </a:pPr>
                      <a:r>
                        <a:rPr lang="en-US" altLang="en-US"/>
                        <a:t>  language input.</a:t>
                      </a:r>
                      <a:endParaRPr lang="en-US" altLang="en-US"/>
                    </a:p>
                  </a:txBody>
                  <a:tcPr/>
                </a:tc>
                <a:tc>
                  <a:txBody>
                    <a:bodyPr/>
                    <a:p>
                      <a:pPr marL="285750" indent="-285750">
                        <a:buFont typeface="Arial" panose="020B0604020202020204" pitchFamily="34" charset="0"/>
                        <a:buChar char="•"/>
                      </a:pPr>
                      <a:r>
                        <a:rPr lang="en-US" altLang="en-US"/>
                        <a:t>Input Pipeline: Text/Voice</a:t>
                      </a:r>
                      <a:endParaRPr lang="en-US" altLang="en-US"/>
                    </a:p>
                    <a:p>
                      <a:pPr>
                        <a:buNone/>
                      </a:pPr>
                      <a:r>
                        <a:rPr lang="en-US" altLang="en-US"/>
                        <a:t>Input \to Voice-to-Text \to NLP Parser.</a:t>
                      </a:r>
                      <a:endParaRPr lang="en-US" altLang="en-US"/>
                    </a:p>
                  </a:txBody>
                  <a:tcPr/>
                </a:tc>
                <a:tc>
                  <a:txBody>
                    <a:bodyPr/>
                    <a:p>
                      <a:pPr marL="285750" indent="-285750" algn="just">
                        <a:buFont typeface="Arial" panose="020B0604020202020204" pitchFamily="34" charset="0"/>
                        <a:buChar char="•"/>
                      </a:pPr>
                      <a:r>
                        <a:rPr lang="en-US" altLang="en-US"/>
                        <a:t>Users: Manages login, profile, </a:t>
                      </a:r>
                      <a:endParaRPr lang="en-US" altLang="en-US"/>
                    </a:p>
                    <a:p>
                      <a:pPr indent="0" algn="just">
                        <a:buFont typeface="Arial" panose="020B0604020202020204" pitchFamily="34" charset="0"/>
                        <a:buNone/>
                      </a:pPr>
                      <a:r>
                        <a:rPr lang="en-US" altLang="en-US"/>
                        <a:t>  and personalization settings.</a:t>
                      </a:r>
                      <a:endParaRPr lang="en-US" altLang="en-US"/>
                    </a:p>
                  </a:txBody>
                  <a:tcPr/>
                </a:tc>
              </a:tr>
              <a:tr h="1344295">
                <a:tc>
                  <a:txBody>
                    <a:bodyPr/>
                    <a:p>
                      <a:pPr marL="285750" indent="-285750" algn="just">
                        <a:buFont typeface="Arial" panose="020B0604020202020204" pitchFamily="34" charset="0"/>
                        <a:buChar char="•"/>
                      </a:pPr>
                      <a:r>
                        <a:rPr lang="en-US" altLang="en-US"/>
                        <a:t>Application Layer: Core Task</a:t>
                      </a:r>
                      <a:endParaRPr lang="en-US" altLang="en-US"/>
                    </a:p>
                    <a:p>
                      <a:pPr algn="just">
                        <a:buNone/>
                      </a:pPr>
                      <a:r>
                        <a:rPr lang="en-US" altLang="en-US"/>
                        <a:t> Engine, Business Logic, and API          Interface.</a:t>
                      </a:r>
                      <a:endParaRPr lang="en-US" altLang="en-US"/>
                    </a:p>
                  </a:txBody>
                  <a:tcPr/>
                </a:tc>
                <a:tc>
                  <a:txBody>
                    <a:bodyPr/>
                    <a:p>
                      <a:pPr marL="285750" indent="-285750" algn="just">
                        <a:buFont typeface="Arial" panose="020B0604020202020204" pitchFamily="34" charset="0"/>
                        <a:buChar char="•"/>
                      </a:pPr>
                      <a:r>
                        <a:rPr lang="en-US" altLang="en-US"/>
                        <a:t>Entity Extraction: The Parser</a:t>
                      </a:r>
                      <a:endParaRPr lang="en-US" altLang="en-US"/>
                    </a:p>
                    <a:p>
                      <a:pPr indent="0" algn="just">
                        <a:buFont typeface="Arial" panose="020B0604020202020204" pitchFamily="34" charset="0"/>
                        <a:buNone/>
                      </a:pPr>
                      <a:r>
                        <a:rPr lang="en-US" altLang="en-US"/>
                        <a:t>extracts key components from</a:t>
                      </a:r>
                      <a:endParaRPr lang="en-US" altLang="en-US"/>
                    </a:p>
                    <a:p>
                      <a:pPr indent="0" algn="just">
                        <a:buFont typeface="Arial" panose="020B0604020202020204" pitchFamily="34" charset="0"/>
                        <a:buNone/>
                      </a:pPr>
                      <a:r>
                        <a:rPr lang="en-US" altLang="en-US"/>
                        <a:t>natural language; Task Description, Due Date/Time, Recurrence Pattern, and Priority</a:t>
                      </a:r>
                      <a:endParaRPr lang="en-US" altLang="en-US"/>
                    </a:p>
                  </a:txBody>
                  <a:tcPr/>
                </a:tc>
                <a:tc>
                  <a:txBody>
                    <a:bodyPr/>
                    <a:p>
                      <a:pPr marL="285750" indent="-285750" algn="just">
                        <a:buFont typeface="Arial" panose="020B0604020202020204" pitchFamily="34" charset="0"/>
                        <a:buChar char="•"/>
                      </a:pPr>
                      <a:r>
                        <a:rPr lang="en-US" altLang="en-US"/>
                        <a:t>Tasks: Core entity storing</a:t>
                      </a:r>
                      <a:endParaRPr lang="en-US" altLang="en-US"/>
                    </a:p>
                    <a:p>
                      <a:pPr algn="just">
                        <a:buNone/>
                      </a:pPr>
                      <a:r>
                        <a:rPr lang="en-US" altLang="en-US"/>
                        <a:t>the processed task</a:t>
                      </a:r>
                      <a:endParaRPr lang="en-US" altLang="en-US"/>
                    </a:p>
                    <a:p>
                      <a:pPr algn="just">
                        <a:buNone/>
                      </a:pPr>
                      <a:r>
                        <a:rPr lang="en-US" altLang="en-US"/>
                        <a:t>(Description, DueDate, Status,</a:t>
                      </a:r>
                      <a:endParaRPr lang="en-US" altLang="en-US"/>
                    </a:p>
                    <a:p>
                      <a:pPr algn="just">
                        <a:buNone/>
                      </a:pPr>
                      <a:r>
                        <a:rPr lang="en-US" altLang="en-US"/>
                        <a:t>Priority).</a:t>
                      </a:r>
                      <a:endParaRPr lang="en-US" altLang="en-US"/>
                    </a:p>
                  </a:txBody>
                  <a:tcPr/>
                </a:tc>
              </a:tr>
              <a:tr h="1657350">
                <a:tc>
                  <a:txBody>
                    <a:bodyPr/>
                    <a:p>
                      <a:pPr marL="285750" indent="-285750" algn="just">
                        <a:buFont typeface="Arial" panose="020B0604020202020204" pitchFamily="34" charset="0"/>
                        <a:buChar char="•"/>
                      </a:pPr>
                      <a:r>
                        <a:rPr lang="en-US" altLang="en-US"/>
                        <a:t>AI Service Module:</a:t>
                      </a:r>
                      <a:endParaRPr lang="en-US" altLang="en-US"/>
                    </a:p>
                    <a:p>
                      <a:pPr algn="just">
                        <a:buNone/>
                      </a:pPr>
                      <a:r>
                        <a:rPr lang="en-US" altLang="en-US"/>
                        <a:t> Dedicated service for Voice-to-Text   conversion and NLP parsing</a:t>
                      </a:r>
                      <a:endParaRPr lang="en-US" altLang="en-US"/>
                    </a:p>
                  </a:txBody>
                  <a:tcPr/>
                </a:tc>
                <a:tc>
                  <a:txBody>
                    <a:bodyPr/>
                    <a:p>
                      <a:pPr marL="285750" indent="-285750" algn="just">
                        <a:buFont typeface="Arial" panose="020B0604020202020204" pitchFamily="34" charset="0"/>
                        <a:buChar char="•"/>
                      </a:pPr>
                      <a:r>
                        <a:rPr lang="en-US" altLang="en-US"/>
                        <a:t>Example: "Book flight tickets</a:t>
                      </a:r>
                      <a:endParaRPr lang="en-US" altLang="en-US"/>
                    </a:p>
                    <a:p>
                      <a:pPr algn="just">
                        <a:buNone/>
                      </a:pPr>
                      <a:r>
                        <a:rPr lang="en-US" altLang="en-US"/>
                        <a:t>next Friday" \to (Task: Book flight tickets, Due Date: Next Friday).</a:t>
                      </a:r>
                      <a:endParaRPr lang="en-US" altLang="en-US"/>
                    </a:p>
                  </a:txBody>
                  <a:tcPr/>
                </a:tc>
                <a:tc>
                  <a:txBody>
                    <a:bodyPr/>
                    <a:p>
                      <a:pPr marL="285750" indent="-285750" algn="just">
                        <a:buFont typeface="Arial" panose="020B0604020202020204" pitchFamily="34" charset="0"/>
                        <a:buChar char="•"/>
                      </a:pPr>
                      <a:r>
                        <a:rPr lang="en-US" altLang="en-US"/>
                        <a:t>Task_Context: Stores </a:t>
                      </a:r>
                      <a:endParaRPr lang="en-US" altLang="en-US"/>
                    </a:p>
                    <a:p>
                      <a:pPr algn="just">
                        <a:buNone/>
                      </a:pPr>
                      <a:r>
                        <a:rPr lang="en-US" altLang="en-US"/>
                        <a:t>AI generated metadata (e.g., AI_Parsed_Recurrence,</a:t>
                      </a:r>
                      <a:endParaRPr lang="en-US" altLang="en-US"/>
                    </a:p>
                    <a:p>
                      <a:pPr algn="just">
                        <a:buNone/>
                      </a:pPr>
                      <a:r>
                        <a:rPr lang="en-US" altLang="en-US"/>
                        <a:t>NLP_Confidence_Score)</a:t>
                      </a:r>
                      <a:endParaRPr lang="en-US"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right)">
                                      <p:cBhvr>
                                        <p:cTn id="7" dur="7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55"/>
          <p:cNvPicPr>
            <a:picLocks noChangeAspect="1"/>
          </p:cNvPicPr>
          <p:nvPr/>
        </p:nvPicPr>
        <p:blipFill>
          <a:blip r:embed="rId1">
            <a:alphaModFix amt="40000"/>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3660209" y="190771"/>
            <a:ext cx="8532090" cy="7144653"/>
          </a:xfrm>
          <a:prstGeom prst="rect">
            <a:avLst/>
          </a:prstGeom>
        </p:spPr>
      </p:pic>
      <p:pic>
        <p:nvPicPr>
          <p:cNvPr id="2" name="Picture 1"/>
          <p:cNvPicPr/>
          <p:nvPr/>
        </p:nvPicPr>
        <p:blipFill>
          <a:blip r:embed="rId2"/>
          <a:stretch>
            <a:fillRect/>
          </a:stretch>
        </p:blipFill>
        <p:spPr>
          <a:xfrm>
            <a:off x="65405" y="189865"/>
            <a:ext cx="12134215" cy="66681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p:nvPr/>
        </p:nvPicPr>
        <p:blipFill>
          <a:blip r:embed="rId1"/>
          <a:stretch>
            <a:fillRect/>
          </a:stretch>
        </p:blipFill>
        <p:spPr>
          <a:xfrm>
            <a:off x="0" y="0"/>
            <a:ext cx="1219263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4583959" y="840316"/>
            <a:ext cx="3024083" cy="521970"/>
          </a:xfrm>
          <a:prstGeom prst="rect">
            <a:avLst/>
          </a:prstGeom>
          <a:noFill/>
        </p:spPr>
        <p:txBody>
          <a:bodyPr wrap="square" rtlCol="0">
            <a:spAutoFit/>
          </a:bodyPr>
          <a:lstStyle/>
          <a:p>
            <a:pPr algn="ctr" defTabSz="1219200"/>
            <a:r>
              <a:rPr lang="en-US" altLang="zh-CN" sz="2800" b="1">
                <a:solidFill>
                  <a:prstClr val="black"/>
                </a:solidFill>
                <a:latin typeface="Times New Roman" panose="02020603050405020304" charset="0"/>
                <a:cs typeface="Times New Roman" panose="02020603050405020304" charset="0"/>
                <a:sym typeface="+mn-lt"/>
              </a:rPr>
              <a:t>Methodology</a:t>
            </a:r>
            <a:endParaRPr lang="en-US" altLang="zh-CN" sz="2800" b="1">
              <a:solidFill>
                <a:prstClr val="black"/>
              </a:solidFill>
              <a:latin typeface="Times New Roman" panose="02020603050405020304" charset="0"/>
              <a:cs typeface="Times New Roman" panose="02020603050405020304" charset="0"/>
              <a:sym typeface="+mn-lt"/>
            </a:endParaRPr>
          </a:p>
        </p:txBody>
      </p:sp>
      <p:sp>
        <p:nvSpPr>
          <p:cNvPr id="45" name="Rounded Rectangle 11"/>
          <p:cNvSpPr/>
          <p:nvPr>
            <p:custDataLst>
              <p:tags r:id="rId1"/>
            </p:custDataLst>
          </p:nvPr>
        </p:nvSpPr>
        <p:spPr>
          <a:xfrm>
            <a:off x="8011252" y="2860363"/>
            <a:ext cx="611472" cy="590960"/>
          </a:xfrm>
          <a:prstGeom prst="roundRect">
            <a:avLst>
              <a:gd name="adj" fmla="val 11445"/>
            </a:avLst>
          </a:prstGeom>
          <a:solidFill>
            <a:srgbClr val="525252"/>
          </a:solidFill>
          <a:ln w="25400" cap="flat" cmpd="sng" algn="ctr">
            <a:noFill/>
            <a:prstDash val="solid"/>
          </a:ln>
          <a:effectLst/>
        </p:spPr>
        <p:txBody>
          <a:bodyPr rtlCol="0" anchor="ctr"/>
          <a:lstStyle/>
          <a:p>
            <a:pPr algn="ctr">
              <a:defRPr/>
            </a:pPr>
            <a:endParaRPr lang="en-US" sz="2135" kern="0">
              <a:solidFill>
                <a:prstClr val="white"/>
              </a:solidFill>
              <a:cs typeface="+mn-ea"/>
              <a:sym typeface="+mn-lt"/>
            </a:endParaRPr>
          </a:p>
        </p:txBody>
      </p:sp>
      <p:grpSp>
        <p:nvGrpSpPr>
          <p:cNvPr id="82" name="Group 23"/>
          <p:cNvGrpSpPr/>
          <p:nvPr>
            <p:custDataLst>
              <p:tags r:id="rId2"/>
            </p:custDataLst>
          </p:nvPr>
        </p:nvGrpSpPr>
        <p:grpSpPr>
          <a:xfrm>
            <a:off x="8117030" y="2959129"/>
            <a:ext cx="399239" cy="406324"/>
            <a:chOff x="1979613" y="3067051"/>
            <a:chExt cx="231775" cy="230188"/>
          </a:xfrm>
          <a:solidFill>
            <a:sysClr val="window" lastClr="FFFFFF"/>
          </a:solidFill>
        </p:grpSpPr>
        <p:sp>
          <p:nvSpPr>
            <p:cNvPr id="83" name="Freeform 38"/>
            <p:cNvSpPr>
              <a:spLocks noEditPoints="1"/>
            </p:cNvSpPr>
            <p:nvPr>
              <p:custDataLst>
                <p:tags r:id="rId3"/>
              </p:custDataLst>
            </p:nvPr>
          </p:nvSpPr>
          <p:spPr bwMode="auto">
            <a:xfrm>
              <a:off x="1979613" y="3067051"/>
              <a:ext cx="231775" cy="230188"/>
            </a:xfrm>
            <a:custGeom>
              <a:avLst/>
              <a:gdLst>
                <a:gd name="T0" fmla="*/ 61 w 122"/>
                <a:gd name="T1" fmla="*/ 0 h 122"/>
                <a:gd name="T2" fmla="*/ 0 w 122"/>
                <a:gd name="T3" fmla="*/ 61 h 122"/>
                <a:gd name="T4" fmla="*/ 61 w 122"/>
                <a:gd name="T5" fmla="*/ 122 h 122"/>
                <a:gd name="T6" fmla="*/ 122 w 122"/>
                <a:gd name="T7" fmla="*/ 61 h 122"/>
                <a:gd name="T8" fmla="*/ 61 w 122"/>
                <a:gd name="T9" fmla="*/ 0 h 122"/>
                <a:gd name="T10" fmla="*/ 64 w 122"/>
                <a:gd name="T11" fmla="*/ 109 h 122"/>
                <a:gd name="T12" fmla="*/ 64 w 122"/>
                <a:gd name="T13" fmla="*/ 102 h 122"/>
                <a:gd name="T14" fmla="*/ 57 w 122"/>
                <a:gd name="T15" fmla="*/ 102 h 122"/>
                <a:gd name="T16" fmla="*/ 57 w 122"/>
                <a:gd name="T17" fmla="*/ 109 h 122"/>
                <a:gd name="T18" fmla="*/ 29 w 122"/>
                <a:gd name="T19" fmla="*/ 97 h 122"/>
                <a:gd name="T20" fmla="*/ 28 w 122"/>
                <a:gd name="T21" fmla="*/ 97 h 122"/>
                <a:gd name="T22" fmla="*/ 27 w 122"/>
                <a:gd name="T23" fmla="*/ 95 h 122"/>
                <a:gd name="T24" fmla="*/ 25 w 122"/>
                <a:gd name="T25" fmla="*/ 93 h 122"/>
                <a:gd name="T26" fmla="*/ 24 w 122"/>
                <a:gd name="T27" fmla="*/ 93 h 122"/>
                <a:gd name="T28" fmla="*/ 13 w 122"/>
                <a:gd name="T29" fmla="*/ 65 h 122"/>
                <a:gd name="T30" fmla="*/ 20 w 122"/>
                <a:gd name="T31" fmla="*/ 65 h 122"/>
                <a:gd name="T32" fmla="*/ 20 w 122"/>
                <a:gd name="T33" fmla="*/ 58 h 122"/>
                <a:gd name="T34" fmla="*/ 13 w 122"/>
                <a:gd name="T35" fmla="*/ 58 h 122"/>
                <a:gd name="T36" fmla="*/ 57 w 122"/>
                <a:gd name="T37" fmla="*/ 13 h 122"/>
                <a:gd name="T38" fmla="*/ 57 w 122"/>
                <a:gd name="T39" fmla="*/ 20 h 122"/>
                <a:gd name="T40" fmla="*/ 64 w 122"/>
                <a:gd name="T41" fmla="*/ 20 h 122"/>
                <a:gd name="T42" fmla="*/ 64 w 122"/>
                <a:gd name="T43" fmla="*/ 13 h 122"/>
                <a:gd name="T44" fmla="*/ 83 w 122"/>
                <a:gd name="T45" fmla="*/ 18 h 122"/>
                <a:gd name="T46" fmla="*/ 83 w 122"/>
                <a:gd name="T47" fmla="*/ 19 h 122"/>
                <a:gd name="T48" fmla="*/ 86 w 122"/>
                <a:gd name="T49" fmla="*/ 21 h 122"/>
                <a:gd name="T50" fmla="*/ 87 w 122"/>
                <a:gd name="T51" fmla="*/ 21 h 122"/>
                <a:gd name="T52" fmla="*/ 90 w 122"/>
                <a:gd name="T53" fmla="*/ 23 h 122"/>
                <a:gd name="T54" fmla="*/ 91 w 122"/>
                <a:gd name="T55" fmla="*/ 24 h 122"/>
                <a:gd name="T56" fmla="*/ 93 w 122"/>
                <a:gd name="T57" fmla="*/ 26 h 122"/>
                <a:gd name="T58" fmla="*/ 94 w 122"/>
                <a:gd name="T59" fmla="*/ 27 h 122"/>
                <a:gd name="T60" fmla="*/ 96 w 122"/>
                <a:gd name="T61" fmla="*/ 29 h 122"/>
                <a:gd name="T62" fmla="*/ 98 w 122"/>
                <a:gd name="T63" fmla="*/ 31 h 122"/>
                <a:gd name="T64" fmla="*/ 99 w 122"/>
                <a:gd name="T65" fmla="*/ 32 h 122"/>
                <a:gd name="T66" fmla="*/ 101 w 122"/>
                <a:gd name="T67" fmla="*/ 35 h 122"/>
                <a:gd name="T68" fmla="*/ 101 w 122"/>
                <a:gd name="T69" fmla="*/ 36 h 122"/>
                <a:gd name="T70" fmla="*/ 103 w 122"/>
                <a:gd name="T71" fmla="*/ 39 h 122"/>
                <a:gd name="T72" fmla="*/ 103 w 122"/>
                <a:gd name="T73" fmla="*/ 39 h 122"/>
                <a:gd name="T74" fmla="*/ 108 w 122"/>
                <a:gd name="T75" fmla="*/ 58 h 122"/>
                <a:gd name="T76" fmla="*/ 102 w 122"/>
                <a:gd name="T77" fmla="*/ 58 h 122"/>
                <a:gd name="T78" fmla="*/ 102 w 122"/>
                <a:gd name="T79" fmla="*/ 65 h 122"/>
                <a:gd name="T80" fmla="*/ 108 w 122"/>
                <a:gd name="T81" fmla="*/ 65 h 122"/>
                <a:gd name="T82" fmla="*/ 64 w 122"/>
                <a:gd name="T83" fmla="*/ 109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2" h="122">
                  <a:moveTo>
                    <a:pt x="61" y="0"/>
                  </a:moveTo>
                  <a:cubicBezTo>
                    <a:pt x="27" y="0"/>
                    <a:pt x="0" y="27"/>
                    <a:pt x="0" y="61"/>
                  </a:cubicBezTo>
                  <a:cubicBezTo>
                    <a:pt x="0" y="95"/>
                    <a:pt x="27" y="122"/>
                    <a:pt x="61" y="122"/>
                  </a:cubicBezTo>
                  <a:cubicBezTo>
                    <a:pt x="94" y="122"/>
                    <a:pt x="122" y="95"/>
                    <a:pt x="122" y="61"/>
                  </a:cubicBezTo>
                  <a:cubicBezTo>
                    <a:pt x="122" y="27"/>
                    <a:pt x="94" y="0"/>
                    <a:pt x="61" y="0"/>
                  </a:cubicBezTo>
                  <a:close/>
                  <a:moveTo>
                    <a:pt x="64" y="109"/>
                  </a:moveTo>
                  <a:cubicBezTo>
                    <a:pt x="64" y="102"/>
                    <a:pt x="64" y="102"/>
                    <a:pt x="64" y="102"/>
                  </a:cubicBezTo>
                  <a:cubicBezTo>
                    <a:pt x="57" y="102"/>
                    <a:pt x="57" y="102"/>
                    <a:pt x="57" y="102"/>
                  </a:cubicBezTo>
                  <a:cubicBezTo>
                    <a:pt x="57" y="109"/>
                    <a:pt x="57" y="109"/>
                    <a:pt x="57" y="109"/>
                  </a:cubicBezTo>
                  <a:cubicBezTo>
                    <a:pt x="46" y="108"/>
                    <a:pt x="37" y="104"/>
                    <a:pt x="29" y="97"/>
                  </a:cubicBezTo>
                  <a:cubicBezTo>
                    <a:pt x="29" y="97"/>
                    <a:pt x="29" y="97"/>
                    <a:pt x="28" y="97"/>
                  </a:cubicBezTo>
                  <a:cubicBezTo>
                    <a:pt x="28" y="96"/>
                    <a:pt x="27" y="96"/>
                    <a:pt x="27" y="95"/>
                  </a:cubicBezTo>
                  <a:cubicBezTo>
                    <a:pt x="26" y="95"/>
                    <a:pt x="25" y="94"/>
                    <a:pt x="25" y="93"/>
                  </a:cubicBezTo>
                  <a:cubicBezTo>
                    <a:pt x="25" y="93"/>
                    <a:pt x="25" y="93"/>
                    <a:pt x="24" y="93"/>
                  </a:cubicBezTo>
                  <a:cubicBezTo>
                    <a:pt x="18" y="85"/>
                    <a:pt x="13" y="75"/>
                    <a:pt x="13" y="65"/>
                  </a:cubicBezTo>
                  <a:cubicBezTo>
                    <a:pt x="20" y="65"/>
                    <a:pt x="20" y="65"/>
                    <a:pt x="20" y="65"/>
                  </a:cubicBezTo>
                  <a:cubicBezTo>
                    <a:pt x="20" y="58"/>
                    <a:pt x="20" y="58"/>
                    <a:pt x="20" y="58"/>
                  </a:cubicBezTo>
                  <a:cubicBezTo>
                    <a:pt x="13" y="58"/>
                    <a:pt x="13" y="58"/>
                    <a:pt x="13" y="58"/>
                  </a:cubicBezTo>
                  <a:cubicBezTo>
                    <a:pt x="15" y="34"/>
                    <a:pt x="33" y="15"/>
                    <a:pt x="57" y="13"/>
                  </a:cubicBezTo>
                  <a:cubicBezTo>
                    <a:pt x="57" y="20"/>
                    <a:pt x="57" y="20"/>
                    <a:pt x="57" y="20"/>
                  </a:cubicBezTo>
                  <a:cubicBezTo>
                    <a:pt x="64" y="20"/>
                    <a:pt x="64" y="20"/>
                    <a:pt x="64" y="20"/>
                  </a:cubicBezTo>
                  <a:cubicBezTo>
                    <a:pt x="64" y="13"/>
                    <a:pt x="64" y="13"/>
                    <a:pt x="64" y="13"/>
                  </a:cubicBezTo>
                  <a:cubicBezTo>
                    <a:pt x="71" y="14"/>
                    <a:pt x="77" y="16"/>
                    <a:pt x="83" y="18"/>
                  </a:cubicBezTo>
                  <a:cubicBezTo>
                    <a:pt x="83" y="19"/>
                    <a:pt x="83" y="19"/>
                    <a:pt x="83" y="19"/>
                  </a:cubicBezTo>
                  <a:cubicBezTo>
                    <a:pt x="84" y="19"/>
                    <a:pt x="85" y="20"/>
                    <a:pt x="86" y="21"/>
                  </a:cubicBezTo>
                  <a:cubicBezTo>
                    <a:pt x="87" y="21"/>
                    <a:pt x="87" y="21"/>
                    <a:pt x="87" y="21"/>
                  </a:cubicBezTo>
                  <a:cubicBezTo>
                    <a:pt x="88" y="22"/>
                    <a:pt x="89" y="22"/>
                    <a:pt x="90" y="23"/>
                  </a:cubicBezTo>
                  <a:cubicBezTo>
                    <a:pt x="90" y="23"/>
                    <a:pt x="91" y="24"/>
                    <a:pt x="91" y="24"/>
                  </a:cubicBezTo>
                  <a:cubicBezTo>
                    <a:pt x="92" y="25"/>
                    <a:pt x="92" y="25"/>
                    <a:pt x="93" y="26"/>
                  </a:cubicBezTo>
                  <a:cubicBezTo>
                    <a:pt x="94" y="26"/>
                    <a:pt x="94" y="27"/>
                    <a:pt x="94" y="27"/>
                  </a:cubicBezTo>
                  <a:cubicBezTo>
                    <a:pt x="95" y="28"/>
                    <a:pt x="96" y="28"/>
                    <a:pt x="96" y="29"/>
                  </a:cubicBezTo>
                  <a:cubicBezTo>
                    <a:pt x="97" y="29"/>
                    <a:pt x="97" y="30"/>
                    <a:pt x="98" y="31"/>
                  </a:cubicBezTo>
                  <a:cubicBezTo>
                    <a:pt x="98" y="31"/>
                    <a:pt x="98" y="32"/>
                    <a:pt x="99" y="32"/>
                  </a:cubicBezTo>
                  <a:cubicBezTo>
                    <a:pt x="99" y="33"/>
                    <a:pt x="100" y="34"/>
                    <a:pt x="101" y="35"/>
                  </a:cubicBezTo>
                  <a:cubicBezTo>
                    <a:pt x="101" y="35"/>
                    <a:pt x="101" y="35"/>
                    <a:pt x="101" y="36"/>
                  </a:cubicBezTo>
                  <a:cubicBezTo>
                    <a:pt x="102" y="37"/>
                    <a:pt x="103" y="38"/>
                    <a:pt x="103" y="39"/>
                  </a:cubicBezTo>
                  <a:cubicBezTo>
                    <a:pt x="103" y="39"/>
                    <a:pt x="103" y="39"/>
                    <a:pt x="103" y="39"/>
                  </a:cubicBezTo>
                  <a:cubicBezTo>
                    <a:pt x="106" y="45"/>
                    <a:pt x="108" y="51"/>
                    <a:pt x="108" y="58"/>
                  </a:cubicBezTo>
                  <a:cubicBezTo>
                    <a:pt x="102" y="58"/>
                    <a:pt x="102" y="58"/>
                    <a:pt x="102" y="58"/>
                  </a:cubicBezTo>
                  <a:cubicBezTo>
                    <a:pt x="102" y="65"/>
                    <a:pt x="102" y="65"/>
                    <a:pt x="102" y="65"/>
                  </a:cubicBezTo>
                  <a:cubicBezTo>
                    <a:pt x="108" y="65"/>
                    <a:pt x="108" y="65"/>
                    <a:pt x="108" y="65"/>
                  </a:cubicBezTo>
                  <a:cubicBezTo>
                    <a:pt x="107" y="88"/>
                    <a:pt x="88" y="107"/>
                    <a:pt x="64"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defRPr/>
              </a:pPr>
              <a:endParaRPr lang="en-US" sz="2135" kern="0">
                <a:solidFill>
                  <a:sysClr val="windowText" lastClr="000000"/>
                </a:solidFill>
                <a:cs typeface="+mn-ea"/>
                <a:sym typeface="+mn-lt"/>
              </a:endParaRPr>
            </a:p>
          </p:txBody>
        </p:sp>
        <p:sp>
          <p:nvSpPr>
            <p:cNvPr id="84" name="Freeform 39"/>
            <p:cNvSpPr>
              <a:spLocks noEditPoints="1"/>
            </p:cNvSpPr>
            <p:nvPr>
              <p:custDataLst>
                <p:tags r:id="rId4"/>
              </p:custDataLst>
            </p:nvPr>
          </p:nvSpPr>
          <p:spPr bwMode="auto">
            <a:xfrm>
              <a:off x="2063750" y="3125788"/>
              <a:ext cx="69850" cy="98425"/>
            </a:xfrm>
            <a:custGeom>
              <a:avLst/>
              <a:gdLst>
                <a:gd name="T0" fmla="*/ 9 w 36"/>
                <a:gd name="T1" fmla="*/ 29 h 52"/>
                <a:gd name="T2" fmla="*/ 9 w 36"/>
                <a:gd name="T3" fmla="*/ 29 h 52"/>
                <a:gd name="T4" fmla="*/ 0 w 36"/>
                <a:gd name="T5" fmla="*/ 52 h 52"/>
                <a:gd name="T6" fmla="*/ 20 w 36"/>
                <a:gd name="T7" fmla="*/ 36 h 52"/>
                <a:gd name="T8" fmla="*/ 20 w 36"/>
                <a:gd name="T9" fmla="*/ 36 h 52"/>
                <a:gd name="T10" fmla="*/ 22 w 36"/>
                <a:gd name="T11" fmla="*/ 32 h 52"/>
                <a:gd name="T12" fmla="*/ 36 w 36"/>
                <a:gd name="T13" fmla="*/ 0 h 52"/>
                <a:gd name="T14" fmla="*/ 11 w 36"/>
                <a:gd name="T15" fmla="*/ 25 h 52"/>
                <a:gd name="T16" fmla="*/ 9 w 36"/>
                <a:gd name="T17" fmla="*/ 29 h 52"/>
                <a:gd name="T18" fmla="*/ 16 w 36"/>
                <a:gd name="T19" fmla="*/ 27 h 52"/>
                <a:gd name="T20" fmla="*/ 19 w 36"/>
                <a:gd name="T21" fmla="*/ 30 h 52"/>
                <a:gd name="T22" fmla="*/ 16 w 36"/>
                <a:gd name="T23" fmla="*/ 33 h 52"/>
                <a:gd name="T24" fmla="*/ 13 w 36"/>
                <a:gd name="T25" fmla="*/ 30 h 52"/>
                <a:gd name="T26" fmla="*/ 16 w 36"/>
                <a:gd name="T2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52">
                  <a:moveTo>
                    <a:pt x="9" y="29"/>
                  </a:moveTo>
                  <a:cubicBezTo>
                    <a:pt x="9" y="29"/>
                    <a:pt x="9" y="29"/>
                    <a:pt x="9" y="29"/>
                  </a:cubicBezTo>
                  <a:cubicBezTo>
                    <a:pt x="0" y="52"/>
                    <a:pt x="0" y="52"/>
                    <a:pt x="0" y="52"/>
                  </a:cubicBezTo>
                  <a:cubicBezTo>
                    <a:pt x="20" y="36"/>
                    <a:pt x="20" y="36"/>
                    <a:pt x="20" y="36"/>
                  </a:cubicBezTo>
                  <a:cubicBezTo>
                    <a:pt x="20" y="36"/>
                    <a:pt x="20" y="36"/>
                    <a:pt x="20" y="36"/>
                  </a:cubicBezTo>
                  <a:cubicBezTo>
                    <a:pt x="22" y="35"/>
                    <a:pt x="22" y="33"/>
                    <a:pt x="22" y="32"/>
                  </a:cubicBezTo>
                  <a:cubicBezTo>
                    <a:pt x="36" y="0"/>
                    <a:pt x="36" y="0"/>
                    <a:pt x="36" y="0"/>
                  </a:cubicBezTo>
                  <a:cubicBezTo>
                    <a:pt x="11" y="25"/>
                    <a:pt x="11" y="25"/>
                    <a:pt x="11" y="25"/>
                  </a:cubicBezTo>
                  <a:cubicBezTo>
                    <a:pt x="10" y="26"/>
                    <a:pt x="9" y="27"/>
                    <a:pt x="9" y="29"/>
                  </a:cubicBezTo>
                  <a:close/>
                  <a:moveTo>
                    <a:pt x="16" y="27"/>
                  </a:moveTo>
                  <a:cubicBezTo>
                    <a:pt x="17" y="27"/>
                    <a:pt x="19" y="28"/>
                    <a:pt x="19" y="30"/>
                  </a:cubicBezTo>
                  <a:cubicBezTo>
                    <a:pt x="19" y="32"/>
                    <a:pt x="17" y="33"/>
                    <a:pt x="16" y="33"/>
                  </a:cubicBezTo>
                  <a:cubicBezTo>
                    <a:pt x="14" y="33"/>
                    <a:pt x="13" y="32"/>
                    <a:pt x="13" y="30"/>
                  </a:cubicBezTo>
                  <a:cubicBezTo>
                    <a:pt x="13" y="28"/>
                    <a:pt x="14" y="27"/>
                    <a:pt x="16"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defRPr/>
              </a:pPr>
              <a:endParaRPr lang="en-US" sz="2135" kern="0">
                <a:solidFill>
                  <a:sysClr val="windowText" lastClr="000000"/>
                </a:solidFill>
                <a:cs typeface="+mn-ea"/>
                <a:sym typeface="+mn-lt"/>
              </a:endParaRPr>
            </a:p>
          </p:txBody>
        </p:sp>
        <p:sp>
          <p:nvSpPr>
            <p:cNvPr id="85" name="Oval 40"/>
            <p:cNvSpPr>
              <a:spLocks noChangeArrowheads="1"/>
            </p:cNvSpPr>
            <p:nvPr>
              <p:custDataLst>
                <p:tags r:id="rId5"/>
              </p:custDataLst>
            </p:nvPr>
          </p:nvSpPr>
          <p:spPr bwMode="auto">
            <a:xfrm>
              <a:off x="2090738" y="3179763"/>
              <a:ext cx="6350" cy="63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defRPr/>
              </a:pPr>
              <a:endParaRPr lang="en-US" sz="2135" kern="0">
                <a:solidFill>
                  <a:sysClr val="windowText" lastClr="000000"/>
                </a:solidFill>
                <a:cs typeface="+mn-ea"/>
                <a:sym typeface="+mn-lt"/>
              </a:endParaRPr>
            </a:p>
          </p:txBody>
        </p:sp>
      </p:grpSp>
      <p:grpSp>
        <p:nvGrpSpPr>
          <p:cNvPr id="87" name="组合 86"/>
          <p:cNvGrpSpPr/>
          <p:nvPr>
            <p:custDataLst>
              <p:tags r:id="rId6"/>
            </p:custDataLst>
          </p:nvPr>
        </p:nvGrpSpPr>
        <p:grpSpPr>
          <a:xfrm>
            <a:off x="8890000" y="2493645"/>
            <a:ext cx="2785745" cy="1674326"/>
            <a:chOff x="4414048" y="3062572"/>
            <a:chExt cx="2025086" cy="855824"/>
          </a:xfrm>
        </p:grpSpPr>
        <p:sp>
          <p:nvSpPr>
            <p:cNvPr id="88" name="文本框 87"/>
            <p:cNvSpPr txBox="1"/>
            <p:nvPr>
              <p:custDataLst>
                <p:tags r:id="rId7"/>
              </p:custDataLst>
            </p:nvPr>
          </p:nvSpPr>
          <p:spPr>
            <a:xfrm>
              <a:off x="4414048" y="3381221"/>
              <a:ext cx="2025086" cy="537175"/>
            </a:xfrm>
            <a:prstGeom prst="rect">
              <a:avLst/>
            </a:prstGeom>
            <a:noFill/>
          </p:spPr>
          <p:txBody>
            <a:bodyPr wrap="square" rtlCol="0">
              <a:spAutoFit/>
            </a:bodyPr>
            <a:lstStyle/>
            <a:p>
              <a:pPr algn="just" fontAlgn="base">
                <a:lnSpc>
                  <a:spcPct val="130000"/>
                </a:lnSpc>
                <a:spcBef>
                  <a:spcPct val="0"/>
                </a:spcBef>
                <a:spcAft>
                  <a:spcPct val="0"/>
                </a:spcAft>
              </a:pPr>
              <a:r>
                <a:rPr lang="en-US" altLang="en-US" sz="1600" dirty="0">
                  <a:solidFill>
                    <a:prstClr val="black">
                      <a:lumMod val="75000"/>
                      <a:lumOff val="25000"/>
                    </a:prstClr>
                  </a:solidFill>
                  <a:cs typeface="+mn-ea"/>
                  <a:sym typeface="+mn-lt"/>
                </a:rPr>
                <a:t> Verification of</a:t>
              </a:r>
              <a:endParaRPr lang="en-US" altLang="en-US" sz="1600" dirty="0">
                <a:solidFill>
                  <a:prstClr val="black">
                    <a:lumMod val="75000"/>
                    <a:lumOff val="25000"/>
                  </a:prstClr>
                </a:solidFill>
                <a:cs typeface="+mn-ea"/>
                <a:sym typeface="+mn-lt"/>
              </a:endParaRPr>
            </a:p>
            <a:p>
              <a:pPr algn="just" fontAlgn="base">
                <a:lnSpc>
                  <a:spcPct val="130000"/>
                </a:lnSpc>
                <a:spcBef>
                  <a:spcPct val="0"/>
                </a:spcBef>
                <a:spcAft>
                  <a:spcPct val="0"/>
                </a:spcAft>
              </a:pPr>
              <a:r>
                <a:rPr lang="en-US" altLang="en-US" sz="1600" dirty="0">
                  <a:solidFill>
                    <a:prstClr val="black">
                      <a:lumMod val="75000"/>
                      <a:lumOff val="25000"/>
                    </a:prstClr>
                  </a:solidFill>
                  <a:cs typeface="+mn-ea"/>
                  <a:sym typeface="+mn-lt"/>
                </a:rPr>
                <a:t>functionality, usability, and</a:t>
              </a:r>
              <a:endParaRPr lang="en-US" altLang="en-US" sz="1600" dirty="0">
                <a:solidFill>
                  <a:prstClr val="black">
                    <a:lumMod val="75000"/>
                    <a:lumOff val="25000"/>
                  </a:prstClr>
                </a:solidFill>
                <a:cs typeface="+mn-ea"/>
                <a:sym typeface="+mn-lt"/>
              </a:endParaRPr>
            </a:p>
            <a:p>
              <a:pPr algn="just" fontAlgn="base">
                <a:lnSpc>
                  <a:spcPct val="130000"/>
                </a:lnSpc>
                <a:spcBef>
                  <a:spcPct val="0"/>
                </a:spcBef>
                <a:spcAft>
                  <a:spcPct val="0"/>
                </a:spcAft>
              </a:pPr>
              <a:r>
                <a:rPr lang="en-US" altLang="en-US" sz="1600" dirty="0">
                  <a:solidFill>
                    <a:prstClr val="black">
                      <a:lumMod val="75000"/>
                      <a:lumOff val="25000"/>
                    </a:prstClr>
                  </a:solidFill>
                  <a:cs typeface="+mn-ea"/>
                  <a:sym typeface="+mn-lt"/>
                </a:rPr>
                <a:t>performance</a:t>
              </a:r>
              <a:endParaRPr lang="en-US" altLang="en-US" sz="1600" dirty="0">
                <a:solidFill>
                  <a:prstClr val="black">
                    <a:lumMod val="75000"/>
                    <a:lumOff val="25000"/>
                  </a:prstClr>
                </a:solidFill>
                <a:cs typeface="+mn-ea"/>
                <a:sym typeface="+mn-lt"/>
              </a:endParaRPr>
            </a:p>
          </p:txBody>
        </p:sp>
        <p:sp>
          <p:nvSpPr>
            <p:cNvPr id="89" name="TextBox 76"/>
            <p:cNvSpPr txBox="1"/>
            <p:nvPr>
              <p:custDataLst>
                <p:tags r:id="rId8"/>
              </p:custDataLst>
            </p:nvPr>
          </p:nvSpPr>
          <p:spPr>
            <a:xfrm>
              <a:off x="4641227" y="3062572"/>
              <a:ext cx="1203526" cy="361872"/>
            </a:xfrm>
            <a:prstGeom prst="rect">
              <a:avLst/>
            </a:prstGeom>
            <a:noFill/>
          </p:spPr>
          <p:txBody>
            <a:bodyPr wrap="square" rtlCol="0">
              <a:noAutofit/>
            </a:bodyPr>
            <a:lstStyle>
              <a:defPPr>
                <a:defRPr lang="zh-CN"/>
              </a:defPPr>
              <a:lvl1pPr algn="ctr">
                <a:defRPr>
                  <a:latin typeface="Microsoft YaHei" panose="020B0503020204020204" charset="-122"/>
                  <a:ea typeface="Microsoft YaHei" panose="020B0503020204020204" charset="-122"/>
                </a:defRPr>
              </a:lvl1pPr>
            </a:lstStyle>
            <a:p>
              <a:pPr algn="r" fontAlgn="base">
                <a:lnSpc>
                  <a:spcPct val="130000"/>
                </a:lnSpc>
                <a:spcBef>
                  <a:spcPct val="0"/>
                </a:spcBef>
                <a:spcAft>
                  <a:spcPct val="0"/>
                </a:spcAft>
              </a:pPr>
              <a:r>
                <a:rPr lang="en-US" altLang="en-US" sz="1400" dirty="0">
                  <a:solidFill>
                    <a:prstClr val="black">
                      <a:lumMod val="75000"/>
                      <a:lumOff val="25000"/>
                    </a:prstClr>
                  </a:solidFill>
                  <a:cs typeface="+mn-ea"/>
                  <a:sym typeface="+mn-lt"/>
                </a:rPr>
                <a:t>Testing &amp;</a:t>
              </a:r>
              <a:endParaRPr lang="en-US" altLang="en-US" sz="1400" dirty="0">
                <a:solidFill>
                  <a:prstClr val="black">
                    <a:lumMod val="75000"/>
                    <a:lumOff val="25000"/>
                  </a:prstClr>
                </a:solidFill>
                <a:cs typeface="+mn-ea"/>
                <a:sym typeface="+mn-lt"/>
              </a:endParaRPr>
            </a:p>
            <a:p>
              <a:pPr algn="r" fontAlgn="base">
                <a:lnSpc>
                  <a:spcPct val="130000"/>
                </a:lnSpc>
                <a:spcBef>
                  <a:spcPct val="0"/>
                </a:spcBef>
                <a:spcAft>
                  <a:spcPct val="0"/>
                </a:spcAft>
              </a:pPr>
              <a:r>
                <a:rPr lang="en-US" altLang="en-US" sz="1400" dirty="0">
                  <a:solidFill>
                    <a:prstClr val="black">
                      <a:lumMod val="75000"/>
                      <a:lumOff val="25000"/>
                    </a:prstClr>
                  </a:solidFill>
                  <a:cs typeface="+mn-ea"/>
                  <a:sym typeface="+mn-lt"/>
                </a:rPr>
                <a:t>Evaluation:</a:t>
              </a:r>
              <a:endParaRPr lang="zh-CN" altLang="en-US" sz="1400" dirty="0">
                <a:solidFill>
                  <a:srgbClr val="000000"/>
                </a:solidFill>
                <a:latin typeface="+mn-lt"/>
                <a:ea typeface="+mn-ea"/>
                <a:cs typeface="+mn-ea"/>
                <a:sym typeface="+mn-lt"/>
              </a:endParaRPr>
            </a:p>
          </p:txBody>
        </p:sp>
      </p:grpSp>
      <p:sp>
        <p:nvSpPr>
          <p:cNvPr id="93" name="Rounded Rectangle 11"/>
          <p:cNvSpPr/>
          <p:nvPr>
            <p:custDataLst>
              <p:tags r:id="rId9"/>
            </p:custDataLst>
          </p:nvPr>
        </p:nvSpPr>
        <p:spPr>
          <a:xfrm>
            <a:off x="3614917" y="2894692"/>
            <a:ext cx="611472" cy="590960"/>
          </a:xfrm>
          <a:prstGeom prst="roundRect">
            <a:avLst>
              <a:gd name="adj" fmla="val 11445"/>
            </a:avLst>
          </a:prstGeom>
          <a:solidFill>
            <a:srgbClr val="525252"/>
          </a:solidFill>
          <a:ln w="25400" cap="flat" cmpd="sng" algn="ctr">
            <a:noFill/>
            <a:prstDash val="solid"/>
          </a:ln>
          <a:effectLst/>
        </p:spPr>
        <p:txBody>
          <a:bodyPr rtlCol="0" anchor="ctr"/>
          <a:lstStyle/>
          <a:p>
            <a:pPr algn="ctr">
              <a:defRPr/>
            </a:pPr>
            <a:endParaRPr lang="en-US" sz="2135" kern="0">
              <a:solidFill>
                <a:prstClr val="white"/>
              </a:solidFill>
              <a:cs typeface="+mn-ea"/>
              <a:sym typeface="+mn-lt"/>
            </a:endParaRPr>
          </a:p>
        </p:txBody>
      </p:sp>
      <p:sp>
        <p:nvSpPr>
          <p:cNvPr id="94" name="Rounded Rectangle 13"/>
          <p:cNvSpPr/>
          <p:nvPr>
            <p:custDataLst>
              <p:tags r:id="rId10"/>
            </p:custDataLst>
          </p:nvPr>
        </p:nvSpPr>
        <p:spPr>
          <a:xfrm>
            <a:off x="8007985" y="5156200"/>
            <a:ext cx="508000" cy="591185"/>
          </a:xfrm>
          <a:prstGeom prst="roundRect">
            <a:avLst>
              <a:gd name="adj" fmla="val 11445"/>
            </a:avLst>
          </a:prstGeom>
          <a:solidFill>
            <a:srgbClr val="525252"/>
          </a:solidFill>
          <a:ln w="25400" cap="flat" cmpd="sng" algn="ctr">
            <a:noFill/>
            <a:prstDash val="solid"/>
          </a:ln>
          <a:effectLst/>
        </p:spPr>
        <p:txBody>
          <a:bodyPr rtlCol="0" anchor="ctr"/>
          <a:lstStyle/>
          <a:p>
            <a:pPr algn="ctr">
              <a:defRPr/>
            </a:pPr>
            <a:endParaRPr lang="en-US" sz="2135" kern="0">
              <a:solidFill>
                <a:prstClr val="white"/>
              </a:solidFill>
              <a:cs typeface="+mn-ea"/>
              <a:sym typeface="+mn-lt"/>
            </a:endParaRPr>
          </a:p>
        </p:txBody>
      </p:sp>
      <p:grpSp>
        <p:nvGrpSpPr>
          <p:cNvPr id="95" name="Group 23"/>
          <p:cNvGrpSpPr/>
          <p:nvPr>
            <p:custDataLst>
              <p:tags r:id="rId11"/>
            </p:custDataLst>
          </p:nvPr>
        </p:nvGrpSpPr>
        <p:grpSpPr>
          <a:xfrm>
            <a:off x="3715693" y="2994093"/>
            <a:ext cx="399239" cy="406324"/>
            <a:chOff x="1979613" y="3067051"/>
            <a:chExt cx="231775" cy="230188"/>
          </a:xfrm>
          <a:solidFill>
            <a:sysClr val="window" lastClr="FFFFFF"/>
          </a:solidFill>
        </p:grpSpPr>
        <p:sp>
          <p:nvSpPr>
            <p:cNvPr id="96" name="Freeform 38"/>
            <p:cNvSpPr>
              <a:spLocks noEditPoints="1"/>
            </p:cNvSpPr>
            <p:nvPr>
              <p:custDataLst>
                <p:tags r:id="rId12"/>
              </p:custDataLst>
            </p:nvPr>
          </p:nvSpPr>
          <p:spPr bwMode="auto">
            <a:xfrm>
              <a:off x="1979613" y="3067051"/>
              <a:ext cx="231775" cy="230188"/>
            </a:xfrm>
            <a:custGeom>
              <a:avLst/>
              <a:gdLst>
                <a:gd name="T0" fmla="*/ 61 w 122"/>
                <a:gd name="T1" fmla="*/ 0 h 122"/>
                <a:gd name="T2" fmla="*/ 0 w 122"/>
                <a:gd name="T3" fmla="*/ 61 h 122"/>
                <a:gd name="T4" fmla="*/ 61 w 122"/>
                <a:gd name="T5" fmla="*/ 122 h 122"/>
                <a:gd name="T6" fmla="*/ 122 w 122"/>
                <a:gd name="T7" fmla="*/ 61 h 122"/>
                <a:gd name="T8" fmla="*/ 61 w 122"/>
                <a:gd name="T9" fmla="*/ 0 h 122"/>
                <a:gd name="T10" fmla="*/ 64 w 122"/>
                <a:gd name="T11" fmla="*/ 109 h 122"/>
                <a:gd name="T12" fmla="*/ 64 w 122"/>
                <a:gd name="T13" fmla="*/ 102 h 122"/>
                <a:gd name="T14" fmla="*/ 57 w 122"/>
                <a:gd name="T15" fmla="*/ 102 h 122"/>
                <a:gd name="T16" fmla="*/ 57 w 122"/>
                <a:gd name="T17" fmla="*/ 109 h 122"/>
                <a:gd name="T18" fmla="*/ 29 w 122"/>
                <a:gd name="T19" fmla="*/ 97 h 122"/>
                <a:gd name="T20" fmla="*/ 28 w 122"/>
                <a:gd name="T21" fmla="*/ 97 h 122"/>
                <a:gd name="T22" fmla="*/ 27 w 122"/>
                <a:gd name="T23" fmla="*/ 95 h 122"/>
                <a:gd name="T24" fmla="*/ 25 w 122"/>
                <a:gd name="T25" fmla="*/ 93 h 122"/>
                <a:gd name="T26" fmla="*/ 24 w 122"/>
                <a:gd name="T27" fmla="*/ 93 h 122"/>
                <a:gd name="T28" fmla="*/ 13 w 122"/>
                <a:gd name="T29" fmla="*/ 65 h 122"/>
                <a:gd name="T30" fmla="*/ 20 w 122"/>
                <a:gd name="T31" fmla="*/ 65 h 122"/>
                <a:gd name="T32" fmla="*/ 20 w 122"/>
                <a:gd name="T33" fmla="*/ 58 h 122"/>
                <a:gd name="T34" fmla="*/ 13 w 122"/>
                <a:gd name="T35" fmla="*/ 58 h 122"/>
                <a:gd name="T36" fmla="*/ 57 w 122"/>
                <a:gd name="T37" fmla="*/ 13 h 122"/>
                <a:gd name="T38" fmla="*/ 57 w 122"/>
                <a:gd name="T39" fmla="*/ 20 h 122"/>
                <a:gd name="T40" fmla="*/ 64 w 122"/>
                <a:gd name="T41" fmla="*/ 20 h 122"/>
                <a:gd name="T42" fmla="*/ 64 w 122"/>
                <a:gd name="T43" fmla="*/ 13 h 122"/>
                <a:gd name="T44" fmla="*/ 83 w 122"/>
                <a:gd name="T45" fmla="*/ 18 h 122"/>
                <a:gd name="T46" fmla="*/ 83 w 122"/>
                <a:gd name="T47" fmla="*/ 19 h 122"/>
                <a:gd name="T48" fmla="*/ 86 w 122"/>
                <a:gd name="T49" fmla="*/ 21 h 122"/>
                <a:gd name="T50" fmla="*/ 87 w 122"/>
                <a:gd name="T51" fmla="*/ 21 h 122"/>
                <a:gd name="T52" fmla="*/ 90 w 122"/>
                <a:gd name="T53" fmla="*/ 23 h 122"/>
                <a:gd name="T54" fmla="*/ 91 w 122"/>
                <a:gd name="T55" fmla="*/ 24 h 122"/>
                <a:gd name="T56" fmla="*/ 93 w 122"/>
                <a:gd name="T57" fmla="*/ 26 h 122"/>
                <a:gd name="T58" fmla="*/ 94 w 122"/>
                <a:gd name="T59" fmla="*/ 27 h 122"/>
                <a:gd name="T60" fmla="*/ 96 w 122"/>
                <a:gd name="T61" fmla="*/ 29 h 122"/>
                <a:gd name="T62" fmla="*/ 98 w 122"/>
                <a:gd name="T63" fmla="*/ 31 h 122"/>
                <a:gd name="T64" fmla="*/ 99 w 122"/>
                <a:gd name="T65" fmla="*/ 32 h 122"/>
                <a:gd name="T66" fmla="*/ 101 w 122"/>
                <a:gd name="T67" fmla="*/ 35 h 122"/>
                <a:gd name="T68" fmla="*/ 101 w 122"/>
                <a:gd name="T69" fmla="*/ 36 h 122"/>
                <a:gd name="T70" fmla="*/ 103 w 122"/>
                <a:gd name="T71" fmla="*/ 39 h 122"/>
                <a:gd name="T72" fmla="*/ 103 w 122"/>
                <a:gd name="T73" fmla="*/ 39 h 122"/>
                <a:gd name="T74" fmla="*/ 108 w 122"/>
                <a:gd name="T75" fmla="*/ 58 h 122"/>
                <a:gd name="T76" fmla="*/ 102 w 122"/>
                <a:gd name="T77" fmla="*/ 58 h 122"/>
                <a:gd name="T78" fmla="*/ 102 w 122"/>
                <a:gd name="T79" fmla="*/ 65 h 122"/>
                <a:gd name="T80" fmla="*/ 108 w 122"/>
                <a:gd name="T81" fmla="*/ 65 h 122"/>
                <a:gd name="T82" fmla="*/ 64 w 122"/>
                <a:gd name="T83" fmla="*/ 109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2" h="122">
                  <a:moveTo>
                    <a:pt x="61" y="0"/>
                  </a:moveTo>
                  <a:cubicBezTo>
                    <a:pt x="27" y="0"/>
                    <a:pt x="0" y="27"/>
                    <a:pt x="0" y="61"/>
                  </a:cubicBezTo>
                  <a:cubicBezTo>
                    <a:pt x="0" y="95"/>
                    <a:pt x="27" y="122"/>
                    <a:pt x="61" y="122"/>
                  </a:cubicBezTo>
                  <a:cubicBezTo>
                    <a:pt x="94" y="122"/>
                    <a:pt x="122" y="95"/>
                    <a:pt x="122" y="61"/>
                  </a:cubicBezTo>
                  <a:cubicBezTo>
                    <a:pt x="122" y="27"/>
                    <a:pt x="94" y="0"/>
                    <a:pt x="61" y="0"/>
                  </a:cubicBezTo>
                  <a:close/>
                  <a:moveTo>
                    <a:pt x="64" y="109"/>
                  </a:moveTo>
                  <a:cubicBezTo>
                    <a:pt x="64" y="102"/>
                    <a:pt x="64" y="102"/>
                    <a:pt x="64" y="102"/>
                  </a:cubicBezTo>
                  <a:cubicBezTo>
                    <a:pt x="57" y="102"/>
                    <a:pt x="57" y="102"/>
                    <a:pt x="57" y="102"/>
                  </a:cubicBezTo>
                  <a:cubicBezTo>
                    <a:pt x="57" y="109"/>
                    <a:pt x="57" y="109"/>
                    <a:pt x="57" y="109"/>
                  </a:cubicBezTo>
                  <a:cubicBezTo>
                    <a:pt x="46" y="108"/>
                    <a:pt x="37" y="104"/>
                    <a:pt x="29" y="97"/>
                  </a:cubicBezTo>
                  <a:cubicBezTo>
                    <a:pt x="29" y="97"/>
                    <a:pt x="29" y="97"/>
                    <a:pt x="28" y="97"/>
                  </a:cubicBezTo>
                  <a:cubicBezTo>
                    <a:pt x="28" y="96"/>
                    <a:pt x="27" y="96"/>
                    <a:pt x="27" y="95"/>
                  </a:cubicBezTo>
                  <a:cubicBezTo>
                    <a:pt x="26" y="95"/>
                    <a:pt x="25" y="94"/>
                    <a:pt x="25" y="93"/>
                  </a:cubicBezTo>
                  <a:cubicBezTo>
                    <a:pt x="25" y="93"/>
                    <a:pt x="25" y="93"/>
                    <a:pt x="24" y="93"/>
                  </a:cubicBezTo>
                  <a:cubicBezTo>
                    <a:pt x="18" y="85"/>
                    <a:pt x="13" y="75"/>
                    <a:pt x="13" y="65"/>
                  </a:cubicBezTo>
                  <a:cubicBezTo>
                    <a:pt x="20" y="65"/>
                    <a:pt x="20" y="65"/>
                    <a:pt x="20" y="65"/>
                  </a:cubicBezTo>
                  <a:cubicBezTo>
                    <a:pt x="20" y="58"/>
                    <a:pt x="20" y="58"/>
                    <a:pt x="20" y="58"/>
                  </a:cubicBezTo>
                  <a:cubicBezTo>
                    <a:pt x="13" y="58"/>
                    <a:pt x="13" y="58"/>
                    <a:pt x="13" y="58"/>
                  </a:cubicBezTo>
                  <a:cubicBezTo>
                    <a:pt x="15" y="34"/>
                    <a:pt x="33" y="15"/>
                    <a:pt x="57" y="13"/>
                  </a:cubicBezTo>
                  <a:cubicBezTo>
                    <a:pt x="57" y="20"/>
                    <a:pt x="57" y="20"/>
                    <a:pt x="57" y="20"/>
                  </a:cubicBezTo>
                  <a:cubicBezTo>
                    <a:pt x="64" y="20"/>
                    <a:pt x="64" y="20"/>
                    <a:pt x="64" y="20"/>
                  </a:cubicBezTo>
                  <a:cubicBezTo>
                    <a:pt x="64" y="13"/>
                    <a:pt x="64" y="13"/>
                    <a:pt x="64" y="13"/>
                  </a:cubicBezTo>
                  <a:cubicBezTo>
                    <a:pt x="71" y="14"/>
                    <a:pt x="77" y="16"/>
                    <a:pt x="83" y="18"/>
                  </a:cubicBezTo>
                  <a:cubicBezTo>
                    <a:pt x="83" y="19"/>
                    <a:pt x="83" y="19"/>
                    <a:pt x="83" y="19"/>
                  </a:cubicBezTo>
                  <a:cubicBezTo>
                    <a:pt x="84" y="19"/>
                    <a:pt x="85" y="20"/>
                    <a:pt x="86" y="21"/>
                  </a:cubicBezTo>
                  <a:cubicBezTo>
                    <a:pt x="87" y="21"/>
                    <a:pt x="87" y="21"/>
                    <a:pt x="87" y="21"/>
                  </a:cubicBezTo>
                  <a:cubicBezTo>
                    <a:pt x="88" y="22"/>
                    <a:pt x="89" y="22"/>
                    <a:pt x="90" y="23"/>
                  </a:cubicBezTo>
                  <a:cubicBezTo>
                    <a:pt x="90" y="23"/>
                    <a:pt x="91" y="24"/>
                    <a:pt x="91" y="24"/>
                  </a:cubicBezTo>
                  <a:cubicBezTo>
                    <a:pt x="92" y="25"/>
                    <a:pt x="92" y="25"/>
                    <a:pt x="93" y="26"/>
                  </a:cubicBezTo>
                  <a:cubicBezTo>
                    <a:pt x="94" y="26"/>
                    <a:pt x="94" y="27"/>
                    <a:pt x="94" y="27"/>
                  </a:cubicBezTo>
                  <a:cubicBezTo>
                    <a:pt x="95" y="28"/>
                    <a:pt x="96" y="28"/>
                    <a:pt x="96" y="29"/>
                  </a:cubicBezTo>
                  <a:cubicBezTo>
                    <a:pt x="97" y="29"/>
                    <a:pt x="97" y="30"/>
                    <a:pt x="98" y="31"/>
                  </a:cubicBezTo>
                  <a:cubicBezTo>
                    <a:pt x="98" y="31"/>
                    <a:pt x="98" y="32"/>
                    <a:pt x="99" y="32"/>
                  </a:cubicBezTo>
                  <a:cubicBezTo>
                    <a:pt x="99" y="33"/>
                    <a:pt x="100" y="34"/>
                    <a:pt x="101" y="35"/>
                  </a:cubicBezTo>
                  <a:cubicBezTo>
                    <a:pt x="101" y="35"/>
                    <a:pt x="101" y="35"/>
                    <a:pt x="101" y="36"/>
                  </a:cubicBezTo>
                  <a:cubicBezTo>
                    <a:pt x="102" y="37"/>
                    <a:pt x="103" y="38"/>
                    <a:pt x="103" y="39"/>
                  </a:cubicBezTo>
                  <a:cubicBezTo>
                    <a:pt x="103" y="39"/>
                    <a:pt x="103" y="39"/>
                    <a:pt x="103" y="39"/>
                  </a:cubicBezTo>
                  <a:cubicBezTo>
                    <a:pt x="106" y="45"/>
                    <a:pt x="108" y="51"/>
                    <a:pt x="108" y="58"/>
                  </a:cubicBezTo>
                  <a:cubicBezTo>
                    <a:pt x="102" y="58"/>
                    <a:pt x="102" y="58"/>
                    <a:pt x="102" y="58"/>
                  </a:cubicBezTo>
                  <a:cubicBezTo>
                    <a:pt x="102" y="65"/>
                    <a:pt x="102" y="65"/>
                    <a:pt x="102" y="65"/>
                  </a:cubicBezTo>
                  <a:cubicBezTo>
                    <a:pt x="108" y="65"/>
                    <a:pt x="108" y="65"/>
                    <a:pt x="108" y="65"/>
                  </a:cubicBezTo>
                  <a:cubicBezTo>
                    <a:pt x="107" y="88"/>
                    <a:pt x="88" y="107"/>
                    <a:pt x="64"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defRPr/>
              </a:pPr>
              <a:endParaRPr lang="en-US" sz="2135" kern="0">
                <a:solidFill>
                  <a:sysClr val="windowText" lastClr="000000"/>
                </a:solidFill>
                <a:cs typeface="+mn-ea"/>
                <a:sym typeface="+mn-lt"/>
              </a:endParaRPr>
            </a:p>
          </p:txBody>
        </p:sp>
        <p:sp>
          <p:nvSpPr>
            <p:cNvPr id="97" name="Freeform 39"/>
            <p:cNvSpPr>
              <a:spLocks noEditPoints="1"/>
            </p:cNvSpPr>
            <p:nvPr>
              <p:custDataLst>
                <p:tags r:id="rId13"/>
              </p:custDataLst>
            </p:nvPr>
          </p:nvSpPr>
          <p:spPr bwMode="auto">
            <a:xfrm>
              <a:off x="2063750" y="3125788"/>
              <a:ext cx="69850" cy="98425"/>
            </a:xfrm>
            <a:custGeom>
              <a:avLst/>
              <a:gdLst>
                <a:gd name="T0" fmla="*/ 9 w 36"/>
                <a:gd name="T1" fmla="*/ 29 h 52"/>
                <a:gd name="T2" fmla="*/ 9 w 36"/>
                <a:gd name="T3" fmla="*/ 29 h 52"/>
                <a:gd name="T4" fmla="*/ 0 w 36"/>
                <a:gd name="T5" fmla="*/ 52 h 52"/>
                <a:gd name="T6" fmla="*/ 20 w 36"/>
                <a:gd name="T7" fmla="*/ 36 h 52"/>
                <a:gd name="T8" fmla="*/ 20 w 36"/>
                <a:gd name="T9" fmla="*/ 36 h 52"/>
                <a:gd name="T10" fmla="*/ 22 w 36"/>
                <a:gd name="T11" fmla="*/ 32 h 52"/>
                <a:gd name="T12" fmla="*/ 36 w 36"/>
                <a:gd name="T13" fmla="*/ 0 h 52"/>
                <a:gd name="T14" fmla="*/ 11 w 36"/>
                <a:gd name="T15" fmla="*/ 25 h 52"/>
                <a:gd name="T16" fmla="*/ 9 w 36"/>
                <a:gd name="T17" fmla="*/ 29 h 52"/>
                <a:gd name="T18" fmla="*/ 16 w 36"/>
                <a:gd name="T19" fmla="*/ 27 h 52"/>
                <a:gd name="T20" fmla="*/ 19 w 36"/>
                <a:gd name="T21" fmla="*/ 30 h 52"/>
                <a:gd name="T22" fmla="*/ 16 w 36"/>
                <a:gd name="T23" fmla="*/ 33 h 52"/>
                <a:gd name="T24" fmla="*/ 13 w 36"/>
                <a:gd name="T25" fmla="*/ 30 h 52"/>
                <a:gd name="T26" fmla="*/ 16 w 36"/>
                <a:gd name="T2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52">
                  <a:moveTo>
                    <a:pt x="9" y="29"/>
                  </a:moveTo>
                  <a:cubicBezTo>
                    <a:pt x="9" y="29"/>
                    <a:pt x="9" y="29"/>
                    <a:pt x="9" y="29"/>
                  </a:cubicBezTo>
                  <a:cubicBezTo>
                    <a:pt x="0" y="52"/>
                    <a:pt x="0" y="52"/>
                    <a:pt x="0" y="52"/>
                  </a:cubicBezTo>
                  <a:cubicBezTo>
                    <a:pt x="20" y="36"/>
                    <a:pt x="20" y="36"/>
                    <a:pt x="20" y="36"/>
                  </a:cubicBezTo>
                  <a:cubicBezTo>
                    <a:pt x="20" y="36"/>
                    <a:pt x="20" y="36"/>
                    <a:pt x="20" y="36"/>
                  </a:cubicBezTo>
                  <a:cubicBezTo>
                    <a:pt x="22" y="35"/>
                    <a:pt x="22" y="33"/>
                    <a:pt x="22" y="32"/>
                  </a:cubicBezTo>
                  <a:cubicBezTo>
                    <a:pt x="36" y="0"/>
                    <a:pt x="36" y="0"/>
                    <a:pt x="36" y="0"/>
                  </a:cubicBezTo>
                  <a:cubicBezTo>
                    <a:pt x="11" y="25"/>
                    <a:pt x="11" y="25"/>
                    <a:pt x="11" y="25"/>
                  </a:cubicBezTo>
                  <a:cubicBezTo>
                    <a:pt x="10" y="26"/>
                    <a:pt x="9" y="27"/>
                    <a:pt x="9" y="29"/>
                  </a:cubicBezTo>
                  <a:close/>
                  <a:moveTo>
                    <a:pt x="16" y="27"/>
                  </a:moveTo>
                  <a:cubicBezTo>
                    <a:pt x="17" y="27"/>
                    <a:pt x="19" y="28"/>
                    <a:pt x="19" y="30"/>
                  </a:cubicBezTo>
                  <a:cubicBezTo>
                    <a:pt x="19" y="32"/>
                    <a:pt x="17" y="33"/>
                    <a:pt x="16" y="33"/>
                  </a:cubicBezTo>
                  <a:cubicBezTo>
                    <a:pt x="14" y="33"/>
                    <a:pt x="13" y="32"/>
                    <a:pt x="13" y="30"/>
                  </a:cubicBezTo>
                  <a:cubicBezTo>
                    <a:pt x="13" y="28"/>
                    <a:pt x="14" y="27"/>
                    <a:pt x="16"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defRPr/>
              </a:pPr>
              <a:endParaRPr lang="en-US" sz="2135" kern="0">
                <a:solidFill>
                  <a:sysClr val="windowText" lastClr="000000"/>
                </a:solidFill>
                <a:cs typeface="+mn-ea"/>
                <a:sym typeface="+mn-lt"/>
              </a:endParaRPr>
            </a:p>
          </p:txBody>
        </p:sp>
        <p:sp>
          <p:nvSpPr>
            <p:cNvPr id="98" name="Oval 40"/>
            <p:cNvSpPr>
              <a:spLocks noChangeArrowheads="1"/>
            </p:cNvSpPr>
            <p:nvPr>
              <p:custDataLst>
                <p:tags r:id="rId14"/>
              </p:custDataLst>
            </p:nvPr>
          </p:nvSpPr>
          <p:spPr bwMode="auto">
            <a:xfrm>
              <a:off x="2090738" y="3179763"/>
              <a:ext cx="6350" cy="63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defRPr/>
              </a:pPr>
              <a:endParaRPr lang="en-US" sz="2135" kern="0">
                <a:solidFill>
                  <a:sysClr val="windowText" lastClr="000000"/>
                </a:solidFill>
                <a:cs typeface="+mn-ea"/>
                <a:sym typeface="+mn-lt"/>
              </a:endParaRPr>
            </a:p>
          </p:txBody>
        </p:sp>
      </p:grpSp>
      <p:sp>
        <p:nvSpPr>
          <p:cNvPr id="99" name="Freeform 7"/>
          <p:cNvSpPr>
            <a:spLocks noEditPoints="1"/>
          </p:cNvSpPr>
          <p:nvPr>
            <p:custDataLst>
              <p:tags r:id="rId15"/>
            </p:custDataLst>
          </p:nvPr>
        </p:nvSpPr>
        <p:spPr bwMode="auto">
          <a:xfrm>
            <a:off x="8096883" y="5224456"/>
            <a:ext cx="300800" cy="420312"/>
          </a:xfrm>
          <a:custGeom>
            <a:avLst/>
            <a:gdLst>
              <a:gd name="T0" fmla="*/ 21 w 126"/>
              <a:gd name="T1" fmla="*/ 51 h 171"/>
              <a:gd name="T2" fmla="*/ 63 w 126"/>
              <a:gd name="T3" fmla="*/ 17 h 171"/>
              <a:gd name="T4" fmla="*/ 105 w 126"/>
              <a:gd name="T5" fmla="*/ 51 h 171"/>
              <a:gd name="T6" fmla="*/ 89 w 126"/>
              <a:gd name="T7" fmla="*/ 84 h 171"/>
              <a:gd name="T8" fmla="*/ 70 w 126"/>
              <a:gd name="T9" fmla="*/ 121 h 171"/>
              <a:gd name="T10" fmla="*/ 56 w 126"/>
              <a:gd name="T11" fmla="*/ 121 h 171"/>
              <a:gd name="T12" fmla="*/ 37 w 126"/>
              <a:gd name="T13" fmla="*/ 84 h 171"/>
              <a:gd name="T14" fmla="*/ 21 w 126"/>
              <a:gd name="T15" fmla="*/ 51 h 171"/>
              <a:gd name="T16" fmla="*/ 86 w 126"/>
              <a:gd name="T17" fmla="*/ 136 h 171"/>
              <a:gd name="T18" fmla="*/ 123 w 126"/>
              <a:gd name="T19" fmla="*/ 49 h 171"/>
              <a:gd name="T20" fmla="*/ 63 w 126"/>
              <a:gd name="T21" fmla="*/ 0 h 171"/>
              <a:gd name="T22" fmla="*/ 3 w 126"/>
              <a:gd name="T23" fmla="*/ 49 h 171"/>
              <a:gd name="T24" fmla="*/ 40 w 126"/>
              <a:gd name="T25" fmla="*/ 136 h 171"/>
              <a:gd name="T26" fmla="*/ 86 w 126"/>
              <a:gd name="T27" fmla="*/ 136 h 171"/>
              <a:gd name="T28" fmla="*/ 39 w 126"/>
              <a:gd name="T29" fmla="*/ 164 h 171"/>
              <a:gd name="T30" fmla="*/ 63 w 126"/>
              <a:gd name="T31" fmla="*/ 171 h 171"/>
              <a:gd name="T32" fmla="*/ 87 w 126"/>
              <a:gd name="T33" fmla="*/ 164 h 171"/>
              <a:gd name="T34" fmla="*/ 87 w 126"/>
              <a:gd name="T35" fmla="*/ 146 h 171"/>
              <a:gd name="T36" fmla="*/ 39 w 126"/>
              <a:gd name="T37" fmla="*/ 146 h 171"/>
              <a:gd name="T38" fmla="*/ 39 w 126"/>
              <a:gd name="T39" fmla="*/ 164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6" h="171">
                <a:moveTo>
                  <a:pt x="21" y="51"/>
                </a:moveTo>
                <a:cubicBezTo>
                  <a:pt x="23" y="29"/>
                  <a:pt x="38" y="17"/>
                  <a:pt x="63" y="17"/>
                </a:cubicBezTo>
                <a:cubicBezTo>
                  <a:pt x="88" y="17"/>
                  <a:pt x="103" y="29"/>
                  <a:pt x="105" y="51"/>
                </a:cubicBezTo>
                <a:cubicBezTo>
                  <a:pt x="106" y="63"/>
                  <a:pt x="99" y="71"/>
                  <a:pt x="89" y="84"/>
                </a:cubicBezTo>
                <a:cubicBezTo>
                  <a:pt x="82" y="94"/>
                  <a:pt x="74" y="106"/>
                  <a:pt x="70" y="121"/>
                </a:cubicBezTo>
                <a:cubicBezTo>
                  <a:pt x="56" y="121"/>
                  <a:pt x="56" y="121"/>
                  <a:pt x="56" y="121"/>
                </a:cubicBezTo>
                <a:cubicBezTo>
                  <a:pt x="52" y="106"/>
                  <a:pt x="44" y="94"/>
                  <a:pt x="37" y="84"/>
                </a:cubicBezTo>
                <a:cubicBezTo>
                  <a:pt x="27" y="71"/>
                  <a:pt x="20" y="63"/>
                  <a:pt x="21" y="51"/>
                </a:cubicBezTo>
                <a:close/>
                <a:moveTo>
                  <a:pt x="86" y="136"/>
                </a:moveTo>
                <a:cubicBezTo>
                  <a:pt x="86" y="99"/>
                  <a:pt x="126" y="87"/>
                  <a:pt x="123" y="49"/>
                </a:cubicBezTo>
                <a:cubicBezTo>
                  <a:pt x="121" y="26"/>
                  <a:pt x="105" y="0"/>
                  <a:pt x="63" y="0"/>
                </a:cubicBezTo>
                <a:cubicBezTo>
                  <a:pt x="21" y="0"/>
                  <a:pt x="5" y="26"/>
                  <a:pt x="3" y="49"/>
                </a:cubicBezTo>
                <a:cubicBezTo>
                  <a:pt x="0" y="87"/>
                  <a:pt x="40" y="99"/>
                  <a:pt x="40" y="136"/>
                </a:cubicBezTo>
                <a:cubicBezTo>
                  <a:pt x="86" y="136"/>
                  <a:pt x="86" y="136"/>
                  <a:pt x="86" y="136"/>
                </a:cubicBezTo>
                <a:close/>
                <a:moveTo>
                  <a:pt x="39" y="164"/>
                </a:moveTo>
                <a:cubicBezTo>
                  <a:pt x="46" y="168"/>
                  <a:pt x="53" y="171"/>
                  <a:pt x="63" y="171"/>
                </a:cubicBezTo>
                <a:cubicBezTo>
                  <a:pt x="72" y="171"/>
                  <a:pt x="80" y="168"/>
                  <a:pt x="87" y="164"/>
                </a:cubicBezTo>
                <a:cubicBezTo>
                  <a:pt x="87" y="146"/>
                  <a:pt x="87" y="146"/>
                  <a:pt x="87" y="146"/>
                </a:cubicBezTo>
                <a:cubicBezTo>
                  <a:pt x="39" y="146"/>
                  <a:pt x="39" y="146"/>
                  <a:pt x="39" y="146"/>
                </a:cubicBezTo>
                <a:cubicBezTo>
                  <a:pt x="39" y="164"/>
                  <a:pt x="39" y="164"/>
                  <a:pt x="39" y="164"/>
                </a:cubicBezTo>
                <a:close/>
              </a:path>
            </a:pathLst>
          </a:custGeom>
          <a:solidFill>
            <a:sysClr val="window" lastClr="FFFFFF"/>
          </a:solidFill>
          <a:ln>
            <a:noFill/>
          </a:ln>
        </p:spPr>
        <p:txBody>
          <a:bodyPr vert="horz" wrap="square" lIns="121920" tIns="60960" rIns="121920" bIns="60960" numCol="1" anchor="t" anchorCtr="0" compatLnSpc="1"/>
          <a:lstStyle/>
          <a:p>
            <a:pPr algn="ctr">
              <a:defRPr/>
            </a:pPr>
            <a:endParaRPr lang="en-US" sz="2135" kern="0">
              <a:solidFill>
                <a:sysClr val="windowText" lastClr="000000"/>
              </a:solidFill>
              <a:cs typeface="+mn-ea"/>
              <a:sym typeface="+mn-lt"/>
            </a:endParaRPr>
          </a:p>
        </p:txBody>
      </p:sp>
      <p:grpSp>
        <p:nvGrpSpPr>
          <p:cNvPr id="100" name="组合 99"/>
          <p:cNvGrpSpPr/>
          <p:nvPr>
            <p:custDataLst>
              <p:tags r:id="rId16"/>
            </p:custDataLst>
          </p:nvPr>
        </p:nvGrpSpPr>
        <p:grpSpPr>
          <a:xfrm>
            <a:off x="227330" y="2851150"/>
            <a:ext cx="3195320" cy="1317288"/>
            <a:chOff x="4459990" y="3257779"/>
            <a:chExt cx="2025086" cy="610477"/>
          </a:xfrm>
        </p:grpSpPr>
        <p:sp>
          <p:nvSpPr>
            <p:cNvPr id="101" name="文本框 100"/>
            <p:cNvSpPr txBox="1"/>
            <p:nvPr>
              <p:custDataLst>
                <p:tags r:id="rId17"/>
              </p:custDataLst>
            </p:nvPr>
          </p:nvSpPr>
          <p:spPr>
            <a:xfrm>
              <a:off x="4459990" y="3381221"/>
              <a:ext cx="2025086" cy="487035"/>
            </a:xfrm>
            <a:prstGeom prst="rect">
              <a:avLst/>
            </a:prstGeom>
            <a:noFill/>
          </p:spPr>
          <p:txBody>
            <a:bodyPr wrap="square" rtlCol="0">
              <a:spAutoFit/>
            </a:bodyPr>
            <a:lstStyle/>
            <a:p>
              <a:pPr algn="just" fontAlgn="base">
                <a:lnSpc>
                  <a:spcPct val="130000"/>
                </a:lnSpc>
                <a:spcBef>
                  <a:spcPct val="0"/>
                </a:spcBef>
                <a:spcAft>
                  <a:spcPct val="0"/>
                </a:spcAft>
              </a:pPr>
              <a:r>
                <a:rPr lang="en-US" altLang="en-US" sz="1600" dirty="0">
                  <a:solidFill>
                    <a:prstClr val="black">
                      <a:lumMod val="75000"/>
                      <a:lumOff val="25000"/>
                    </a:prstClr>
                  </a:solidFill>
                  <a:cs typeface="+mn-ea"/>
                  <a:sym typeface="+mn-lt"/>
                </a:rPr>
                <a:t>Requirements definition and</a:t>
              </a:r>
              <a:endParaRPr lang="en-US" altLang="en-US" sz="1600" dirty="0">
                <a:solidFill>
                  <a:prstClr val="black">
                    <a:lumMod val="75000"/>
                    <a:lumOff val="25000"/>
                  </a:prstClr>
                </a:solidFill>
                <a:cs typeface="+mn-ea"/>
                <a:sym typeface="+mn-lt"/>
              </a:endParaRPr>
            </a:p>
            <a:p>
              <a:pPr algn="just" fontAlgn="base">
                <a:lnSpc>
                  <a:spcPct val="130000"/>
                </a:lnSpc>
                <a:spcBef>
                  <a:spcPct val="0"/>
                </a:spcBef>
                <a:spcAft>
                  <a:spcPct val="0"/>
                </a:spcAft>
              </a:pPr>
              <a:r>
                <a:rPr lang="en-US" altLang="en-US" sz="1600" dirty="0">
                  <a:solidFill>
                    <a:prstClr val="black">
                      <a:lumMod val="75000"/>
                      <a:lumOff val="25000"/>
                    </a:prstClr>
                  </a:solidFill>
                  <a:cs typeface="+mn-ea"/>
                  <a:sym typeface="+mn-lt"/>
                </a:rPr>
                <a:t>system modeling (e.g., UML,</a:t>
              </a:r>
              <a:endParaRPr lang="en-US" altLang="en-US" sz="1600" dirty="0">
                <a:solidFill>
                  <a:prstClr val="black">
                    <a:lumMod val="75000"/>
                    <a:lumOff val="25000"/>
                  </a:prstClr>
                </a:solidFill>
                <a:cs typeface="+mn-ea"/>
                <a:sym typeface="+mn-lt"/>
              </a:endParaRPr>
            </a:p>
            <a:p>
              <a:pPr algn="just" fontAlgn="base">
                <a:lnSpc>
                  <a:spcPct val="130000"/>
                </a:lnSpc>
                <a:spcBef>
                  <a:spcPct val="0"/>
                </a:spcBef>
                <a:spcAft>
                  <a:spcPct val="0"/>
                </a:spcAft>
              </a:pPr>
              <a:r>
                <a:rPr lang="en-US" altLang="en-US" sz="1600" dirty="0">
                  <a:solidFill>
                    <a:prstClr val="black">
                      <a:lumMod val="75000"/>
                      <a:lumOff val="25000"/>
                    </a:prstClr>
                  </a:solidFill>
                  <a:cs typeface="+mn-ea"/>
                  <a:sym typeface="+mn-lt"/>
                </a:rPr>
                <a:t>ER diagrams).</a:t>
              </a:r>
              <a:endParaRPr lang="en-US" altLang="en-US" sz="1600" dirty="0">
                <a:solidFill>
                  <a:prstClr val="black">
                    <a:lumMod val="75000"/>
                    <a:lumOff val="25000"/>
                  </a:prstClr>
                </a:solidFill>
                <a:cs typeface="+mn-ea"/>
                <a:sym typeface="+mn-lt"/>
              </a:endParaRPr>
            </a:p>
          </p:txBody>
        </p:sp>
        <p:sp>
          <p:nvSpPr>
            <p:cNvPr id="102" name="TextBox 76"/>
            <p:cNvSpPr txBox="1"/>
            <p:nvPr>
              <p:custDataLst>
                <p:tags r:id="rId18"/>
              </p:custDataLst>
            </p:nvPr>
          </p:nvSpPr>
          <p:spPr>
            <a:xfrm>
              <a:off x="4513515" y="3257779"/>
              <a:ext cx="1697901" cy="142138"/>
            </a:xfrm>
            <a:prstGeom prst="rect">
              <a:avLst/>
            </a:prstGeom>
            <a:noFill/>
          </p:spPr>
          <p:txBody>
            <a:bodyPr wrap="square" rtlCol="0">
              <a:spAutoFit/>
            </a:bodyPr>
            <a:lstStyle>
              <a:defPPr>
                <a:defRPr lang="zh-CN"/>
              </a:defPPr>
              <a:lvl1pPr algn="ctr">
                <a:defRPr>
                  <a:latin typeface="Microsoft YaHei" panose="020B0503020204020204" charset="-122"/>
                  <a:ea typeface="Microsoft YaHei" panose="020B0503020204020204" charset="-122"/>
                </a:defRPr>
              </a:lvl1pPr>
            </a:lstStyle>
            <a:p>
              <a:pPr algn="just" fontAlgn="base">
                <a:spcBef>
                  <a:spcPct val="0"/>
                </a:spcBef>
                <a:spcAft>
                  <a:spcPct val="0"/>
                </a:spcAft>
              </a:pPr>
              <a:r>
                <a:rPr lang="en-US" altLang="en-US" sz="1400" dirty="0">
                  <a:solidFill>
                    <a:prstClr val="black">
                      <a:lumMod val="75000"/>
                      <a:lumOff val="25000"/>
                    </a:prstClr>
                  </a:solidFill>
                  <a:cs typeface="+mn-ea"/>
                  <a:sym typeface="+mn-lt"/>
                </a:rPr>
                <a:t> Analysis &amp;  Design:</a:t>
              </a:r>
              <a:endParaRPr lang="en-US" altLang="en-US" sz="1400" dirty="0">
                <a:solidFill>
                  <a:prstClr val="black">
                    <a:lumMod val="75000"/>
                    <a:lumOff val="25000"/>
                  </a:prstClr>
                </a:solidFill>
                <a:latin typeface="+mn-lt"/>
                <a:ea typeface="+mn-ea"/>
                <a:cs typeface="+mn-ea"/>
                <a:sym typeface="+mn-lt"/>
              </a:endParaRPr>
            </a:p>
          </p:txBody>
        </p:sp>
      </p:grpSp>
      <p:grpSp>
        <p:nvGrpSpPr>
          <p:cNvPr id="103" name="组合 102"/>
          <p:cNvGrpSpPr/>
          <p:nvPr>
            <p:custDataLst>
              <p:tags r:id="rId19"/>
            </p:custDataLst>
          </p:nvPr>
        </p:nvGrpSpPr>
        <p:grpSpPr>
          <a:xfrm>
            <a:off x="4460194" y="4818904"/>
            <a:ext cx="2700115" cy="1436421"/>
            <a:chOff x="4496985" y="3092099"/>
            <a:chExt cx="2025086" cy="1077316"/>
          </a:xfrm>
        </p:grpSpPr>
        <p:sp>
          <p:nvSpPr>
            <p:cNvPr id="104" name="文本框 103"/>
            <p:cNvSpPr txBox="1"/>
            <p:nvPr>
              <p:custDataLst>
                <p:tags r:id="rId20"/>
              </p:custDataLst>
            </p:nvPr>
          </p:nvSpPr>
          <p:spPr>
            <a:xfrm>
              <a:off x="4496985" y="3381221"/>
              <a:ext cx="2025086" cy="788194"/>
            </a:xfrm>
            <a:prstGeom prst="rect">
              <a:avLst/>
            </a:prstGeom>
            <a:noFill/>
          </p:spPr>
          <p:txBody>
            <a:bodyPr wrap="square" rtlCol="0">
              <a:spAutoFit/>
            </a:bodyPr>
            <a:lstStyle/>
            <a:p>
              <a:pPr algn="just" fontAlgn="base">
                <a:lnSpc>
                  <a:spcPct val="130000"/>
                </a:lnSpc>
                <a:spcBef>
                  <a:spcPct val="0"/>
                </a:spcBef>
                <a:spcAft>
                  <a:spcPct val="0"/>
                </a:spcAft>
              </a:pPr>
              <a:r>
                <a:rPr lang="en-US" altLang="en-US" sz="1600" dirty="0">
                  <a:solidFill>
                    <a:prstClr val="black">
                      <a:lumMod val="75000"/>
                      <a:lumOff val="25000"/>
                    </a:prstClr>
                  </a:solidFill>
                  <a:cs typeface="+mn-ea"/>
                  <a:sym typeface="+mn-lt"/>
                </a:rPr>
                <a:t>Component development</a:t>
              </a:r>
              <a:endParaRPr lang="en-US" altLang="en-US" sz="1600" dirty="0">
                <a:solidFill>
                  <a:prstClr val="black">
                    <a:lumMod val="75000"/>
                    <a:lumOff val="25000"/>
                  </a:prstClr>
                </a:solidFill>
                <a:cs typeface="+mn-ea"/>
                <a:sym typeface="+mn-lt"/>
              </a:endParaRPr>
            </a:p>
            <a:p>
              <a:pPr algn="just" fontAlgn="base">
                <a:lnSpc>
                  <a:spcPct val="130000"/>
                </a:lnSpc>
                <a:spcBef>
                  <a:spcPct val="0"/>
                </a:spcBef>
                <a:spcAft>
                  <a:spcPct val="0"/>
                </a:spcAft>
              </a:pPr>
              <a:r>
                <a:rPr lang="en-US" altLang="en-US" sz="1600" dirty="0">
                  <a:solidFill>
                    <a:prstClr val="black">
                      <a:lumMod val="75000"/>
                      <a:lumOff val="25000"/>
                    </a:prstClr>
                  </a:solidFill>
                  <a:cs typeface="+mn-ea"/>
                  <a:sym typeface="+mn-lt"/>
                </a:rPr>
                <a:t>(Frontend, Backend, and AI</a:t>
              </a:r>
              <a:endParaRPr lang="en-US" altLang="en-US" sz="1600" dirty="0">
                <a:solidFill>
                  <a:prstClr val="black">
                    <a:lumMod val="75000"/>
                    <a:lumOff val="25000"/>
                  </a:prstClr>
                </a:solidFill>
                <a:cs typeface="+mn-ea"/>
                <a:sym typeface="+mn-lt"/>
              </a:endParaRPr>
            </a:p>
            <a:p>
              <a:pPr algn="just" fontAlgn="base">
                <a:lnSpc>
                  <a:spcPct val="130000"/>
                </a:lnSpc>
                <a:spcBef>
                  <a:spcPct val="0"/>
                </a:spcBef>
                <a:spcAft>
                  <a:spcPct val="0"/>
                </a:spcAft>
              </a:pPr>
              <a:r>
                <a:rPr lang="en-US" altLang="en-US" sz="1600" dirty="0">
                  <a:solidFill>
                    <a:prstClr val="black">
                      <a:lumMod val="75000"/>
                      <a:lumOff val="25000"/>
                    </a:prstClr>
                  </a:solidFill>
                  <a:cs typeface="+mn-ea"/>
                  <a:sym typeface="+mn-lt"/>
                </a:rPr>
                <a:t>Service).</a:t>
              </a:r>
              <a:endParaRPr lang="en-US" altLang="en-US" sz="1600" dirty="0">
                <a:solidFill>
                  <a:prstClr val="black">
                    <a:lumMod val="75000"/>
                    <a:lumOff val="25000"/>
                  </a:prstClr>
                </a:solidFill>
                <a:cs typeface="+mn-ea"/>
                <a:sym typeface="+mn-lt"/>
              </a:endParaRPr>
            </a:p>
          </p:txBody>
        </p:sp>
        <p:sp>
          <p:nvSpPr>
            <p:cNvPr id="105" name="TextBox 76"/>
            <p:cNvSpPr txBox="1"/>
            <p:nvPr>
              <p:custDataLst>
                <p:tags r:id="rId21"/>
              </p:custDataLst>
            </p:nvPr>
          </p:nvSpPr>
          <p:spPr>
            <a:xfrm>
              <a:off x="5046578" y="3092099"/>
              <a:ext cx="1410652" cy="252889"/>
            </a:xfrm>
            <a:prstGeom prst="rect">
              <a:avLst/>
            </a:prstGeom>
            <a:noFill/>
          </p:spPr>
          <p:txBody>
            <a:bodyPr wrap="square" rtlCol="0">
              <a:spAutoFit/>
            </a:bodyPr>
            <a:lstStyle>
              <a:defPPr>
                <a:defRPr lang="zh-CN"/>
              </a:defPPr>
              <a:lvl1pPr algn="ctr">
                <a:defRPr>
                  <a:latin typeface="Microsoft YaHei" panose="020B0503020204020204" charset="-122"/>
                  <a:ea typeface="Microsoft YaHei" panose="020B0503020204020204" charset="-122"/>
                </a:defRPr>
              </a:lvl1pPr>
            </a:lstStyle>
            <a:p>
              <a:pPr algn="r" fontAlgn="base">
                <a:spcBef>
                  <a:spcPct val="0"/>
                </a:spcBef>
                <a:spcAft>
                  <a:spcPct val="0"/>
                </a:spcAft>
              </a:pPr>
              <a:r>
                <a:rPr lang="en-US" altLang="en-US" sz="1600" dirty="0">
                  <a:solidFill>
                    <a:srgbClr val="000000"/>
                  </a:solidFill>
                  <a:latin typeface="+mn-lt"/>
                  <a:ea typeface="+mn-ea"/>
                  <a:cs typeface="+mn-ea"/>
                  <a:sym typeface="+mn-lt"/>
                </a:rPr>
                <a:t>Implementation:</a:t>
              </a:r>
              <a:endParaRPr lang="en-US" altLang="en-US" sz="1600" dirty="0">
                <a:solidFill>
                  <a:srgbClr val="000000"/>
                </a:solidFill>
                <a:latin typeface="+mn-lt"/>
                <a:ea typeface="+mn-ea"/>
                <a:cs typeface="+mn-ea"/>
                <a:sym typeface="+mn-lt"/>
              </a:endParaRPr>
            </a:p>
          </p:txBody>
        </p:sp>
      </p:grpSp>
      <p:pic>
        <p:nvPicPr>
          <p:cNvPr id="5" name="图片 55"/>
          <p:cNvPicPr>
            <a:picLocks noChangeAspect="1"/>
          </p:cNvPicPr>
          <p:nvPr/>
        </p:nvPicPr>
        <p:blipFill>
          <a:blip r:embed="rId22">
            <a:alphaModFix amt="40000"/>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3660209" y="190771"/>
            <a:ext cx="8532090" cy="7144653"/>
          </a:xfrm>
          <a:prstGeom prst="rect">
            <a:avLst/>
          </a:prstGeom>
        </p:spPr>
      </p:pic>
      <p:sp>
        <p:nvSpPr>
          <p:cNvPr id="2" name="Text Box 1"/>
          <p:cNvSpPr txBox="1"/>
          <p:nvPr/>
        </p:nvSpPr>
        <p:spPr>
          <a:xfrm>
            <a:off x="4614545" y="1547495"/>
            <a:ext cx="4064000" cy="368300"/>
          </a:xfrm>
          <a:prstGeom prst="rect">
            <a:avLst/>
          </a:prstGeom>
          <a:noFill/>
        </p:spPr>
        <p:txBody>
          <a:bodyPr wrap="square" rtlCol="0">
            <a:spAutoFit/>
          </a:bodyPr>
          <a:p>
            <a:pPr algn="just"/>
            <a:r>
              <a:rPr lang="en-US" b="1"/>
              <a:t>Development Methodology</a:t>
            </a:r>
            <a:endParaRPr lang="en-US" b="1"/>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473377" y="1816787"/>
            <a:ext cx="1565042" cy="739347"/>
            <a:chOff x="4473377" y="1816787"/>
            <a:chExt cx="1565042" cy="739347"/>
          </a:xfrm>
        </p:grpSpPr>
        <p:sp>
          <p:nvSpPr>
            <p:cNvPr id="32" name="Connector 22"/>
            <p:cNvSpPr/>
            <p:nvPr/>
          </p:nvSpPr>
          <p:spPr>
            <a:xfrm rot="16200000">
              <a:off x="4886224" y="1403940"/>
              <a:ext cx="739347" cy="1565042"/>
            </a:xfrm>
            <a:prstGeom prst="flowChartOffpageConnector">
              <a:avLst/>
            </a:prstGeom>
            <a:solidFill>
              <a:srgbClr val="52525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defRPr/>
              </a:pPr>
              <a:endParaRPr lang="en-US" sz="5865" dirty="0">
                <a:solidFill>
                  <a:prstClr val="white"/>
                </a:solidFill>
                <a:cs typeface="+mn-ea"/>
                <a:sym typeface="+mn-lt"/>
              </a:endParaRPr>
            </a:p>
          </p:txBody>
        </p:sp>
        <p:grpSp>
          <p:nvGrpSpPr>
            <p:cNvPr id="39" name="Group 50"/>
            <p:cNvGrpSpPr/>
            <p:nvPr/>
          </p:nvGrpSpPr>
          <p:grpSpPr>
            <a:xfrm>
              <a:off x="4918564" y="1962308"/>
              <a:ext cx="450299" cy="448306"/>
              <a:chOff x="6350" y="-3175"/>
              <a:chExt cx="717550" cy="714376"/>
            </a:xfrm>
            <a:solidFill>
              <a:schemeClr val="bg1"/>
            </a:solidFill>
          </p:grpSpPr>
          <p:sp>
            <p:nvSpPr>
              <p:cNvPr id="40" name="Freeform 18"/>
              <p:cNvSpPr/>
              <p:nvPr/>
            </p:nvSpPr>
            <p:spPr bwMode="auto">
              <a:xfrm>
                <a:off x="438150" y="430213"/>
                <a:ext cx="285750" cy="280988"/>
              </a:xfrm>
              <a:custGeom>
                <a:avLst/>
                <a:gdLst>
                  <a:gd name="T0" fmla="*/ 68 w 75"/>
                  <a:gd name="T1" fmla="*/ 42 h 74"/>
                  <a:gd name="T2" fmla="*/ 25 w 75"/>
                  <a:gd name="T3" fmla="*/ 0 h 74"/>
                  <a:gd name="T4" fmla="*/ 0 w 75"/>
                  <a:gd name="T5" fmla="*/ 24 h 74"/>
                  <a:gd name="T6" fmla="*/ 43 w 75"/>
                  <a:gd name="T7" fmla="*/ 67 h 74"/>
                  <a:gd name="T8" fmla="*/ 68 w 75"/>
                  <a:gd name="T9" fmla="*/ 67 h 74"/>
                  <a:gd name="T10" fmla="*/ 68 w 75"/>
                  <a:gd name="T11" fmla="*/ 42 h 74"/>
                </a:gdLst>
                <a:ahLst/>
                <a:cxnLst>
                  <a:cxn ang="0">
                    <a:pos x="T0" y="T1"/>
                  </a:cxn>
                  <a:cxn ang="0">
                    <a:pos x="T2" y="T3"/>
                  </a:cxn>
                  <a:cxn ang="0">
                    <a:pos x="T4" y="T5"/>
                  </a:cxn>
                  <a:cxn ang="0">
                    <a:pos x="T6" y="T7"/>
                  </a:cxn>
                  <a:cxn ang="0">
                    <a:pos x="T8" y="T9"/>
                  </a:cxn>
                  <a:cxn ang="0">
                    <a:pos x="T10" y="T11"/>
                  </a:cxn>
                </a:cxnLst>
                <a:rect l="0" t="0" r="r" b="b"/>
                <a:pathLst>
                  <a:path w="75" h="74">
                    <a:moveTo>
                      <a:pt x="68" y="42"/>
                    </a:moveTo>
                    <a:cubicBezTo>
                      <a:pt x="25" y="0"/>
                      <a:pt x="25" y="0"/>
                      <a:pt x="25" y="0"/>
                    </a:cubicBezTo>
                    <a:cubicBezTo>
                      <a:pt x="19" y="10"/>
                      <a:pt x="10" y="18"/>
                      <a:pt x="0" y="24"/>
                    </a:cubicBezTo>
                    <a:cubicBezTo>
                      <a:pt x="43" y="67"/>
                      <a:pt x="43" y="67"/>
                      <a:pt x="43" y="67"/>
                    </a:cubicBezTo>
                    <a:cubicBezTo>
                      <a:pt x="50" y="74"/>
                      <a:pt x="61" y="74"/>
                      <a:pt x="68" y="67"/>
                    </a:cubicBezTo>
                    <a:cubicBezTo>
                      <a:pt x="75" y="60"/>
                      <a:pt x="75" y="49"/>
                      <a:pt x="68" y="4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defRPr/>
                </a:pPr>
                <a:endParaRPr lang="id-ID">
                  <a:solidFill>
                    <a:prstClr val="black"/>
                  </a:solidFill>
                  <a:cs typeface="+mn-ea"/>
                  <a:sym typeface="+mn-lt"/>
                </a:endParaRPr>
              </a:p>
            </p:txBody>
          </p:sp>
          <p:sp>
            <p:nvSpPr>
              <p:cNvPr id="41" name="Freeform 19"/>
              <p:cNvSpPr>
                <a:spLocks noEditPoints="1"/>
              </p:cNvSpPr>
              <p:nvPr/>
            </p:nvSpPr>
            <p:spPr bwMode="auto">
              <a:xfrm>
                <a:off x="6350" y="-3175"/>
                <a:ext cx="530225" cy="531813"/>
              </a:xfrm>
              <a:custGeom>
                <a:avLst/>
                <a:gdLst>
                  <a:gd name="T0" fmla="*/ 139 w 139"/>
                  <a:gd name="T1" fmla="*/ 70 h 140"/>
                  <a:gd name="T2" fmla="*/ 70 w 139"/>
                  <a:gd name="T3" fmla="*/ 0 h 140"/>
                  <a:gd name="T4" fmla="*/ 0 w 139"/>
                  <a:gd name="T5" fmla="*/ 70 h 140"/>
                  <a:gd name="T6" fmla="*/ 70 w 139"/>
                  <a:gd name="T7" fmla="*/ 140 h 140"/>
                  <a:gd name="T8" fmla="*/ 139 w 139"/>
                  <a:gd name="T9" fmla="*/ 70 h 140"/>
                  <a:gd name="T10" fmla="*/ 70 w 139"/>
                  <a:gd name="T11" fmla="*/ 122 h 140"/>
                  <a:gd name="T12" fmla="*/ 17 w 139"/>
                  <a:gd name="T13" fmla="*/ 70 h 140"/>
                  <a:gd name="T14" fmla="*/ 70 w 139"/>
                  <a:gd name="T15" fmla="*/ 17 h 140"/>
                  <a:gd name="T16" fmla="*/ 122 w 139"/>
                  <a:gd name="T17" fmla="*/ 70 h 140"/>
                  <a:gd name="T18" fmla="*/ 70 w 139"/>
                  <a:gd name="T19" fmla="*/ 1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39" y="70"/>
                    </a:moveTo>
                    <a:cubicBezTo>
                      <a:pt x="139" y="31"/>
                      <a:pt x="108" y="0"/>
                      <a:pt x="70" y="0"/>
                    </a:cubicBezTo>
                    <a:cubicBezTo>
                      <a:pt x="31" y="0"/>
                      <a:pt x="0" y="31"/>
                      <a:pt x="0" y="70"/>
                    </a:cubicBezTo>
                    <a:cubicBezTo>
                      <a:pt x="0" y="108"/>
                      <a:pt x="31" y="140"/>
                      <a:pt x="70" y="140"/>
                    </a:cubicBezTo>
                    <a:cubicBezTo>
                      <a:pt x="108" y="140"/>
                      <a:pt x="139" y="108"/>
                      <a:pt x="139" y="70"/>
                    </a:cubicBezTo>
                    <a:moveTo>
                      <a:pt x="70" y="122"/>
                    </a:moveTo>
                    <a:cubicBezTo>
                      <a:pt x="41" y="122"/>
                      <a:pt x="17" y="99"/>
                      <a:pt x="17" y="70"/>
                    </a:cubicBezTo>
                    <a:cubicBezTo>
                      <a:pt x="17" y="41"/>
                      <a:pt x="41" y="17"/>
                      <a:pt x="70" y="17"/>
                    </a:cubicBezTo>
                    <a:cubicBezTo>
                      <a:pt x="98" y="17"/>
                      <a:pt x="122" y="41"/>
                      <a:pt x="122" y="70"/>
                    </a:cubicBezTo>
                    <a:cubicBezTo>
                      <a:pt x="122" y="99"/>
                      <a:pt x="98" y="122"/>
                      <a:pt x="70" y="1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defRPr/>
                </a:pPr>
                <a:endParaRPr lang="id-ID">
                  <a:solidFill>
                    <a:prstClr val="black"/>
                  </a:solidFill>
                  <a:cs typeface="+mn-ea"/>
                  <a:sym typeface="+mn-lt"/>
                </a:endParaRPr>
              </a:p>
            </p:txBody>
          </p:sp>
          <p:sp>
            <p:nvSpPr>
              <p:cNvPr id="42" name="Freeform 20"/>
              <p:cNvSpPr/>
              <p:nvPr/>
            </p:nvSpPr>
            <p:spPr bwMode="auto">
              <a:xfrm>
                <a:off x="117475" y="106363"/>
                <a:ext cx="157163" cy="155575"/>
              </a:xfrm>
              <a:custGeom>
                <a:avLst/>
                <a:gdLst>
                  <a:gd name="T0" fmla="*/ 0 w 41"/>
                  <a:gd name="T1" fmla="*/ 41 h 41"/>
                  <a:gd name="T2" fmla="*/ 12 w 41"/>
                  <a:gd name="T3" fmla="*/ 41 h 41"/>
                  <a:gd name="T4" fmla="*/ 41 w 41"/>
                  <a:gd name="T5" fmla="*/ 12 h 41"/>
                  <a:gd name="T6" fmla="*/ 41 w 41"/>
                  <a:gd name="T7" fmla="*/ 0 h 41"/>
                  <a:gd name="T8" fmla="*/ 0 w 41"/>
                  <a:gd name="T9" fmla="*/ 41 h 41"/>
                </a:gdLst>
                <a:ahLst/>
                <a:cxnLst>
                  <a:cxn ang="0">
                    <a:pos x="T0" y="T1"/>
                  </a:cxn>
                  <a:cxn ang="0">
                    <a:pos x="T2" y="T3"/>
                  </a:cxn>
                  <a:cxn ang="0">
                    <a:pos x="T4" y="T5"/>
                  </a:cxn>
                  <a:cxn ang="0">
                    <a:pos x="T6" y="T7"/>
                  </a:cxn>
                  <a:cxn ang="0">
                    <a:pos x="T8" y="T9"/>
                  </a:cxn>
                </a:cxnLst>
                <a:rect l="0" t="0" r="r" b="b"/>
                <a:pathLst>
                  <a:path w="41" h="41">
                    <a:moveTo>
                      <a:pt x="0" y="41"/>
                    </a:moveTo>
                    <a:cubicBezTo>
                      <a:pt x="12" y="41"/>
                      <a:pt x="12" y="41"/>
                      <a:pt x="12" y="41"/>
                    </a:cubicBezTo>
                    <a:cubicBezTo>
                      <a:pt x="12" y="25"/>
                      <a:pt x="25" y="12"/>
                      <a:pt x="41" y="12"/>
                    </a:cubicBezTo>
                    <a:cubicBezTo>
                      <a:pt x="41" y="0"/>
                      <a:pt x="41" y="0"/>
                      <a:pt x="41" y="0"/>
                    </a:cubicBezTo>
                    <a:cubicBezTo>
                      <a:pt x="18" y="0"/>
                      <a:pt x="0" y="18"/>
                      <a:pt x="0" y="4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defRPr/>
                </a:pPr>
                <a:endParaRPr lang="id-ID">
                  <a:solidFill>
                    <a:prstClr val="black"/>
                  </a:solidFill>
                  <a:cs typeface="+mn-ea"/>
                  <a:sym typeface="+mn-lt"/>
                </a:endParaRPr>
              </a:p>
            </p:txBody>
          </p:sp>
        </p:grpSp>
      </p:grpSp>
      <p:grpSp>
        <p:nvGrpSpPr>
          <p:cNvPr id="5" name="组合 4"/>
          <p:cNvGrpSpPr/>
          <p:nvPr/>
        </p:nvGrpSpPr>
        <p:grpSpPr>
          <a:xfrm>
            <a:off x="7989602" y="5023859"/>
            <a:ext cx="2944451" cy="1167423"/>
            <a:chOff x="7989602" y="5023859"/>
            <a:chExt cx="2944451" cy="1167423"/>
          </a:xfrm>
        </p:grpSpPr>
        <p:sp>
          <p:nvSpPr>
            <p:cNvPr id="43" name="文本框 42"/>
            <p:cNvSpPr txBox="1"/>
            <p:nvPr/>
          </p:nvSpPr>
          <p:spPr>
            <a:xfrm>
              <a:off x="7989602" y="5361337"/>
              <a:ext cx="2944451" cy="829945"/>
            </a:xfrm>
            <a:prstGeom prst="rect">
              <a:avLst/>
            </a:prstGeom>
            <a:noFill/>
          </p:spPr>
          <p:txBody>
            <a:bodyPr wrap="square" rtlCol="0">
              <a:spAutoFit/>
            </a:bodyPr>
            <a:lstStyle/>
            <a:p>
              <a:pPr algn="just">
                <a:defRPr/>
              </a:pPr>
              <a:r>
                <a:rPr lang="en-US" altLang="zh-CN" sz="1600" dirty="0">
                  <a:solidFill>
                    <a:srgbClr val="E7E6E6">
                      <a:lumMod val="25000"/>
                    </a:srgbClr>
                  </a:solidFill>
                  <a:cs typeface="+mn-ea"/>
                  <a:sym typeface="+mn-lt"/>
                </a:rPr>
                <a:t>Firestore - </a:t>
              </a:r>
              <a:r>
                <a:rPr lang="en-US" altLang="en-US" sz="1600" dirty="0">
                  <a:solidFill>
                    <a:srgbClr val="E7E6E6">
                      <a:lumMod val="25000"/>
                    </a:srgbClr>
                  </a:solidFill>
                  <a:cs typeface="+mn-ea"/>
                  <a:sym typeface="+mn-lt"/>
                </a:rPr>
                <a:t>Chosen for</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scalability and real-time</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updates.</a:t>
              </a:r>
              <a:endParaRPr lang="en-US" altLang="en-US" sz="1600" dirty="0">
                <a:solidFill>
                  <a:srgbClr val="E7E6E6">
                    <a:lumMod val="25000"/>
                  </a:srgbClr>
                </a:solidFill>
                <a:cs typeface="+mn-ea"/>
                <a:sym typeface="+mn-lt"/>
              </a:endParaRPr>
            </a:p>
          </p:txBody>
        </p:sp>
        <p:sp>
          <p:nvSpPr>
            <p:cNvPr id="44" name="TextBox 76"/>
            <p:cNvSpPr txBox="1"/>
            <p:nvPr/>
          </p:nvSpPr>
          <p:spPr>
            <a:xfrm>
              <a:off x="7989602" y="5023859"/>
              <a:ext cx="1160780" cy="368300"/>
            </a:xfrm>
            <a:prstGeom prst="rect">
              <a:avLst/>
            </a:prstGeom>
            <a:noFill/>
          </p:spPr>
          <p:txBody>
            <a:bodyPr wrap="none" rtlCol="0">
              <a:spAutoFit/>
            </a:bodyPr>
            <a:lstStyle/>
            <a:p>
              <a:pPr>
                <a:defRPr/>
              </a:pPr>
              <a:r>
                <a:rPr lang="en-US" altLang="zh-CN" dirty="0">
                  <a:solidFill>
                    <a:prstClr val="black">
                      <a:lumMod val="85000"/>
                      <a:lumOff val="15000"/>
                    </a:prstClr>
                  </a:solidFill>
                  <a:cs typeface="+mn-ea"/>
                  <a:sym typeface="+mn-lt"/>
                </a:rPr>
                <a:t>Database</a:t>
              </a:r>
              <a:endParaRPr lang="en-US" altLang="zh-CN" dirty="0">
                <a:solidFill>
                  <a:prstClr val="black">
                    <a:lumMod val="85000"/>
                    <a:lumOff val="15000"/>
                  </a:prstClr>
                </a:solidFill>
                <a:cs typeface="+mn-ea"/>
                <a:sym typeface="+mn-lt"/>
              </a:endParaRPr>
            </a:p>
          </p:txBody>
        </p:sp>
      </p:grpSp>
      <p:grpSp>
        <p:nvGrpSpPr>
          <p:cNvPr id="4" name="组合 3"/>
          <p:cNvGrpSpPr/>
          <p:nvPr/>
        </p:nvGrpSpPr>
        <p:grpSpPr>
          <a:xfrm>
            <a:off x="7989602" y="2862452"/>
            <a:ext cx="2944451" cy="921043"/>
            <a:chOff x="7989602" y="2862452"/>
            <a:chExt cx="2944451" cy="921043"/>
          </a:xfrm>
        </p:grpSpPr>
        <p:sp>
          <p:nvSpPr>
            <p:cNvPr id="45" name="文本框 44"/>
            <p:cNvSpPr txBox="1"/>
            <p:nvPr/>
          </p:nvSpPr>
          <p:spPr>
            <a:xfrm>
              <a:off x="7989602" y="3199930"/>
              <a:ext cx="2944451" cy="583565"/>
            </a:xfrm>
            <a:prstGeom prst="rect">
              <a:avLst/>
            </a:prstGeom>
            <a:noFill/>
          </p:spPr>
          <p:txBody>
            <a:bodyPr wrap="square" rtlCol="0">
              <a:spAutoFit/>
            </a:bodyPr>
            <a:lstStyle/>
            <a:p>
              <a:pPr algn="just">
                <a:defRPr/>
              </a:pPr>
              <a:r>
                <a:rPr lang="en-US" altLang="zh-CN" sz="1600" dirty="0">
                  <a:solidFill>
                    <a:srgbClr val="E7E6E6">
                      <a:lumMod val="25000"/>
                    </a:srgbClr>
                  </a:solidFill>
                  <a:cs typeface="+mn-ea"/>
                  <a:sym typeface="+mn-lt"/>
                </a:rPr>
                <a:t>Firebase -</a:t>
              </a:r>
              <a:r>
                <a:rPr lang="en-US" altLang="en-US" sz="1600" dirty="0">
                  <a:solidFill>
                    <a:srgbClr val="E7E6E6">
                      <a:lumMod val="25000"/>
                    </a:srgbClr>
                  </a:solidFill>
                  <a:cs typeface="+mn-ea"/>
                  <a:sym typeface="+mn-lt"/>
                </a:rPr>
                <a:t> Handles</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task routing and service calls.</a:t>
              </a:r>
              <a:endParaRPr lang="en-US" altLang="en-US" sz="1600" dirty="0">
                <a:solidFill>
                  <a:srgbClr val="E7E6E6">
                    <a:lumMod val="25000"/>
                  </a:srgbClr>
                </a:solidFill>
                <a:cs typeface="+mn-ea"/>
                <a:sym typeface="+mn-lt"/>
              </a:endParaRPr>
            </a:p>
          </p:txBody>
        </p:sp>
        <p:sp>
          <p:nvSpPr>
            <p:cNvPr id="46" name="TextBox 76"/>
            <p:cNvSpPr txBox="1"/>
            <p:nvPr/>
          </p:nvSpPr>
          <p:spPr>
            <a:xfrm>
              <a:off x="7989602" y="2862452"/>
              <a:ext cx="2468880" cy="368300"/>
            </a:xfrm>
            <a:prstGeom prst="rect">
              <a:avLst/>
            </a:prstGeom>
            <a:noFill/>
          </p:spPr>
          <p:txBody>
            <a:bodyPr wrap="none" rtlCol="0">
              <a:spAutoFit/>
            </a:bodyPr>
            <a:lstStyle/>
            <a:p>
              <a:pPr algn="l">
                <a:defRPr/>
              </a:pPr>
              <a:r>
                <a:rPr lang="en-US" altLang="en-US" dirty="0">
                  <a:solidFill>
                    <a:prstClr val="black">
                      <a:lumMod val="85000"/>
                      <a:lumOff val="15000"/>
                    </a:prstClr>
                  </a:solidFill>
                  <a:cs typeface="+mn-ea"/>
                  <a:sym typeface="+mn-lt"/>
                </a:rPr>
                <a:t>Backend (Logic &amp; API)</a:t>
              </a:r>
              <a:endParaRPr lang="en-US" altLang="en-US" dirty="0">
                <a:solidFill>
                  <a:prstClr val="black">
                    <a:lumMod val="85000"/>
                    <a:lumOff val="15000"/>
                  </a:prstClr>
                </a:solidFill>
                <a:cs typeface="+mn-ea"/>
                <a:sym typeface="+mn-lt"/>
              </a:endParaRPr>
            </a:p>
          </p:txBody>
        </p:sp>
      </p:grpSp>
      <p:grpSp>
        <p:nvGrpSpPr>
          <p:cNvPr id="3" name="组合 2"/>
          <p:cNvGrpSpPr/>
          <p:nvPr/>
        </p:nvGrpSpPr>
        <p:grpSpPr>
          <a:xfrm>
            <a:off x="1257947" y="3929265"/>
            <a:ext cx="2944451" cy="921043"/>
            <a:chOff x="1257947" y="3929265"/>
            <a:chExt cx="2944451" cy="921043"/>
          </a:xfrm>
        </p:grpSpPr>
        <p:sp>
          <p:nvSpPr>
            <p:cNvPr id="47" name="文本框 46"/>
            <p:cNvSpPr txBox="1"/>
            <p:nvPr/>
          </p:nvSpPr>
          <p:spPr>
            <a:xfrm>
              <a:off x="1257947" y="4266743"/>
              <a:ext cx="2944451" cy="583565"/>
            </a:xfrm>
            <a:prstGeom prst="rect">
              <a:avLst/>
            </a:prstGeom>
            <a:noFill/>
          </p:spPr>
          <p:txBody>
            <a:bodyPr wrap="square" rtlCol="0">
              <a:spAutoFit/>
            </a:bodyPr>
            <a:lstStyle/>
            <a:p>
              <a:pPr algn="just">
                <a:defRPr/>
              </a:pPr>
              <a:r>
                <a:rPr lang="en-US" altLang="en-US" sz="1600" dirty="0">
                  <a:solidFill>
                    <a:srgbClr val="E7E6E6">
                      <a:lumMod val="25000"/>
                    </a:srgbClr>
                  </a:solidFill>
                  <a:cs typeface="+mn-ea"/>
                  <a:sym typeface="+mn-lt"/>
                </a:rPr>
                <a:t>Python libraries - Responsible for intelligent parsing</a:t>
              </a:r>
              <a:endParaRPr lang="en-US" altLang="en-US" sz="1600" dirty="0">
                <a:solidFill>
                  <a:srgbClr val="E7E6E6">
                    <a:lumMod val="25000"/>
                  </a:srgbClr>
                </a:solidFill>
                <a:cs typeface="+mn-ea"/>
                <a:sym typeface="+mn-lt"/>
              </a:endParaRPr>
            </a:p>
          </p:txBody>
        </p:sp>
        <p:sp>
          <p:nvSpPr>
            <p:cNvPr id="48" name="TextBox 76"/>
            <p:cNvSpPr txBox="1"/>
            <p:nvPr/>
          </p:nvSpPr>
          <p:spPr>
            <a:xfrm>
              <a:off x="2461863" y="3929265"/>
              <a:ext cx="1740535" cy="368300"/>
            </a:xfrm>
            <a:prstGeom prst="rect">
              <a:avLst/>
            </a:prstGeom>
            <a:noFill/>
          </p:spPr>
          <p:txBody>
            <a:bodyPr wrap="none" rtlCol="0">
              <a:spAutoFit/>
            </a:bodyPr>
            <a:lstStyle/>
            <a:p>
              <a:pPr algn="r">
                <a:defRPr/>
              </a:pPr>
              <a:r>
                <a:rPr lang="en-US" altLang="en-US" dirty="0">
                  <a:solidFill>
                    <a:prstClr val="black">
                      <a:lumMod val="85000"/>
                      <a:lumOff val="15000"/>
                    </a:prstClr>
                  </a:solidFill>
                  <a:cs typeface="+mn-ea"/>
                  <a:sym typeface="+mn-lt"/>
                </a:rPr>
                <a:t>AI/NLP Engine:</a:t>
              </a:r>
              <a:endParaRPr lang="en-US" altLang="en-US" dirty="0">
                <a:solidFill>
                  <a:prstClr val="black">
                    <a:lumMod val="85000"/>
                    <a:lumOff val="15000"/>
                  </a:prstClr>
                </a:solidFill>
                <a:cs typeface="+mn-ea"/>
                <a:sym typeface="+mn-lt"/>
              </a:endParaRPr>
            </a:p>
          </p:txBody>
        </p:sp>
      </p:grpSp>
      <p:grpSp>
        <p:nvGrpSpPr>
          <p:cNvPr id="2" name="组合 1"/>
          <p:cNvGrpSpPr/>
          <p:nvPr/>
        </p:nvGrpSpPr>
        <p:grpSpPr>
          <a:xfrm>
            <a:off x="1267472" y="1767858"/>
            <a:ext cx="2944451" cy="1167423"/>
            <a:chOff x="1267472" y="1767858"/>
            <a:chExt cx="2944451" cy="1167423"/>
          </a:xfrm>
        </p:grpSpPr>
        <p:sp>
          <p:nvSpPr>
            <p:cNvPr id="49" name="文本框 48"/>
            <p:cNvSpPr txBox="1"/>
            <p:nvPr/>
          </p:nvSpPr>
          <p:spPr>
            <a:xfrm>
              <a:off x="1267472" y="2105336"/>
              <a:ext cx="2944451" cy="829945"/>
            </a:xfrm>
            <a:prstGeom prst="rect">
              <a:avLst/>
            </a:prstGeom>
            <a:noFill/>
          </p:spPr>
          <p:txBody>
            <a:bodyPr wrap="square" rtlCol="0">
              <a:spAutoFit/>
            </a:bodyPr>
            <a:lstStyle/>
            <a:p>
              <a:pPr algn="just">
                <a:defRPr/>
              </a:pPr>
              <a:r>
                <a:rPr lang="en-US" altLang="en-US" sz="1600" dirty="0">
                  <a:solidFill>
                    <a:srgbClr val="E7E6E6">
                      <a:lumMod val="25000"/>
                    </a:srgbClr>
                  </a:solidFill>
                  <a:cs typeface="+mn-ea"/>
                  <a:sym typeface="+mn-lt"/>
                </a:rPr>
                <a:t>React and Tailwind - Focused on mobile-first and intuitive design.</a:t>
              </a:r>
              <a:endParaRPr lang="en-US" altLang="en-US" sz="1600" dirty="0">
                <a:solidFill>
                  <a:srgbClr val="E7E6E6">
                    <a:lumMod val="25000"/>
                  </a:srgbClr>
                </a:solidFill>
                <a:cs typeface="+mn-ea"/>
                <a:sym typeface="+mn-lt"/>
              </a:endParaRPr>
            </a:p>
          </p:txBody>
        </p:sp>
        <p:sp>
          <p:nvSpPr>
            <p:cNvPr id="50" name="TextBox 76"/>
            <p:cNvSpPr txBox="1"/>
            <p:nvPr/>
          </p:nvSpPr>
          <p:spPr>
            <a:xfrm>
              <a:off x="1390618" y="1767858"/>
              <a:ext cx="2811780" cy="368300"/>
            </a:xfrm>
            <a:prstGeom prst="rect">
              <a:avLst/>
            </a:prstGeom>
            <a:noFill/>
          </p:spPr>
          <p:txBody>
            <a:bodyPr wrap="none" rtlCol="0">
              <a:spAutoFit/>
            </a:bodyPr>
            <a:lstStyle/>
            <a:p>
              <a:pPr algn="r">
                <a:defRPr/>
              </a:pPr>
              <a:r>
                <a:rPr lang="en-US" altLang="en-US" dirty="0">
                  <a:solidFill>
                    <a:srgbClr val="E7E6E6">
                      <a:lumMod val="25000"/>
                    </a:srgbClr>
                  </a:solidFill>
                  <a:cs typeface="+mn-ea"/>
                  <a:sym typeface="+mn-lt"/>
                </a:rPr>
                <a:t>Frontend (User Interface):</a:t>
              </a:r>
              <a:endParaRPr lang="zh-CN" altLang="en-US" dirty="0">
                <a:solidFill>
                  <a:prstClr val="black">
                    <a:lumMod val="85000"/>
                    <a:lumOff val="15000"/>
                  </a:prstClr>
                </a:solidFill>
                <a:cs typeface="+mn-ea"/>
                <a:sym typeface="+mn-lt"/>
              </a:endParaRPr>
            </a:p>
          </p:txBody>
        </p:sp>
      </p:grpSp>
      <p:grpSp>
        <p:nvGrpSpPr>
          <p:cNvPr id="9" name="组合 8"/>
          <p:cNvGrpSpPr/>
          <p:nvPr/>
        </p:nvGrpSpPr>
        <p:grpSpPr>
          <a:xfrm>
            <a:off x="6153584" y="5049446"/>
            <a:ext cx="1565042" cy="739346"/>
            <a:chOff x="6153584" y="5049446"/>
            <a:chExt cx="1565042" cy="739346"/>
          </a:xfrm>
        </p:grpSpPr>
        <p:sp>
          <p:nvSpPr>
            <p:cNvPr id="38" name="Connector 59"/>
            <p:cNvSpPr/>
            <p:nvPr/>
          </p:nvSpPr>
          <p:spPr>
            <a:xfrm rot="5400000" flipH="1">
              <a:off x="6566432" y="4636598"/>
              <a:ext cx="739346" cy="1565042"/>
            </a:xfrm>
            <a:prstGeom prst="flowChartOffpageConnector">
              <a:avLst/>
            </a:prstGeom>
            <a:solidFill>
              <a:srgbClr val="52525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defRPr/>
              </a:pPr>
              <a:endParaRPr lang="en-US" sz="3600" dirty="0">
                <a:solidFill>
                  <a:prstClr val="white"/>
                </a:solidFill>
                <a:cs typeface="+mn-ea"/>
                <a:sym typeface="+mn-lt"/>
              </a:endParaRPr>
            </a:p>
          </p:txBody>
        </p:sp>
        <p:sp>
          <p:nvSpPr>
            <p:cNvPr id="33" name="Freeform 35"/>
            <p:cNvSpPr>
              <a:spLocks noChangeAspect="1" noEditPoints="1"/>
            </p:cNvSpPr>
            <p:nvPr/>
          </p:nvSpPr>
          <p:spPr bwMode="auto">
            <a:xfrm>
              <a:off x="6772961" y="5245119"/>
              <a:ext cx="596571" cy="347999"/>
            </a:xfrm>
            <a:custGeom>
              <a:avLst/>
              <a:gdLst>
                <a:gd name="T0" fmla="*/ 135 w 157"/>
                <a:gd name="T1" fmla="*/ 46 h 106"/>
                <a:gd name="T2" fmla="*/ 136 w 157"/>
                <a:gd name="T3" fmla="*/ 37 h 106"/>
                <a:gd name="T4" fmla="*/ 99 w 157"/>
                <a:gd name="T5" fmla="*/ 0 h 106"/>
                <a:gd name="T6" fmla="*/ 73 w 157"/>
                <a:gd name="T7" fmla="*/ 18 h 106"/>
                <a:gd name="T8" fmla="*/ 45 w 157"/>
                <a:gd name="T9" fmla="*/ 8 h 106"/>
                <a:gd name="T10" fmla="*/ 19 w 157"/>
                <a:gd name="T11" fmla="*/ 39 h 106"/>
                <a:gd name="T12" fmla="*/ 20 w 157"/>
                <a:gd name="T13" fmla="*/ 47 h 106"/>
                <a:gd name="T14" fmla="*/ 0 w 157"/>
                <a:gd name="T15" fmla="*/ 75 h 106"/>
                <a:gd name="T16" fmla="*/ 31 w 157"/>
                <a:gd name="T17" fmla="*/ 106 h 106"/>
                <a:gd name="T18" fmla="*/ 126 w 157"/>
                <a:gd name="T19" fmla="*/ 106 h 106"/>
                <a:gd name="T20" fmla="*/ 157 w 157"/>
                <a:gd name="T21" fmla="*/ 75 h 106"/>
                <a:gd name="T22" fmla="*/ 135 w 157"/>
                <a:gd name="T23" fmla="*/ 46 h 106"/>
                <a:gd name="T24" fmla="*/ 120 w 157"/>
                <a:gd name="T25" fmla="*/ 100 h 106"/>
                <a:gd name="T26" fmla="*/ 79 w 157"/>
                <a:gd name="T27" fmla="*/ 100 h 106"/>
                <a:gd name="T28" fmla="*/ 103 w 157"/>
                <a:gd name="T29" fmla="*/ 75 h 106"/>
                <a:gd name="T30" fmla="*/ 102 w 157"/>
                <a:gd name="T31" fmla="*/ 72 h 106"/>
                <a:gd name="T32" fmla="*/ 92 w 157"/>
                <a:gd name="T33" fmla="*/ 72 h 106"/>
                <a:gd name="T34" fmla="*/ 92 w 157"/>
                <a:gd name="T35" fmla="*/ 68 h 106"/>
                <a:gd name="T36" fmla="*/ 92 w 157"/>
                <a:gd name="T37" fmla="*/ 37 h 106"/>
                <a:gd name="T38" fmla="*/ 90 w 157"/>
                <a:gd name="T39" fmla="*/ 35 h 106"/>
                <a:gd name="T40" fmla="*/ 64 w 157"/>
                <a:gd name="T41" fmla="*/ 35 h 106"/>
                <a:gd name="T42" fmla="*/ 62 w 157"/>
                <a:gd name="T43" fmla="*/ 37 h 106"/>
                <a:gd name="T44" fmla="*/ 62 w 157"/>
                <a:gd name="T45" fmla="*/ 68 h 106"/>
                <a:gd name="T46" fmla="*/ 62 w 157"/>
                <a:gd name="T47" fmla="*/ 73 h 106"/>
                <a:gd name="T48" fmla="*/ 51 w 157"/>
                <a:gd name="T49" fmla="*/ 73 h 106"/>
                <a:gd name="T50" fmla="*/ 50 w 157"/>
                <a:gd name="T51" fmla="*/ 76 h 106"/>
                <a:gd name="T52" fmla="*/ 75 w 157"/>
                <a:gd name="T53" fmla="*/ 100 h 106"/>
                <a:gd name="T54" fmla="*/ 38 w 157"/>
                <a:gd name="T55" fmla="*/ 100 h 106"/>
                <a:gd name="T56" fmla="*/ 11 w 157"/>
                <a:gd name="T57" fmla="*/ 74 h 106"/>
                <a:gd name="T58" fmla="*/ 29 w 157"/>
                <a:gd name="T59" fmla="*/ 50 h 106"/>
                <a:gd name="T60" fmla="*/ 28 w 157"/>
                <a:gd name="T61" fmla="*/ 44 h 106"/>
                <a:gd name="T62" fmla="*/ 50 w 157"/>
                <a:gd name="T63" fmla="*/ 17 h 106"/>
                <a:gd name="T64" fmla="*/ 74 w 157"/>
                <a:gd name="T65" fmla="*/ 29 h 106"/>
                <a:gd name="T66" fmla="*/ 97 w 157"/>
                <a:gd name="T67" fmla="*/ 10 h 106"/>
                <a:gd name="T68" fmla="*/ 128 w 157"/>
                <a:gd name="T69" fmla="*/ 42 h 106"/>
                <a:gd name="T70" fmla="*/ 127 w 157"/>
                <a:gd name="T71" fmla="*/ 49 h 106"/>
                <a:gd name="T72" fmla="*/ 147 w 157"/>
                <a:gd name="T73" fmla="*/ 74 h 106"/>
                <a:gd name="T74" fmla="*/ 120 w 157"/>
                <a:gd name="T75" fmla="*/ 10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7" h="106">
                  <a:moveTo>
                    <a:pt x="135" y="46"/>
                  </a:moveTo>
                  <a:cubicBezTo>
                    <a:pt x="136" y="43"/>
                    <a:pt x="136" y="40"/>
                    <a:pt x="136" y="37"/>
                  </a:cubicBezTo>
                  <a:cubicBezTo>
                    <a:pt x="136" y="16"/>
                    <a:pt x="120" y="0"/>
                    <a:pt x="99" y="0"/>
                  </a:cubicBezTo>
                  <a:cubicBezTo>
                    <a:pt x="76" y="0"/>
                    <a:pt x="73" y="18"/>
                    <a:pt x="73" y="18"/>
                  </a:cubicBezTo>
                  <a:cubicBezTo>
                    <a:pt x="73" y="18"/>
                    <a:pt x="63" y="6"/>
                    <a:pt x="45" y="8"/>
                  </a:cubicBezTo>
                  <a:cubicBezTo>
                    <a:pt x="30" y="11"/>
                    <a:pt x="19" y="25"/>
                    <a:pt x="19" y="39"/>
                  </a:cubicBezTo>
                  <a:cubicBezTo>
                    <a:pt x="19" y="42"/>
                    <a:pt x="20" y="44"/>
                    <a:pt x="20" y="47"/>
                  </a:cubicBezTo>
                  <a:cubicBezTo>
                    <a:pt x="9" y="51"/>
                    <a:pt x="0" y="62"/>
                    <a:pt x="0" y="75"/>
                  </a:cubicBezTo>
                  <a:cubicBezTo>
                    <a:pt x="0" y="92"/>
                    <a:pt x="14" y="106"/>
                    <a:pt x="31" y="106"/>
                  </a:cubicBezTo>
                  <a:cubicBezTo>
                    <a:pt x="126" y="106"/>
                    <a:pt x="126" y="106"/>
                    <a:pt x="126" y="106"/>
                  </a:cubicBezTo>
                  <a:cubicBezTo>
                    <a:pt x="143" y="106"/>
                    <a:pt x="157" y="92"/>
                    <a:pt x="157" y="75"/>
                  </a:cubicBezTo>
                  <a:cubicBezTo>
                    <a:pt x="157" y="62"/>
                    <a:pt x="148" y="50"/>
                    <a:pt x="135" y="46"/>
                  </a:cubicBezTo>
                  <a:close/>
                  <a:moveTo>
                    <a:pt x="120" y="100"/>
                  </a:moveTo>
                  <a:cubicBezTo>
                    <a:pt x="79" y="100"/>
                    <a:pt x="79" y="100"/>
                    <a:pt x="79" y="100"/>
                  </a:cubicBezTo>
                  <a:cubicBezTo>
                    <a:pt x="82" y="97"/>
                    <a:pt x="103" y="75"/>
                    <a:pt x="103" y="75"/>
                  </a:cubicBezTo>
                  <a:cubicBezTo>
                    <a:pt x="103" y="75"/>
                    <a:pt x="106" y="72"/>
                    <a:pt x="102" y="72"/>
                  </a:cubicBezTo>
                  <a:cubicBezTo>
                    <a:pt x="98" y="72"/>
                    <a:pt x="92" y="72"/>
                    <a:pt x="92" y="72"/>
                  </a:cubicBezTo>
                  <a:cubicBezTo>
                    <a:pt x="92" y="72"/>
                    <a:pt x="92" y="70"/>
                    <a:pt x="92" y="68"/>
                  </a:cubicBezTo>
                  <a:cubicBezTo>
                    <a:pt x="92" y="59"/>
                    <a:pt x="92" y="43"/>
                    <a:pt x="92" y="37"/>
                  </a:cubicBezTo>
                  <a:cubicBezTo>
                    <a:pt x="92" y="37"/>
                    <a:pt x="92" y="35"/>
                    <a:pt x="90" y="35"/>
                  </a:cubicBezTo>
                  <a:cubicBezTo>
                    <a:pt x="88" y="35"/>
                    <a:pt x="67" y="35"/>
                    <a:pt x="64" y="35"/>
                  </a:cubicBezTo>
                  <a:cubicBezTo>
                    <a:pt x="61" y="35"/>
                    <a:pt x="62" y="37"/>
                    <a:pt x="62" y="37"/>
                  </a:cubicBezTo>
                  <a:cubicBezTo>
                    <a:pt x="62" y="44"/>
                    <a:pt x="62" y="59"/>
                    <a:pt x="62" y="68"/>
                  </a:cubicBezTo>
                  <a:cubicBezTo>
                    <a:pt x="62" y="71"/>
                    <a:pt x="62" y="73"/>
                    <a:pt x="62" y="73"/>
                  </a:cubicBezTo>
                  <a:cubicBezTo>
                    <a:pt x="62" y="73"/>
                    <a:pt x="54" y="73"/>
                    <a:pt x="51" y="73"/>
                  </a:cubicBezTo>
                  <a:cubicBezTo>
                    <a:pt x="47" y="73"/>
                    <a:pt x="50" y="76"/>
                    <a:pt x="50" y="76"/>
                  </a:cubicBezTo>
                  <a:cubicBezTo>
                    <a:pt x="75" y="100"/>
                    <a:pt x="75" y="100"/>
                    <a:pt x="75" y="100"/>
                  </a:cubicBezTo>
                  <a:cubicBezTo>
                    <a:pt x="38" y="100"/>
                    <a:pt x="38" y="100"/>
                    <a:pt x="38" y="100"/>
                  </a:cubicBezTo>
                  <a:cubicBezTo>
                    <a:pt x="23" y="100"/>
                    <a:pt x="11" y="88"/>
                    <a:pt x="11" y="74"/>
                  </a:cubicBezTo>
                  <a:cubicBezTo>
                    <a:pt x="11" y="63"/>
                    <a:pt x="18" y="53"/>
                    <a:pt x="29" y="50"/>
                  </a:cubicBezTo>
                  <a:cubicBezTo>
                    <a:pt x="28" y="48"/>
                    <a:pt x="28" y="46"/>
                    <a:pt x="28" y="44"/>
                  </a:cubicBezTo>
                  <a:cubicBezTo>
                    <a:pt x="28" y="31"/>
                    <a:pt x="37" y="19"/>
                    <a:pt x="50" y="17"/>
                  </a:cubicBezTo>
                  <a:cubicBezTo>
                    <a:pt x="65" y="15"/>
                    <a:pt x="74" y="29"/>
                    <a:pt x="74" y="29"/>
                  </a:cubicBezTo>
                  <a:cubicBezTo>
                    <a:pt x="74" y="29"/>
                    <a:pt x="77" y="10"/>
                    <a:pt x="97" y="10"/>
                  </a:cubicBezTo>
                  <a:cubicBezTo>
                    <a:pt x="115" y="10"/>
                    <a:pt x="128" y="24"/>
                    <a:pt x="128" y="42"/>
                  </a:cubicBezTo>
                  <a:cubicBezTo>
                    <a:pt x="128" y="44"/>
                    <a:pt x="127" y="47"/>
                    <a:pt x="127" y="49"/>
                  </a:cubicBezTo>
                  <a:cubicBezTo>
                    <a:pt x="138" y="53"/>
                    <a:pt x="147" y="62"/>
                    <a:pt x="147" y="74"/>
                  </a:cubicBezTo>
                  <a:cubicBezTo>
                    <a:pt x="147" y="88"/>
                    <a:pt x="135" y="100"/>
                    <a:pt x="120" y="100"/>
                  </a:cubicBezTo>
                  <a:close/>
                </a:path>
              </a:pathLst>
            </a:custGeom>
            <a:solidFill>
              <a:schemeClr val="bg1"/>
            </a:solidFill>
            <a:ln>
              <a:noFill/>
            </a:ln>
          </p:spPr>
          <p:txBody>
            <a:bodyPr vert="horz" wrap="square" lIns="121920" tIns="60960" rIns="121920" bIns="60960" numCol="1" anchor="t" anchorCtr="0" compatLnSpc="1"/>
            <a:lstStyle/>
            <a:p>
              <a:pPr>
                <a:defRPr/>
              </a:pPr>
              <a:endParaRPr lang="en-US" sz="3200">
                <a:solidFill>
                  <a:prstClr val="black"/>
                </a:solidFill>
                <a:cs typeface="+mn-ea"/>
                <a:sym typeface="+mn-lt"/>
              </a:endParaRPr>
            </a:p>
          </p:txBody>
        </p:sp>
      </p:grpSp>
      <p:grpSp>
        <p:nvGrpSpPr>
          <p:cNvPr id="7" name="组合 6"/>
          <p:cNvGrpSpPr/>
          <p:nvPr/>
        </p:nvGrpSpPr>
        <p:grpSpPr>
          <a:xfrm>
            <a:off x="6153584" y="2894341"/>
            <a:ext cx="1565042" cy="739346"/>
            <a:chOff x="6153584" y="2894341"/>
            <a:chExt cx="1565042" cy="739346"/>
          </a:xfrm>
        </p:grpSpPr>
        <p:sp>
          <p:nvSpPr>
            <p:cNvPr id="36" name="Connector 32"/>
            <p:cNvSpPr/>
            <p:nvPr/>
          </p:nvSpPr>
          <p:spPr>
            <a:xfrm rot="5400000" flipH="1">
              <a:off x="6566432" y="2481493"/>
              <a:ext cx="739346" cy="1565042"/>
            </a:xfrm>
            <a:prstGeom prst="flowChartOffpageConnector">
              <a:avLst/>
            </a:prstGeom>
            <a:solidFill>
              <a:srgbClr val="52525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defRPr/>
              </a:pPr>
              <a:endParaRPr lang="en-US" sz="3600" dirty="0">
                <a:solidFill>
                  <a:prstClr val="white"/>
                </a:solidFill>
                <a:cs typeface="+mn-ea"/>
                <a:sym typeface="+mn-lt"/>
              </a:endParaRPr>
            </a:p>
          </p:txBody>
        </p:sp>
        <p:grpSp>
          <p:nvGrpSpPr>
            <p:cNvPr id="24" name="组合 23"/>
            <p:cNvGrpSpPr/>
            <p:nvPr/>
          </p:nvGrpSpPr>
          <p:grpSpPr>
            <a:xfrm>
              <a:off x="6823137" y="3079484"/>
              <a:ext cx="463569" cy="461665"/>
              <a:chOff x="6622902" y="4065869"/>
              <a:chExt cx="546329" cy="611888"/>
            </a:xfrm>
            <a:solidFill>
              <a:schemeClr val="bg1"/>
            </a:solidFill>
          </p:grpSpPr>
          <p:sp>
            <p:nvSpPr>
              <p:cNvPr id="25" name="Freeform 628"/>
              <p:cNvSpPr/>
              <p:nvPr/>
            </p:nvSpPr>
            <p:spPr bwMode="auto">
              <a:xfrm>
                <a:off x="6726706" y="4169670"/>
                <a:ext cx="344189" cy="289556"/>
              </a:xfrm>
              <a:custGeom>
                <a:avLst/>
                <a:gdLst>
                  <a:gd name="T0" fmla="*/ 163 w 163"/>
                  <a:gd name="T1" fmla="*/ 81 h 139"/>
                  <a:gd name="T2" fmla="*/ 81 w 163"/>
                  <a:gd name="T3" fmla="*/ 0 h 139"/>
                  <a:gd name="T4" fmla="*/ 0 w 163"/>
                  <a:gd name="T5" fmla="*/ 81 h 139"/>
                  <a:gd name="T6" fmla="*/ 24 w 163"/>
                  <a:gd name="T7" fmla="*/ 139 h 139"/>
                  <a:gd name="T8" fmla="*/ 39 w 163"/>
                  <a:gd name="T9" fmla="*/ 120 h 139"/>
                  <a:gd name="T10" fmla="*/ 24 w 163"/>
                  <a:gd name="T11" fmla="*/ 81 h 139"/>
                  <a:gd name="T12" fmla="*/ 81 w 163"/>
                  <a:gd name="T13" fmla="*/ 24 h 139"/>
                  <a:gd name="T14" fmla="*/ 139 w 163"/>
                  <a:gd name="T15" fmla="*/ 81 h 139"/>
                  <a:gd name="T16" fmla="*/ 123 w 163"/>
                  <a:gd name="T17" fmla="*/ 120 h 139"/>
                  <a:gd name="T18" fmla="*/ 139 w 163"/>
                  <a:gd name="T19" fmla="*/ 139 h 139"/>
                  <a:gd name="T20" fmla="*/ 163 w 163"/>
                  <a:gd name="T21" fmla="*/ 8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139">
                    <a:moveTo>
                      <a:pt x="163" y="81"/>
                    </a:moveTo>
                    <a:cubicBezTo>
                      <a:pt x="163" y="36"/>
                      <a:pt x="126" y="0"/>
                      <a:pt x="81" y="0"/>
                    </a:cubicBezTo>
                    <a:cubicBezTo>
                      <a:pt x="36" y="0"/>
                      <a:pt x="0" y="36"/>
                      <a:pt x="0" y="81"/>
                    </a:cubicBezTo>
                    <a:cubicBezTo>
                      <a:pt x="0" y="104"/>
                      <a:pt x="9" y="124"/>
                      <a:pt x="24" y="139"/>
                    </a:cubicBezTo>
                    <a:cubicBezTo>
                      <a:pt x="28" y="132"/>
                      <a:pt x="33" y="126"/>
                      <a:pt x="39" y="120"/>
                    </a:cubicBezTo>
                    <a:cubicBezTo>
                      <a:pt x="30" y="110"/>
                      <a:pt x="24" y="96"/>
                      <a:pt x="24" y="81"/>
                    </a:cubicBezTo>
                    <a:cubicBezTo>
                      <a:pt x="24" y="50"/>
                      <a:pt x="49" y="24"/>
                      <a:pt x="81" y="24"/>
                    </a:cubicBezTo>
                    <a:cubicBezTo>
                      <a:pt x="113" y="24"/>
                      <a:pt x="139" y="50"/>
                      <a:pt x="139" y="81"/>
                    </a:cubicBezTo>
                    <a:cubicBezTo>
                      <a:pt x="139" y="96"/>
                      <a:pt x="133" y="110"/>
                      <a:pt x="123" y="120"/>
                    </a:cubicBezTo>
                    <a:cubicBezTo>
                      <a:pt x="129" y="125"/>
                      <a:pt x="135" y="132"/>
                      <a:pt x="139" y="139"/>
                    </a:cubicBezTo>
                    <a:cubicBezTo>
                      <a:pt x="153" y="124"/>
                      <a:pt x="163" y="104"/>
                      <a:pt x="163" y="81"/>
                    </a:cubicBezTo>
                    <a:close/>
                  </a:path>
                </a:pathLst>
              </a:custGeom>
              <a:grpFill/>
              <a:ln>
                <a:noFill/>
              </a:ln>
            </p:spPr>
            <p:txBody>
              <a:bodyPr/>
              <a:lstStyle/>
              <a:p>
                <a:pPr>
                  <a:defRPr/>
                </a:pPr>
                <a:endParaRPr lang="zh-CN" altLang="en-US">
                  <a:solidFill>
                    <a:prstClr val="black"/>
                  </a:solidFill>
                  <a:cs typeface="+mn-ea"/>
                  <a:sym typeface="+mn-lt"/>
                </a:endParaRPr>
              </a:p>
            </p:txBody>
          </p:sp>
          <p:sp>
            <p:nvSpPr>
              <p:cNvPr id="26" name="Freeform 629"/>
              <p:cNvSpPr/>
              <p:nvPr/>
            </p:nvSpPr>
            <p:spPr bwMode="auto">
              <a:xfrm>
                <a:off x="6622902" y="4065869"/>
                <a:ext cx="546329" cy="513549"/>
              </a:xfrm>
              <a:custGeom>
                <a:avLst/>
                <a:gdLst>
                  <a:gd name="T0" fmla="*/ 259 w 259"/>
                  <a:gd name="T1" fmla="*/ 129 h 244"/>
                  <a:gd name="T2" fmla="*/ 130 w 259"/>
                  <a:gd name="T3" fmla="*/ 0 h 244"/>
                  <a:gd name="T4" fmla="*/ 0 w 259"/>
                  <a:gd name="T5" fmla="*/ 129 h 244"/>
                  <a:gd name="T6" fmla="*/ 70 w 259"/>
                  <a:gd name="T7" fmla="*/ 244 h 244"/>
                  <a:gd name="T8" fmla="*/ 65 w 259"/>
                  <a:gd name="T9" fmla="*/ 217 h 244"/>
                  <a:gd name="T10" fmla="*/ 65 w 259"/>
                  <a:gd name="T11" fmla="*/ 214 h 244"/>
                  <a:gd name="T12" fmla="*/ 23 w 259"/>
                  <a:gd name="T13" fmla="*/ 129 h 244"/>
                  <a:gd name="T14" fmla="*/ 130 w 259"/>
                  <a:gd name="T15" fmla="*/ 23 h 244"/>
                  <a:gd name="T16" fmla="*/ 236 w 259"/>
                  <a:gd name="T17" fmla="*/ 129 h 244"/>
                  <a:gd name="T18" fmla="*/ 195 w 259"/>
                  <a:gd name="T19" fmla="*/ 214 h 244"/>
                  <a:gd name="T20" fmla="*/ 195 w 259"/>
                  <a:gd name="T21" fmla="*/ 217 h 244"/>
                  <a:gd name="T22" fmla="*/ 191 w 259"/>
                  <a:gd name="T23" fmla="*/ 244 h 244"/>
                  <a:gd name="T24" fmla="*/ 259 w 259"/>
                  <a:gd name="T25" fmla="*/ 129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9" h="244">
                    <a:moveTo>
                      <a:pt x="259" y="129"/>
                    </a:moveTo>
                    <a:cubicBezTo>
                      <a:pt x="259" y="58"/>
                      <a:pt x="201" y="0"/>
                      <a:pt x="130" y="0"/>
                    </a:cubicBezTo>
                    <a:cubicBezTo>
                      <a:pt x="58" y="0"/>
                      <a:pt x="0" y="58"/>
                      <a:pt x="0" y="129"/>
                    </a:cubicBezTo>
                    <a:cubicBezTo>
                      <a:pt x="0" y="179"/>
                      <a:pt x="29" y="223"/>
                      <a:pt x="70" y="244"/>
                    </a:cubicBezTo>
                    <a:cubicBezTo>
                      <a:pt x="67" y="233"/>
                      <a:pt x="65" y="223"/>
                      <a:pt x="65" y="217"/>
                    </a:cubicBezTo>
                    <a:cubicBezTo>
                      <a:pt x="65" y="216"/>
                      <a:pt x="65" y="215"/>
                      <a:pt x="65" y="214"/>
                    </a:cubicBezTo>
                    <a:cubicBezTo>
                      <a:pt x="40" y="195"/>
                      <a:pt x="23" y="164"/>
                      <a:pt x="23" y="129"/>
                    </a:cubicBezTo>
                    <a:cubicBezTo>
                      <a:pt x="23" y="71"/>
                      <a:pt x="71" y="23"/>
                      <a:pt x="130" y="23"/>
                    </a:cubicBezTo>
                    <a:cubicBezTo>
                      <a:pt x="189" y="23"/>
                      <a:pt x="236" y="71"/>
                      <a:pt x="236" y="129"/>
                    </a:cubicBezTo>
                    <a:cubicBezTo>
                      <a:pt x="236" y="164"/>
                      <a:pt x="220" y="194"/>
                      <a:pt x="195" y="214"/>
                    </a:cubicBezTo>
                    <a:cubicBezTo>
                      <a:pt x="195" y="215"/>
                      <a:pt x="195" y="216"/>
                      <a:pt x="195" y="217"/>
                    </a:cubicBezTo>
                    <a:cubicBezTo>
                      <a:pt x="195" y="223"/>
                      <a:pt x="193" y="233"/>
                      <a:pt x="191" y="244"/>
                    </a:cubicBezTo>
                    <a:cubicBezTo>
                      <a:pt x="232" y="222"/>
                      <a:pt x="259" y="179"/>
                      <a:pt x="259" y="129"/>
                    </a:cubicBezTo>
                    <a:close/>
                  </a:path>
                </a:pathLst>
              </a:custGeom>
              <a:grpFill/>
              <a:ln>
                <a:noFill/>
              </a:ln>
            </p:spPr>
            <p:txBody>
              <a:bodyPr/>
              <a:lstStyle/>
              <a:p>
                <a:pPr>
                  <a:defRPr/>
                </a:pPr>
                <a:endParaRPr lang="zh-CN" altLang="en-US">
                  <a:solidFill>
                    <a:prstClr val="black"/>
                  </a:solidFill>
                  <a:cs typeface="+mn-ea"/>
                  <a:sym typeface="+mn-lt"/>
                </a:endParaRPr>
              </a:p>
            </p:txBody>
          </p:sp>
          <p:sp>
            <p:nvSpPr>
              <p:cNvPr id="27" name="Freeform 630"/>
              <p:cNvSpPr/>
              <p:nvPr/>
            </p:nvSpPr>
            <p:spPr bwMode="auto">
              <a:xfrm>
                <a:off x="6808654" y="4437372"/>
                <a:ext cx="174825" cy="240385"/>
              </a:xfrm>
              <a:custGeom>
                <a:avLst/>
                <a:gdLst>
                  <a:gd name="T0" fmla="*/ 21 w 84"/>
                  <a:gd name="T1" fmla="*/ 113 h 113"/>
                  <a:gd name="T2" fmla="*/ 64 w 84"/>
                  <a:gd name="T3" fmla="*/ 113 h 113"/>
                  <a:gd name="T4" fmla="*/ 84 w 84"/>
                  <a:gd name="T5" fmla="*/ 41 h 113"/>
                  <a:gd name="T6" fmla="*/ 43 w 84"/>
                  <a:gd name="T7" fmla="*/ 0 h 113"/>
                  <a:gd name="T8" fmla="*/ 42 w 84"/>
                  <a:gd name="T9" fmla="*/ 0 h 113"/>
                  <a:gd name="T10" fmla="*/ 42 w 84"/>
                  <a:gd name="T11" fmla="*/ 0 h 113"/>
                  <a:gd name="T12" fmla="*/ 42 w 84"/>
                  <a:gd name="T13" fmla="*/ 0 h 113"/>
                  <a:gd name="T14" fmla="*/ 42 w 84"/>
                  <a:gd name="T15" fmla="*/ 0 h 113"/>
                  <a:gd name="T16" fmla="*/ 0 w 84"/>
                  <a:gd name="T17" fmla="*/ 41 h 113"/>
                  <a:gd name="T18" fmla="*/ 21 w 8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113">
                    <a:moveTo>
                      <a:pt x="21" y="113"/>
                    </a:moveTo>
                    <a:cubicBezTo>
                      <a:pt x="64" y="113"/>
                      <a:pt x="64" y="113"/>
                      <a:pt x="64" y="113"/>
                    </a:cubicBezTo>
                    <a:cubicBezTo>
                      <a:pt x="73" y="90"/>
                      <a:pt x="84" y="52"/>
                      <a:pt x="84" y="41"/>
                    </a:cubicBezTo>
                    <a:cubicBezTo>
                      <a:pt x="84" y="19"/>
                      <a:pt x="66" y="0"/>
                      <a:pt x="43" y="0"/>
                    </a:cubicBezTo>
                    <a:cubicBezTo>
                      <a:pt x="43" y="0"/>
                      <a:pt x="43" y="0"/>
                      <a:pt x="42" y="0"/>
                    </a:cubicBezTo>
                    <a:cubicBezTo>
                      <a:pt x="42" y="0"/>
                      <a:pt x="42" y="0"/>
                      <a:pt x="42" y="0"/>
                    </a:cubicBezTo>
                    <a:cubicBezTo>
                      <a:pt x="42" y="0"/>
                      <a:pt x="42" y="0"/>
                      <a:pt x="42" y="0"/>
                    </a:cubicBezTo>
                    <a:cubicBezTo>
                      <a:pt x="42" y="0"/>
                      <a:pt x="42" y="0"/>
                      <a:pt x="42" y="0"/>
                    </a:cubicBezTo>
                    <a:cubicBezTo>
                      <a:pt x="19" y="0"/>
                      <a:pt x="0" y="19"/>
                      <a:pt x="0" y="41"/>
                    </a:cubicBezTo>
                    <a:cubicBezTo>
                      <a:pt x="0" y="52"/>
                      <a:pt x="11" y="90"/>
                      <a:pt x="21" y="113"/>
                    </a:cubicBezTo>
                    <a:close/>
                  </a:path>
                </a:pathLst>
              </a:custGeom>
              <a:grpFill/>
              <a:ln>
                <a:noFill/>
              </a:ln>
            </p:spPr>
            <p:txBody>
              <a:bodyPr/>
              <a:lstStyle/>
              <a:p>
                <a:pPr>
                  <a:defRPr/>
                </a:pPr>
                <a:endParaRPr lang="zh-CN" altLang="en-US">
                  <a:solidFill>
                    <a:prstClr val="black"/>
                  </a:solidFill>
                  <a:cs typeface="+mn-ea"/>
                  <a:sym typeface="+mn-lt"/>
                </a:endParaRPr>
              </a:p>
            </p:txBody>
          </p:sp>
          <p:sp>
            <p:nvSpPr>
              <p:cNvPr id="28" name="Freeform 631"/>
              <p:cNvSpPr/>
              <p:nvPr/>
            </p:nvSpPr>
            <p:spPr bwMode="auto">
              <a:xfrm>
                <a:off x="6830507" y="4273474"/>
                <a:ext cx="125657" cy="131119"/>
              </a:xfrm>
              <a:custGeom>
                <a:avLst/>
                <a:gdLst>
                  <a:gd name="T0" fmla="*/ 60 w 60"/>
                  <a:gd name="T1" fmla="*/ 30 h 61"/>
                  <a:gd name="T2" fmla="*/ 30 w 60"/>
                  <a:gd name="T3" fmla="*/ 0 h 61"/>
                  <a:gd name="T4" fmla="*/ 0 w 60"/>
                  <a:gd name="T5" fmla="*/ 30 h 61"/>
                  <a:gd name="T6" fmla="*/ 14 w 60"/>
                  <a:gd name="T7" fmla="*/ 56 h 61"/>
                  <a:gd name="T8" fmla="*/ 30 w 60"/>
                  <a:gd name="T9" fmla="*/ 61 h 61"/>
                  <a:gd name="T10" fmla="*/ 46 w 60"/>
                  <a:gd name="T11" fmla="*/ 56 h 61"/>
                  <a:gd name="T12" fmla="*/ 60 w 60"/>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60" h="61">
                    <a:moveTo>
                      <a:pt x="60" y="30"/>
                    </a:moveTo>
                    <a:cubicBezTo>
                      <a:pt x="60" y="14"/>
                      <a:pt x="47" y="0"/>
                      <a:pt x="30" y="0"/>
                    </a:cubicBezTo>
                    <a:cubicBezTo>
                      <a:pt x="13" y="0"/>
                      <a:pt x="0" y="14"/>
                      <a:pt x="0" y="30"/>
                    </a:cubicBezTo>
                    <a:cubicBezTo>
                      <a:pt x="0" y="41"/>
                      <a:pt x="5" y="51"/>
                      <a:pt x="14" y="56"/>
                    </a:cubicBezTo>
                    <a:cubicBezTo>
                      <a:pt x="19" y="59"/>
                      <a:pt x="24" y="61"/>
                      <a:pt x="30" y="61"/>
                    </a:cubicBezTo>
                    <a:cubicBezTo>
                      <a:pt x="36" y="61"/>
                      <a:pt x="41" y="59"/>
                      <a:pt x="46" y="56"/>
                    </a:cubicBezTo>
                    <a:cubicBezTo>
                      <a:pt x="55" y="51"/>
                      <a:pt x="60" y="41"/>
                      <a:pt x="60" y="30"/>
                    </a:cubicBezTo>
                    <a:close/>
                  </a:path>
                </a:pathLst>
              </a:custGeom>
              <a:grpFill/>
              <a:ln>
                <a:noFill/>
              </a:ln>
            </p:spPr>
            <p:txBody>
              <a:bodyPr/>
              <a:lstStyle/>
              <a:p>
                <a:pPr>
                  <a:defRPr/>
                </a:pPr>
                <a:endParaRPr lang="zh-CN" altLang="en-US">
                  <a:solidFill>
                    <a:prstClr val="black"/>
                  </a:solidFill>
                  <a:cs typeface="+mn-ea"/>
                  <a:sym typeface="+mn-lt"/>
                </a:endParaRPr>
              </a:p>
            </p:txBody>
          </p:sp>
        </p:grpSp>
      </p:grpSp>
      <p:grpSp>
        <p:nvGrpSpPr>
          <p:cNvPr id="8" name="组合 7"/>
          <p:cNvGrpSpPr/>
          <p:nvPr/>
        </p:nvGrpSpPr>
        <p:grpSpPr>
          <a:xfrm>
            <a:off x="4473374" y="3971894"/>
            <a:ext cx="1565042" cy="739346"/>
            <a:chOff x="4473374" y="3971894"/>
            <a:chExt cx="1565042" cy="739346"/>
          </a:xfrm>
        </p:grpSpPr>
        <p:sp>
          <p:nvSpPr>
            <p:cNvPr id="34" name="Connector 47"/>
            <p:cNvSpPr/>
            <p:nvPr/>
          </p:nvSpPr>
          <p:spPr>
            <a:xfrm rot="16200000">
              <a:off x="4886222" y="3559046"/>
              <a:ext cx="739346" cy="1565042"/>
            </a:xfrm>
            <a:prstGeom prst="flowChartOffpageConnector">
              <a:avLst/>
            </a:prstGeom>
            <a:solidFill>
              <a:srgbClr val="52525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defRPr/>
              </a:pPr>
              <a:endParaRPr lang="en-US" sz="3600" dirty="0">
                <a:solidFill>
                  <a:prstClr val="white"/>
                </a:solidFill>
                <a:cs typeface="+mn-ea"/>
                <a:sym typeface="+mn-lt"/>
              </a:endParaRPr>
            </a:p>
          </p:txBody>
        </p:sp>
        <p:grpSp>
          <p:nvGrpSpPr>
            <p:cNvPr id="29" name="Group 39"/>
            <p:cNvGrpSpPr/>
            <p:nvPr/>
          </p:nvGrpSpPr>
          <p:grpSpPr>
            <a:xfrm>
              <a:off x="4822499" y="4141239"/>
              <a:ext cx="525343" cy="417882"/>
              <a:chOff x="8804275" y="3135313"/>
              <a:chExt cx="449263" cy="476250"/>
            </a:xfrm>
            <a:solidFill>
              <a:schemeClr val="bg1"/>
            </a:solidFill>
            <a:effectLst/>
          </p:grpSpPr>
          <p:sp>
            <p:nvSpPr>
              <p:cNvPr id="30" name="Freeform 40"/>
              <p:cNvSpPr>
                <a:spLocks noEditPoints="1"/>
              </p:cNvSpPr>
              <p:nvPr/>
            </p:nvSpPr>
            <p:spPr bwMode="auto">
              <a:xfrm>
                <a:off x="9040813" y="3322638"/>
                <a:ext cx="212725" cy="288925"/>
              </a:xfrm>
              <a:custGeom>
                <a:avLst/>
                <a:gdLst>
                  <a:gd name="T0" fmla="*/ 43 w 57"/>
                  <a:gd name="T1" fmla="*/ 0 h 77"/>
                  <a:gd name="T2" fmla="*/ 14 w 57"/>
                  <a:gd name="T3" fmla="*/ 0 h 77"/>
                  <a:gd name="T4" fmla="*/ 0 w 57"/>
                  <a:gd name="T5" fmla="*/ 13 h 77"/>
                  <a:gd name="T6" fmla="*/ 0 w 57"/>
                  <a:gd name="T7" fmla="*/ 63 h 77"/>
                  <a:gd name="T8" fmla="*/ 14 w 57"/>
                  <a:gd name="T9" fmla="*/ 77 h 77"/>
                  <a:gd name="T10" fmla="*/ 43 w 57"/>
                  <a:gd name="T11" fmla="*/ 77 h 77"/>
                  <a:gd name="T12" fmla="*/ 57 w 57"/>
                  <a:gd name="T13" fmla="*/ 63 h 77"/>
                  <a:gd name="T14" fmla="*/ 57 w 57"/>
                  <a:gd name="T15" fmla="*/ 13 h 77"/>
                  <a:gd name="T16" fmla="*/ 43 w 57"/>
                  <a:gd name="T17" fmla="*/ 0 h 77"/>
                  <a:gd name="T18" fmla="*/ 28 w 57"/>
                  <a:gd name="T19" fmla="*/ 72 h 77"/>
                  <a:gd name="T20" fmla="*/ 25 w 57"/>
                  <a:gd name="T21" fmla="*/ 69 h 77"/>
                  <a:gd name="T22" fmla="*/ 28 w 57"/>
                  <a:gd name="T23" fmla="*/ 66 h 77"/>
                  <a:gd name="T24" fmla="*/ 31 w 57"/>
                  <a:gd name="T25" fmla="*/ 69 h 77"/>
                  <a:gd name="T26" fmla="*/ 28 w 57"/>
                  <a:gd name="T27" fmla="*/ 72 h 77"/>
                  <a:gd name="T28" fmla="*/ 46 w 57"/>
                  <a:gd name="T29" fmla="*/ 61 h 77"/>
                  <a:gd name="T30" fmla="*/ 11 w 57"/>
                  <a:gd name="T31" fmla="*/ 61 h 77"/>
                  <a:gd name="T32" fmla="*/ 11 w 57"/>
                  <a:gd name="T33" fmla="*/ 10 h 77"/>
                  <a:gd name="T34" fmla="*/ 46 w 57"/>
                  <a:gd name="T35" fmla="*/ 10 h 77"/>
                  <a:gd name="T36" fmla="*/ 46 w 57"/>
                  <a:gd name="T37" fmla="*/ 6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77">
                    <a:moveTo>
                      <a:pt x="43" y="0"/>
                    </a:moveTo>
                    <a:cubicBezTo>
                      <a:pt x="14" y="0"/>
                      <a:pt x="14" y="0"/>
                      <a:pt x="14" y="0"/>
                    </a:cubicBezTo>
                    <a:cubicBezTo>
                      <a:pt x="6" y="0"/>
                      <a:pt x="0" y="6"/>
                      <a:pt x="0" y="13"/>
                    </a:cubicBezTo>
                    <a:cubicBezTo>
                      <a:pt x="0" y="63"/>
                      <a:pt x="0" y="63"/>
                      <a:pt x="0" y="63"/>
                    </a:cubicBezTo>
                    <a:cubicBezTo>
                      <a:pt x="0" y="71"/>
                      <a:pt x="6" y="77"/>
                      <a:pt x="14" y="77"/>
                    </a:cubicBezTo>
                    <a:cubicBezTo>
                      <a:pt x="43" y="77"/>
                      <a:pt x="43" y="77"/>
                      <a:pt x="43" y="77"/>
                    </a:cubicBezTo>
                    <a:cubicBezTo>
                      <a:pt x="51" y="77"/>
                      <a:pt x="57" y="71"/>
                      <a:pt x="57" y="63"/>
                    </a:cubicBezTo>
                    <a:cubicBezTo>
                      <a:pt x="57" y="13"/>
                      <a:pt x="57" y="13"/>
                      <a:pt x="57" y="13"/>
                    </a:cubicBezTo>
                    <a:cubicBezTo>
                      <a:pt x="57" y="6"/>
                      <a:pt x="51" y="0"/>
                      <a:pt x="43" y="0"/>
                    </a:cubicBezTo>
                    <a:close/>
                    <a:moveTo>
                      <a:pt x="28" y="72"/>
                    </a:moveTo>
                    <a:cubicBezTo>
                      <a:pt x="27" y="72"/>
                      <a:pt x="25" y="70"/>
                      <a:pt x="25" y="69"/>
                    </a:cubicBezTo>
                    <a:cubicBezTo>
                      <a:pt x="25" y="67"/>
                      <a:pt x="27" y="66"/>
                      <a:pt x="28" y="66"/>
                    </a:cubicBezTo>
                    <a:cubicBezTo>
                      <a:pt x="30" y="66"/>
                      <a:pt x="31" y="67"/>
                      <a:pt x="31" y="69"/>
                    </a:cubicBezTo>
                    <a:cubicBezTo>
                      <a:pt x="31" y="70"/>
                      <a:pt x="30" y="72"/>
                      <a:pt x="28" y="72"/>
                    </a:cubicBezTo>
                    <a:close/>
                    <a:moveTo>
                      <a:pt x="46" y="61"/>
                    </a:moveTo>
                    <a:cubicBezTo>
                      <a:pt x="11" y="61"/>
                      <a:pt x="11" y="61"/>
                      <a:pt x="11" y="61"/>
                    </a:cubicBezTo>
                    <a:cubicBezTo>
                      <a:pt x="11" y="10"/>
                      <a:pt x="11" y="10"/>
                      <a:pt x="11" y="10"/>
                    </a:cubicBezTo>
                    <a:cubicBezTo>
                      <a:pt x="46" y="10"/>
                      <a:pt x="46" y="10"/>
                      <a:pt x="46" y="10"/>
                    </a:cubicBezTo>
                    <a:lnTo>
                      <a:pt x="46"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rgbClr val="E7E6E6">
                      <a:lumMod val="25000"/>
                    </a:srgbClr>
                  </a:solidFill>
                  <a:cs typeface="+mn-ea"/>
                  <a:sym typeface="+mn-lt"/>
                </a:endParaRPr>
              </a:p>
            </p:txBody>
          </p:sp>
          <p:sp>
            <p:nvSpPr>
              <p:cNvPr id="31" name="Freeform 41"/>
              <p:cNvSpPr/>
              <p:nvPr/>
            </p:nvSpPr>
            <p:spPr bwMode="auto">
              <a:xfrm>
                <a:off x="8804275" y="3135313"/>
                <a:ext cx="412750" cy="461963"/>
              </a:xfrm>
              <a:custGeom>
                <a:avLst/>
                <a:gdLst>
                  <a:gd name="T0" fmla="*/ 37 w 110"/>
                  <a:gd name="T1" fmla="*/ 61 h 123"/>
                  <a:gd name="T2" fmla="*/ 76 w 110"/>
                  <a:gd name="T3" fmla="*/ 42 h 123"/>
                  <a:gd name="T4" fmla="*/ 100 w 110"/>
                  <a:gd name="T5" fmla="*/ 42 h 123"/>
                  <a:gd name="T6" fmla="*/ 102 w 110"/>
                  <a:gd name="T7" fmla="*/ 37 h 123"/>
                  <a:gd name="T8" fmla="*/ 106 w 110"/>
                  <a:gd name="T9" fmla="*/ 33 h 123"/>
                  <a:gd name="T10" fmla="*/ 107 w 110"/>
                  <a:gd name="T11" fmla="*/ 20 h 123"/>
                  <a:gd name="T12" fmla="*/ 91 w 110"/>
                  <a:gd name="T13" fmla="*/ 15 h 123"/>
                  <a:gd name="T14" fmla="*/ 85 w 110"/>
                  <a:gd name="T15" fmla="*/ 21 h 123"/>
                  <a:gd name="T16" fmla="*/ 85 w 110"/>
                  <a:gd name="T17" fmla="*/ 21 h 123"/>
                  <a:gd name="T18" fmla="*/ 75 w 110"/>
                  <a:gd name="T19" fmla="*/ 21 h 123"/>
                  <a:gd name="T20" fmla="*/ 73 w 110"/>
                  <a:gd name="T21" fmla="*/ 14 h 123"/>
                  <a:gd name="T22" fmla="*/ 73 w 110"/>
                  <a:gd name="T23" fmla="*/ 8 h 123"/>
                  <a:gd name="T24" fmla="*/ 58 w 110"/>
                  <a:gd name="T25" fmla="*/ 0 h 123"/>
                  <a:gd name="T26" fmla="*/ 50 w 110"/>
                  <a:gd name="T27" fmla="*/ 10 h 123"/>
                  <a:gd name="T28" fmla="*/ 50 w 110"/>
                  <a:gd name="T29" fmla="*/ 16 h 123"/>
                  <a:gd name="T30" fmla="*/ 50 w 110"/>
                  <a:gd name="T31" fmla="*/ 16 h 123"/>
                  <a:gd name="T32" fmla="*/ 50 w 110"/>
                  <a:gd name="T33" fmla="*/ 17 h 123"/>
                  <a:gd name="T34" fmla="*/ 50 w 110"/>
                  <a:gd name="T35" fmla="*/ 17 h 123"/>
                  <a:gd name="T36" fmla="*/ 49 w 110"/>
                  <a:gd name="T37" fmla="*/ 18 h 123"/>
                  <a:gd name="T38" fmla="*/ 49 w 110"/>
                  <a:gd name="T39" fmla="*/ 19 h 123"/>
                  <a:gd name="T40" fmla="*/ 42 w 110"/>
                  <a:gd name="T41" fmla="*/ 23 h 123"/>
                  <a:gd name="T42" fmla="*/ 36 w 110"/>
                  <a:gd name="T43" fmla="*/ 20 h 123"/>
                  <a:gd name="T44" fmla="*/ 32 w 110"/>
                  <a:gd name="T45" fmla="*/ 15 h 123"/>
                  <a:gd name="T46" fmla="*/ 15 w 110"/>
                  <a:gd name="T47" fmla="*/ 20 h 123"/>
                  <a:gd name="T48" fmla="*/ 17 w 110"/>
                  <a:gd name="T49" fmla="*/ 33 h 123"/>
                  <a:gd name="T50" fmla="*/ 21 w 110"/>
                  <a:gd name="T51" fmla="*/ 37 h 123"/>
                  <a:gd name="T52" fmla="*/ 22 w 110"/>
                  <a:gd name="T53" fmla="*/ 38 h 123"/>
                  <a:gd name="T54" fmla="*/ 22 w 110"/>
                  <a:gd name="T55" fmla="*/ 39 h 123"/>
                  <a:gd name="T56" fmla="*/ 22 w 110"/>
                  <a:gd name="T57" fmla="*/ 39 h 123"/>
                  <a:gd name="T58" fmla="*/ 22 w 110"/>
                  <a:gd name="T59" fmla="*/ 40 h 123"/>
                  <a:gd name="T60" fmla="*/ 23 w 110"/>
                  <a:gd name="T61" fmla="*/ 41 h 123"/>
                  <a:gd name="T62" fmla="*/ 23 w 110"/>
                  <a:gd name="T63" fmla="*/ 41 h 123"/>
                  <a:gd name="T64" fmla="*/ 21 w 110"/>
                  <a:gd name="T65" fmla="*/ 48 h 123"/>
                  <a:gd name="T66" fmla="*/ 14 w 110"/>
                  <a:gd name="T67" fmla="*/ 50 h 123"/>
                  <a:gd name="T68" fmla="*/ 8 w 110"/>
                  <a:gd name="T69" fmla="*/ 50 h 123"/>
                  <a:gd name="T70" fmla="*/ 0 w 110"/>
                  <a:gd name="T71" fmla="*/ 65 h 123"/>
                  <a:gd name="T72" fmla="*/ 10 w 110"/>
                  <a:gd name="T73" fmla="*/ 73 h 123"/>
                  <a:gd name="T74" fmla="*/ 17 w 110"/>
                  <a:gd name="T75" fmla="*/ 73 h 123"/>
                  <a:gd name="T76" fmla="*/ 17 w 110"/>
                  <a:gd name="T77" fmla="*/ 73 h 123"/>
                  <a:gd name="T78" fmla="*/ 23 w 110"/>
                  <a:gd name="T79" fmla="*/ 81 h 123"/>
                  <a:gd name="T80" fmla="*/ 20 w 110"/>
                  <a:gd name="T81" fmla="*/ 87 h 123"/>
                  <a:gd name="T82" fmla="*/ 17 w 110"/>
                  <a:gd name="T83" fmla="*/ 89 h 123"/>
                  <a:gd name="T84" fmla="*/ 15 w 110"/>
                  <a:gd name="T85" fmla="*/ 102 h 123"/>
                  <a:gd name="T86" fmla="*/ 32 w 110"/>
                  <a:gd name="T87" fmla="*/ 107 h 123"/>
                  <a:gd name="T88" fmla="*/ 37 w 110"/>
                  <a:gd name="T89" fmla="*/ 102 h 123"/>
                  <a:gd name="T90" fmla="*/ 38 w 110"/>
                  <a:gd name="T91" fmla="*/ 102 h 123"/>
                  <a:gd name="T92" fmla="*/ 38 w 110"/>
                  <a:gd name="T93" fmla="*/ 101 h 123"/>
                  <a:gd name="T94" fmla="*/ 39 w 110"/>
                  <a:gd name="T95" fmla="*/ 101 h 123"/>
                  <a:gd name="T96" fmla="*/ 40 w 110"/>
                  <a:gd name="T97" fmla="*/ 100 h 123"/>
                  <a:gd name="T98" fmla="*/ 40 w 110"/>
                  <a:gd name="T99" fmla="*/ 100 h 123"/>
                  <a:gd name="T100" fmla="*/ 41 w 110"/>
                  <a:gd name="T101" fmla="*/ 100 h 123"/>
                  <a:gd name="T102" fmla="*/ 41 w 110"/>
                  <a:gd name="T103" fmla="*/ 100 h 123"/>
                  <a:gd name="T104" fmla="*/ 48 w 110"/>
                  <a:gd name="T105" fmla="*/ 102 h 123"/>
                  <a:gd name="T106" fmla="*/ 50 w 110"/>
                  <a:gd name="T107" fmla="*/ 109 h 123"/>
                  <a:gd name="T108" fmla="*/ 50 w 110"/>
                  <a:gd name="T109" fmla="*/ 115 h 123"/>
                  <a:gd name="T110" fmla="*/ 58 w 110"/>
                  <a:gd name="T111" fmla="*/ 123 h 123"/>
                  <a:gd name="T112" fmla="*/ 56 w 110"/>
                  <a:gd name="T113" fmla="*/ 8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0" h="123">
                    <a:moveTo>
                      <a:pt x="56" y="85"/>
                    </a:moveTo>
                    <a:cubicBezTo>
                      <a:pt x="45" y="82"/>
                      <a:pt x="37" y="73"/>
                      <a:pt x="37" y="61"/>
                    </a:cubicBezTo>
                    <a:cubicBezTo>
                      <a:pt x="37" y="48"/>
                      <a:pt x="48" y="37"/>
                      <a:pt x="61" y="37"/>
                    </a:cubicBezTo>
                    <a:cubicBezTo>
                      <a:pt x="67" y="37"/>
                      <a:pt x="72" y="39"/>
                      <a:pt x="76" y="42"/>
                    </a:cubicBezTo>
                    <a:cubicBezTo>
                      <a:pt x="76" y="42"/>
                      <a:pt x="77" y="42"/>
                      <a:pt x="77" y="42"/>
                    </a:cubicBezTo>
                    <a:cubicBezTo>
                      <a:pt x="100" y="42"/>
                      <a:pt x="100" y="42"/>
                      <a:pt x="100" y="42"/>
                    </a:cubicBezTo>
                    <a:cubicBezTo>
                      <a:pt x="100" y="41"/>
                      <a:pt x="100" y="40"/>
                      <a:pt x="100" y="40"/>
                    </a:cubicBezTo>
                    <a:cubicBezTo>
                      <a:pt x="101" y="39"/>
                      <a:pt x="101" y="38"/>
                      <a:pt x="102" y="37"/>
                    </a:cubicBezTo>
                    <a:cubicBezTo>
                      <a:pt x="103" y="36"/>
                      <a:pt x="103" y="36"/>
                      <a:pt x="103" y="36"/>
                    </a:cubicBezTo>
                    <a:cubicBezTo>
                      <a:pt x="106" y="33"/>
                      <a:pt x="106" y="33"/>
                      <a:pt x="106" y="33"/>
                    </a:cubicBezTo>
                    <a:cubicBezTo>
                      <a:pt x="108" y="32"/>
                      <a:pt x="108" y="32"/>
                      <a:pt x="108" y="32"/>
                    </a:cubicBezTo>
                    <a:cubicBezTo>
                      <a:pt x="110" y="28"/>
                      <a:pt x="110" y="24"/>
                      <a:pt x="107" y="20"/>
                    </a:cubicBezTo>
                    <a:cubicBezTo>
                      <a:pt x="102" y="15"/>
                      <a:pt x="102" y="15"/>
                      <a:pt x="102" y="15"/>
                    </a:cubicBezTo>
                    <a:cubicBezTo>
                      <a:pt x="99" y="13"/>
                      <a:pt x="95" y="13"/>
                      <a:pt x="91" y="15"/>
                    </a:cubicBezTo>
                    <a:cubicBezTo>
                      <a:pt x="89" y="17"/>
                      <a:pt x="89" y="17"/>
                      <a:pt x="89" y="17"/>
                    </a:cubicBezTo>
                    <a:cubicBezTo>
                      <a:pt x="85" y="21"/>
                      <a:pt x="85" y="21"/>
                      <a:pt x="85" y="21"/>
                    </a:cubicBezTo>
                    <a:cubicBezTo>
                      <a:pt x="85" y="21"/>
                      <a:pt x="85" y="21"/>
                      <a:pt x="85" y="21"/>
                    </a:cubicBezTo>
                    <a:cubicBezTo>
                      <a:pt x="85" y="21"/>
                      <a:pt x="85" y="21"/>
                      <a:pt x="85" y="21"/>
                    </a:cubicBezTo>
                    <a:cubicBezTo>
                      <a:pt x="83" y="23"/>
                      <a:pt x="80" y="23"/>
                      <a:pt x="77" y="22"/>
                    </a:cubicBezTo>
                    <a:cubicBezTo>
                      <a:pt x="77" y="22"/>
                      <a:pt x="76" y="21"/>
                      <a:pt x="75" y="21"/>
                    </a:cubicBezTo>
                    <a:cubicBezTo>
                      <a:pt x="74" y="19"/>
                      <a:pt x="73" y="18"/>
                      <a:pt x="73" y="16"/>
                    </a:cubicBezTo>
                    <a:cubicBezTo>
                      <a:pt x="73" y="14"/>
                      <a:pt x="73" y="14"/>
                      <a:pt x="73" y="14"/>
                    </a:cubicBezTo>
                    <a:cubicBezTo>
                      <a:pt x="73" y="10"/>
                      <a:pt x="73" y="10"/>
                      <a:pt x="73" y="10"/>
                    </a:cubicBezTo>
                    <a:cubicBezTo>
                      <a:pt x="73" y="8"/>
                      <a:pt x="73" y="8"/>
                      <a:pt x="73" y="8"/>
                    </a:cubicBezTo>
                    <a:cubicBezTo>
                      <a:pt x="72" y="4"/>
                      <a:pt x="69" y="0"/>
                      <a:pt x="65" y="0"/>
                    </a:cubicBezTo>
                    <a:cubicBezTo>
                      <a:pt x="58" y="0"/>
                      <a:pt x="58" y="0"/>
                      <a:pt x="58" y="0"/>
                    </a:cubicBezTo>
                    <a:cubicBezTo>
                      <a:pt x="54" y="0"/>
                      <a:pt x="50" y="4"/>
                      <a:pt x="50" y="8"/>
                    </a:cubicBezTo>
                    <a:cubicBezTo>
                      <a:pt x="50" y="10"/>
                      <a:pt x="50" y="10"/>
                      <a:pt x="50" y="10"/>
                    </a:cubicBezTo>
                    <a:cubicBezTo>
                      <a:pt x="50" y="14"/>
                      <a:pt x="50" y="14"/>
                      <a:pt x="50" y="14"/>
                    </a:cubicBezTo>
                    <a:cubicBezTo>
                      <a:pt x="50" y="16"/>
                      <a:pt x="50" y="16"/>
                      <a:pt x="50" y="16"/>
                    </a:cubicBezTo>
                    <a:cubicBezTo>
                      <a:pt x="50" y="16"/>
                      <a:pt x="50" y="16"/>
                      <a:pt x="50" y="16"/>
                    </a:cubicBezTo>
                    <a:cubicBezTo>
                      <a:pt x="50" y="16"/>
                      <a:pt x="50" y="16"/>
                      <a:pt x="50" y="16"/>
                    </a:cubicBezTo>
                    <a:cubicBezTo>
                      <a:pt x="50" y="16"/>
                      <a:pt x="50" y="16"/>
                      <a:pt x="50" y="17"/>
                    </a:cubicBezTo>
                    <a:cubicBezTo>
                      <a:pt x="50" y="17"/>
                      <a:pt x="50" y="17"/>
                      <a:pt x="50" y="17"/>
                    </a:cubicBezTo>
                    <a:cubicBezTo>
                      <a:pt x="50" y="17"/>
                      <a:pt x="50" y="17"/>
                      <a:pt x="50" y="17"/>
                    </a:cubicBezTo>
                    <a:cubicBezTo>
                      <a:pt x="50" y="17"/>
                      <a:pt x="50" y="17"/>
                      <a:pt x="50" y="17"/>
                    </a:cubicBezTo>
                    <a:cubicBezTo>
                      <a:pt x="50" y="18"/>
                      <a:pt x="49" y="18"/>
                      <a:pt x="49" y="18"/>
                    </a:cubicBezTo>
                    <a:cubicBezTo>
                      <a:pt x="49" y="18"/>
                      <a:pt x="49" y="18"/>
                      <a:pt x="49" y="18"/>
                    </a:cubicBezTo>
                    <a:cubicBezTo>
                      <a:pt x="49" y="18"/>
                      <a:pt x="49" y="18"/>
                      <a:pt x="49" y="19"/>
                    </a:cubicBezTo>
                    <a:cubicBezTo>
                      <a:pt x="49" y="19"/>
                      <a:pt x="49" y="19"/>
                      <a:pt x="49" y="19"/>
                    </a:cubicBezTo>
                    <a:cubicBezTo>
                      <a:pt x="49" y="20"/>
                      <a:pt x="48" y="20"/>
                      <a:pt x="47" y="21"/>
                    </a:cubicBezTo>
                    <a:cubicBezTo>
                      <a:pt x="46" y="22"/>
                      <a:pt x="44" y="23"/>
                      <a:pt x="42" y="23"/>
                    </a:cubicBezTo>
                    <a:cubicBezTo>
                      <a:pt x="40" y="23"/>
                      <a:pt x="39" y="22"/>
                      <a:pt x="37" y="21"/>
                    </a:cubicBezTo>
                    <a:cubicBezTo>
                      <a:pt x="36" y="20"/>
                      <a:pt x="36" y="20"/>
                      <a:pt x="36" y="20"/>
                    </a:cubicBezTo>
                    <a:cubicBezTo>
                      <a:pt x="33" y="17"/>
                      <a:pt x="33" y="17"/>
                      <a:pt x="33" y="17"/>
                    </a:cubicBezTo>
                    <a:cubicBezTo>
                      <a:pt x="32" y="15"/>
                      <a:pt x="32" y="15"/>
                      <a:pt x="32" y="15"/>
                    </a:cubicBezTo>
                    <a:cubicBezTo>
                      <a:pt x="28" y="13"/>
                      <a:pt x="24" y="13"/>
                      <a:pt x="20" y="15"/>
                    </a:cubicBezTo>
                    <a:cubicBezTo>
                      <a:pt x="15" y="20"/>
                      <a:pt x="15" y="20"/>
                      <a:pt x="15" y="20"/>
                    </a:cubicBezTo>
                    <a:cubicBezTo>
                      <a:pt x="13" y="24"/>
                      <a:pt x="13" y="28"/>
                      <a:pt x="15" y="32"/>
                    </a:cubicBezTo>
                    <a:cubicBezTo>
                      <a:pt x="17" y="33"/>
                      <a:pt x="17" y="33"/>
                      <a:pt x="17" y="33"/>
                    </a:cubicBezTo>
                    <a:cubicBezTo>
                      <a:pt x="21" y="37"/>
                      <a:pt x="21" y="37"/>
                      <a:pt x="21" y="37"/>
                    </a:cubicBezTo>
                    <a:cubicBezTo>
                      <a:pt x="21" y="37"/>
                      <a:pt x="21" y="37"/>
                      <a:pt x="21" y="37"/>
                    </a:cubicBezTo>
                    <a:cubicBezTo>
                      <a:pt x="21" y="38"/>
                      <a:pt x="21" y="38"/>
                      <a:pt x="21" y="38"/>
                    </a:cubicBezTo>
                    <a:cubicBezTo>
                      <a:pt x="21" y="38"/>
                      <a:pt x="21" y="38"/>
                      <a:pt x="22" y="38"/>
                    </a:cubicBezTo>
                    <a:cubicBezTo>
                      <a:pt x="22" y="38"/>
                      <a:pt x="22" y="38"/>
                      <a:pt x="22" y="38"/>
                    </a:cubicBezTo>
                    <a:cubicBezTo>
                      <a:pt x="22" y="38"/>
                      <a:pt x="22" y="38"/>
                      <a:pt x="22" y="39"/>
                    </a:cubicBezTo>
                    <a:cubicBezTo>
                      <a:pt x="22" y="39"/>
                      <a:pt x="22" y="39"/>
                      <a:pt x="22" y="39"/>
                    </a:cubicBezTo>
                    <a:cubicBezTo>
                      <a:pt x="22" y="39"/>
                      <a:pt x="22" y="39"/>
                      <a:pt x="22" y="39"/>
                    </a:cubicBezTo>
                    <a:cubicBezTo>
                      <a:pt x="22" y="39"/>
                      <a:pt x="22" y="40"/>
                      <a:pt x="22" y="40"/>
                    </a:cubicBezTo>
                    <a:cubicBezTo>
                      <a:pt x="22" y="40"/>
                      <a:pt x="22" y="40"/>
                      <a:pt x="22" y="40"/>
                    </a:cubicBezTo>
                    <a:cubicBezTo>
                      <a:pt x="22" y="40"/>
                      <a:pt x="23" y="40"/>
                      <a:pt x="23" y="40"/>
                    </a:cubicBezTo>
                    <a:cubicBezTo>
                      <a:pt x="23" y="40"/>
                      <a:pt x="23" y="41"/>
                      <a:pt x="23" y="41"/>
                    </a:cubicBezTo>
                    <a:cubicBezTo>
                      <a:pt x="23" y="41"/>
                      <a:pt x="23" y="41"/>
                      <a:pt x="23" y="41"/>
                    </a:cubicBezTo>
                    <a:cubicBezTo>
                      <a:pt x="23" y="41"/>
                      <a:pt x="23" y="41"/>
                      <a:pt x="23" y="41"/>
                    </a:cubicBezTo>
                    <a:cubicBezTo>
                      <a:pt x="23" y="44"/>
                      <a:pt x="22" y="46"/>
                      <a:pt x="21" y="48"/>
                    </a:cubicBezTo>
                    <a:cubicBezTo>
                      <a:pt x="21" y="48"/>
                      <a:pt x="21" y="48"/>
                      <a:pt x="21" y="48"/>
                    </a:cubicBezTo>
                    <a:cubicBezTo>
                      <a:pt x="19" y="49"/>
                      <a:pt x="18" y="50"/>
                      <a:pt x="16" y="50"/>
                    </a:cubicBezTo>
                    <a:cubicBezTo>
                      <a:pt x="14" y="50"/>
                      <a:pt x="14" y="50"/>
                      <a:pt x="14" y="50"/>
                    </a:cubicBezTo>
                    <a:cubicBezTo>
                      <a:pt x="10" y="50"/>
                      <a:pt x="10" y="50"/>
                      <a:pt x="10" y="50"/>
                    </a:cubicBezTo>
                    <a:cubicBezTo>
                      <a:pt x="8" y="50"/>
                      <a:pt x="8" y="50"/>
                      <a:pt x="8" y="50"/>
                    </a:cubicBezTo>
                    <a:cubicBezTo>
                      <a:pt x="4" y="50"/>
                      <a:pt x="0" y="54"/>
                      <a:pt x="0" y="58"/>
                    </a:cubicBezTo>
                    <a:cubicBezTo>
                      <a:pt x="0" y="65"/>
                      <a:pt x="0" y="65"/>
                      <a:pt x="0" y="65"/>
                    </a:cubicBezTo>
                    <a:cubicBezTo>
                      <a:pt x="0" y="69"/>
                      <a:pt x="4" y="72"/>
                      <a:pt x="8" y="73"/>
                    </a:cubicBezTo>
                    <a:cubicBezTo>
                      <a:pt x="10" y="73"/>
                      <a:pt x="10" y="73"/>
                      <a:pt x="10" y="73"/>
                    </a:cubicBezTo>
                    <a:cubicBezTo>
                      <a:pt x="16" y="73"/>
                      <a:pt x="16" y="73"/>
                      <a:pt x="16" y="73"/>
                    </a:cubicBezTo>
                    <a:cubicBezTo>
                      <a:pt x="16" y="73"/>
                      <a:pt x="16" y="73"/>
                      <a:pt x="17" y="73"/>
                    </a:cubicBezTo>
                    <a:cubicBezTo>
                      <a:pt x="17" y="73"/>
                      <a:pt x="17" y="73"/>
                      <a:pt x="17" y="73"/>
                    </a:cubicBezTo>
                    <a:cubicBezTo>
                      <a:pt x="17" y="73"/>
                      <a:pt x="17" y="73"/>
                      <a:pt x="17" y="73"/>
                    </a:cubicBezTo>
                    <a:cubicBezTo>
                      <a:pt x="21" y="74"/>
                      <a:pt x="23" y="77"/>
                      <a:pt x="23" y="81"/>
                    </a:cubicBezTo>
                    <a:cubicBezTo>
                      <a:pt x="23" y="81"/>
                      <a:pt x="23" y="81"/>
                      <a:pt x="23" y="81"/>
                    </a:cubicBezTo>
                    <a:cubicBezTo>
                      <a:pt x="23" y="82"/>
                      <a:pt x="22" y="84"/>
                      <a:pt x="21" y="85"/>
                    </a:cubicBezTo>
                    <a:cubicBezTo>
                      <a:pt x="20" y="87"/>
                      <a:pt x="20" y="87"/>
                      <a:pt x="20" y="87"/>
                    </a:cubicBezTo>
                    <a:cubicBezTo>
                      <a:pt x="20" y="87"/>
                      <a:pt x="20" y="87"/>
                      <a:pt x="20" y="87"/>
                    </a:cubicBezTo>
                    <a:cubicBezTo>
                      <a:pt x="17" y="89"/>
                      <a:pt x="17" y="89"/>
                      <a:pt x="17" y="89"/>
                    </a:cubicBezTo>
                    <a:cubicBezTo>
                      <a:pt x="15" y="91"/>
                      <a:pt x="15" y="91"/>
                      <a:pt x="15" y="91"/>
                    </a:cubicBezTo>
                    <a:cubicBezTo>
                      <a:pt x="13" y="94"/>
                      <a:pt x="13" y="99"/>
                      <a:pt x="15" y="102"/>
                    </a:cubicBezTo>
                    <a:cubicBezTo>
                      <a:pt x="20" y="107"/>
                      <a:pt x="20" y="107"/>
                      <a:pt x="20" y="107"/>
                    </a:cubicBezTo>
                    <a:cubicBezTo>
                      <a:pt x="24" y="110"/>
                      <a:pt x="28" y="110"/>
                      <a:pt x="32" y="107"/>
                    </a:cubicBezTo>
                    <a:cubicBezTo>
                      <a:pt x="33" y="106"/>
                      <a:pt x="33" y="106"/>
                      <a:pt x="33" y="106"/>
                    </a:cubicBezTo>
                    <a:cubicBezTo>
                      <a:pt x="37" y="102"/>
                      <a:pt x="37" y="102"/>
                      <a:pt x="37" y="102"/>
                    </a:cubicBezTo>
                    <a:cubicBezTo>
                      <a:pt x="37" y="102"/>
                      <a:pt x="37" y="102"/>
                      <a:pt x="37" y="102"/>
                    </a:cubicBezTo>
                    <a:cubicBezTo>
                      <a:pt x="37" y="102"/>
                      <a:pt x="38" y="102"/>
                      <a:pt x="38" y="102"/>
                    </a:cubicBezTo>
                    <a:cubicBezTo>
                      <a:pt x="38" y="101"/>
                      <a:pt x="38" y="101"/>
                      <a:pt x="38" y="101"/>
                    </a:cubicBezTo>
                    <a:cubicBezTo>
                      <a:pt x="38" y="101"/>
                      <a:pt x="38" y="101"/>
                      <a:pt x="38" y="101"/>
                    </a:cubicBezTo>
                    <a:cubicBezTo>
                      <a:pt x="38" y="101"/>
                      <a:pt x="38" y="101"/>
                      <a:pt x="39" y="101"/>
                    </a:cubicBezTo>
                    <a:cubicBezTo>
                      <a:pt x="39" y="101"/>
                      <a:pt x="39" y="101"/>
                      <a:pt x="39" y="101"/>
                    </a:cubicBezTo>
                    <a:cubicBezTo>
                      <a:pt x="39" y="101"/>
                      <a:pt x="39" y="101"/>
                      <a:pt x="39" y="101"/>
                    </a:cubicBezTo>
                    <a:cubicBezTo>
                      <a:pt x="39" y="100"/>
                      <a:pt x="40" y="100"/>
                      <a:pt x="40" y="100"/>
                    </a:cubicBezTo>
                    <a:cubicBezTo>
                      <a:pt x="40" y="100"/>
                      <a:pt x="40" y="100"/>
                      <a:pt x="40" y="100"/>
                    </a:cubicBezTo>
                    <a:cubicBezTo>
                      <a:pt x="40" y="100"/>
                      <a:pt x="40" y="100"/>
                      <a:pt x="40" y="100"/>
                    </a:cubicBezTo>
                    <a:cubicBezTo>
                      <a:pt x="40" y="100"/>
                      <a:pt x="40" y="100"/>
                      <a:pt x="41" y="100"/>
                    </a:cubicBezTo>
                    <a:cubicBezTo>
                      <a:pt x="41" y="100"/>
                      <a:pt x="41" y="100"/>
                      <a:pt x="41" y="100"/>
                    </a:cubicBezTo>
                    <a:cubicBezTo>
                      <a:pt x="41" y="100"/>
                      <a:pt x="41" y="100"/>
                      <a:pt x="41" y="100"/>
                    </a:cubicBezTo>
                    <a:cubicBezTo>
                      <a:pt x="41" y="100"/>
                      <a:pt x="41" y="100"/>
                      <a:pt x="41" y="100"/>
                    </a:cubicBezTo>
                    <a:cubicBezTo>
                      <a:pt x="41" y="100"/>
                      <a:pt x="42" y="100"/>
                      <a:pt x="42" y="100"/>
                    </a:cubicBezTo>
                    <a:cubicBezTo>
                      <a:pt x="44" y="100"/>
                      <a:pt x="46" y="101"/>
                      <a:pt x="48" y="102"/>
                    </a:cubicBezTo>
                    <a:cubicBezTo>
                      <a:pt x="49" y="103"/>
                      <a:pt x="50" y="105"/>
                      <a:pt x="50" y="107"/>
                    </a:cubicBezTo>
                    <a:cubicBezTo>
                      <a:pt x="50" y="109"/>
                      <a:pt x="50" y="109"/>
                      <a:pt x="50" y="109"/>
                    </a:cubicBezTo>
                    <a:cubicBezTo>
                      <a:pt x="50" y="113"/>
                      <a:pt x="50" y="113"/>
                      <a:pt x="50" y="113"/>
                    </a:cubicBezTo>
                    <a:cubicBezTo>
                      <a:pt x="50" y="115"/>
                      <a:pt x="50" y="115"/>
                      <a:pt x="50" y="115"/>
                    </a:cubicBezTo>
                    <a:cubicBezTo>
                      <a:pt x="50" y="119"/>
                      <a:pt x="54" y="122"/>
                      <a:pt x="58" y="123"/>
                    </a:cubicBezTo>
                    <a:cubicBezTo>
                      <a:pt x="58" y="123"/>
                      <a:pt x="58" y="123"/>
                      <a:pt x="58" y="123"/>
                    </a:cubicBezTo>
                    <a:cubicBezTo>
                      <a:pt x="56" y="120"/>
                      <a:pt x="56" y="117"/>
                      <a:pt x="56" y="113"/>
                    </a:cubicBezTo>
                    <a:lnTo>
                      <a:pt x="56"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rgbClr val="E7E6E6">
                      <a:lumMod val="25000"/>
                    </a:srgbClr>
                  </a:solidFill>
                  <a:cs typeface="+mn-ea"/>
                  <a:sym typeface="+mn-lt"/>
                </a:endParaRPr>
              </a:p>
            </p:txBody>
          </p:sp>
        </p:grpSp>
      </p:grpSp>
      <p:sp>
        <p:nvSpPr>
          <p:cNvPr id="10" name="Text Box 9"/>
          <p:cNvSpPr txBox="1"/>
          <p:nvPr/>
        </p:nvSpPr>
        <p:spPr>
          <a:xfrm>
            <a:off x="3471545" y="461645"/>
            <a:ext cx="4730750" cy="829945"/>
          </a:xfrm>
          <a:prstGeom prst="rect">
            <a:avLst/>
          </a:prstGeom>
          <a:noFill/>
        </p:spPr>
        <p:txBody>
          <a:bodyPr wrap="square" rtlCol="0">
            <a:spAutoFit/>
          </a:bodyPr>
          <a:p>
            <a:pPr algn="ctr"/>
            <a:r>
              <a:rPr lang="en-US" altLang="en-US" sz="2400" b="1">
                <a:latin typeface="Times New Roman" panose="02020603050405020304" charset="0"/>
                <a:cs typeface="Times New Roman" panose="02020603050405020304" charset="0"/>
              </a:rPr>
              <a:t>Implementation Technology </a:t>
            </a:r>
            <a:endParaRPr lang="en-US" altLang="en-US" sz="2400" b="1">
              <a:latin typeface="Times New Roman" panose="02020603050405020304" charset="0"/>
              <a:cs typeface="Times New Roman" panose="02020603050405020304" charset="0"/>
            </a:endParaRPr>
          </a:p>
          <a:p>
            <a:pPr algn="ctr"/>
            <a:r>
              <a:rPr lang="en-US" altLang="en-US" sz="2400" b="1">
                <a:latin typeface="Times New Roman" panose="02020603050405020304" charset="0"/>
                <a:cs typeface="Times New Roman" panose="02020603050405020304" charset="0"/>
              </a:rPr>
              <a:t>Stack</a:t>
            </a:r>
            <a:endParaRPr lang="en-US" altLang="en-US" sz="2400" b="1">
              <a:latin typeface="Times New Roman" panose="02020603050405020304" charset="0"/>
              <a:cs typeface="Times New Roman" panose="02020603050405020304" charset="0"/>
            </a:endParaRPr>
          </a:p>
        </p:txBody>
      </p:sp>
      <p:pic>
        <p:nvPicPr>
          <p:cNvPr id="12" name="图片 55"/>
          <p:cNvPicPr>
            <a:picLocks noChangeAspect="1"/>
          </p:cNvPicPr>
          <p:nvPr/>
        </p:nvPicPr>
        <p:blipFill>
          <a:blip r:embed="rId1">
            <a:alphaModFix amt="40000"/>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3660209" y="271"/>
            <a:ext cx="8532090" cy="714465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473377" y="1816787"/>
            <a:ext cx="1565042" cy="739347"/>
            <a:chOff x="4473377" y="1816787"/>
            <a:chExt cx="1565042" cy="739347"/>
          </a:xfrm>
        </p:grpSpPr>
        <p:sp>
          <p:nvSpPr>
            <p:cNvPr id="32" name="Connector 22"/>
            <p:cNvSpPr/>
            <p:nvPr/>
          </p:nvSpPr>
          <p:spPr>
            <a:xfrm rot="16200000">
              <a:off x="4886224" y="1403940"/>
              <a:ext cx="739347" cy="1565042"/>
            </a:xfrm>
            <a:prstGeom prst="flowChartOffpageConnector">
              <a:avLst/>
            </a:prstGeom>
            <a:solidFill>
              <a:srgbClr val="52525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defRPr/>
              </a:pPr>
              <a:endParaRPr lang="en-US" sz="5865" dirty="0">
                <a:solidFill>
                  <a:prstClr val="white"/>
                </a:solidFill>
                <a:cs typeface="+mn-ea"/>
                <a:sym typeface="+mn-lt"/>
              </a:endParaRPr>
            </a:p>
          </p:txBody>
        </p:sp>
        <p:grpSp>
          <p:nvGrpSpPr>
            <p:cNvPr id="39" name="Group 50"/>
            <p:cNvGrpSpPr/>
            <p:nvPr/>
          </p:nvGrpSpPr>
          <p:grpSpPr>
            <a:xfrm>
              <a:off x="4918564" y="1962308"/>
              <a:ext cx="450299" cy="448306"/>
              <a:chOff x="6350" y="-3175"/>
              <a:chExt cx="717550" cy="714376"/>
            </a:xfrm>
            <a:solidFill>
              <a:schemeClr val="bg1"/>
            </a:solidFill>
          </p:grpSpPr>
          <p:sp>
            <p:nvSpPr>
              <p:cNvPr id="40" name="Freeform 18"/>
              <p:cNvSpPr/>
              <p:nvPr/>
            </p:nvSpPr>
            <p:spPr bwMode="auto">
              <a:xfrm>
                <a:off x="438150" y="430213"/>
                <a:ext cx="285750" cy="280988"/>
              </a:xfrm>
              <a:custGeom>
                <a:avLst/>
                <a:gdLst>
                  <a:gd name="T0" fmla="*/ 68 w 75"/>
                  <a:gd name="T1" fmla="*/ 42 h 74"/>
                  <a:gd name="T2" fmla="*/ 25 w 75"/>
                  <a:gd name="T3" fmla="*/ 0 h 74"/>
                  <a:gd name="T4" fmla="*/ 0 w 75"/>
                  <a:gd name="T5" fmla="*/ 24 h 74"/>
                  <a:gd name="T6" fmla="*/ 43 w 75"/>
                  <a:gd name="T7" fmla="*/ 67 h 74"/>
                  <a:gd name="T8" fmla="*/ 68 w 75"/>
                  <a:gd name="T9" fmla="*/ 67 h 74"/>
                  <a:gd name="T10" fmla="*/ 68 w 75"/>
                  <a:gd name="T11" fmla="*/ 42 h 74"/>
                </a:gdLst>
                <a:ahLst/>
                <a:cxnLst>
                  <a:cxn ang="0">
                    <a:pos x="T0" y="T1"/>
                  </a:cxn>
                  <a:cxn ang="0">
                    <a:pos x="T2" y="T3"/>
                  </a:cxn>
                  <a:cxn ang="0">
                    <a:pos x="T4" y="T5"/>
                  </a:cxn>
                  <a:cxn ang="0">
                    <a:pos x="T6" y="T7"/>
                  </a:cxn>
                  <a:cxn ang="0">
                    <a:pos x="T8" y="T9"/>
                  </a:cxn>
                  <a:cxn ang="0">
                    <a:pos x="T10" y="T11"/>
                  </a:cxn>
                </a:cxnLst>
                <a:rect l="0" t="0" r="r" b="b"/>
                <a:pathLst>
                  <a:path w="75" h="74">
                    <a:moveTo>
                      <a:pt x="68" y="42"/>
                    </a:moveTo>
                    <a:cubicBezTo>
                      <a:pt x="25" y="0"/>
                      <a:pt x="25" y="0"/>
                      <a:pt x="25" y="0"/>
                    </a:cubicBezTo>
                    <a:cubicBezTo>
                      <a:pt x="19" y="10"/>
                      <a:pt x="10" y="18"/>
                      <a:pt x="0" y="24"/>
                    </a:cubicBezTo>
                    <a:cubicBezTo>
                      <a:pt x="43" y="67"/>
                      <a:pt x="43" y="67"/>
                      <a:pt x="43" y="67"/>
                    </a:cubicBezTo>
                    <a:cubicBezTo>
                      <a:pt x="50" y="74"/>
                      <a:pt x="61" y="74"/>
                      <a:pt x="68" y="67"/>
                    </a:cubicBezTo>
                    <a:cubicBezTo>
                      <a:pt x="75" y="60"/>
                      <a:pt x="75" y="49"/>
                      <a:pt x="68" y="4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defRPr/>
                </a:pPr>
                <a:endParaRPr lang="id-ID">
                  <a:solidFill>
                    <a:prstClr val="black"/>
                  </a:solidFill>
                  <a:cs typeface="+mn-ea"/>
                  <a:sym typeface="+mn-lt"/>
                </a:endParaRPr>
              </a:p>
            </p:txBody>
          </p:sp>
          <p:sp>
            <p:nvSpPr>
              <p:cNvPr id="41" name="Freeform 19"/>
              <p:cNvSpPr>
                <a:spLocks noEditPoints="1"/>
              </p:cNvSpPr>
              <p:nvPr/>
            </p:nvSpPr>
            <p:spPr bwMode="auto">
              <a:xfrm>
                <a:off x="6350" y="-3175"/>
                <a:ext cx="530225" cy="531813"/>
              </a:xfrm>
              <a:custGeom>
                <a:avLst/>
                <a:gdLst>
                  <a:gd name="T0" fmla="*/ 139 w 139"/>
                  <a:gd name="T1" fmla="*/ 70 h 140"/>
                  <a:gd name="T2" fmla="*/ 70 w 139"/>
                  <a:gd name="T3" fmla="*/ 0 h 140"/>
                  <a:gd name="T4" fmla="*/ 0 w 139"/>
                  <a:gd name="T5" fmla="*/ 70 h 140"/>
                  <a:gd name="T6" fmla="*/ 70 w 139"/>
                  <a:gd name="T7" fmla="*/ 140 h 140"/>
                  <a:gd name="T8" fmla="*/ 139 w 139"/>
                  <a:gd name="T9" fmla="*/ 70 h 140"/>
                  <a:gd name="T10" fmla="*/ 70 w 139"/>
                  <a:gd name="T11" fmla="*/ 122 h 140"/>
                  <a:gd name="T12" fmla="*/ 17 w 139"/>
                  <a:gd name="T13" fmla="*/ 70 h 140"/>
                  <a:gd name="T14" fmla="*/ 70 w 139"/>
                  <a:gd name="T15" fmla="*/ 17 h 140"/>
                  <a:gd name="T16" fmla="*/ 122 w 139"/>
                  <a:gd name="T17" fmla="*/ 70 h 140"/>
                  <a:gd name="T18" fmla="*/ 70 w 139"/>
                  <a:gd name="T19" fmla="*/ 1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39" y="70"/>
                    </a:moveTo>
                    <a:cubicBezTo>
                      <a:pt x="139" y="31"/>
                      <a:pt x="108" y="0"/>
                      <a:pt x="70" y="0"/>
                    </a:cubicBezTo>
                    <a:cubicBezTo>
                      <a:pt x="31" y="0"/>
                      <a:pt x="0" y="31"/>
                      <a:pt x="0" y="70"/>
                    </a:cubicBezTo>
                    <a:cubicBezTo>
                      <a:pt x="0" y="108"/>
                      <a:pt x="31" y="140"/>
                      <a:pt x="70" y="140"/>
                    </a:cubicBezTo>
                    <a:cubicBezTo>
                      <a:pt x="108" y="140"/>
                      <a:pt x="139" y="108"/>
                      <a:pt x="139" y="70"/>
                    </a:cubicBezTo>
                    <a:moveTo>
                      <a:pt x="70" y="122"/>
                    </a:moveTo>
                    <a:cubicBezTo>
                      <a:pt x="41" y="122"/>
                      <a:pt x="17" y="99"/>
                      <a:pt x="17" y="70"/>
                    </a:cubicBezTo>
                    <a:cubicBezTo>
                      <a:pt x="17" y="41"/>
                      <a:pt x="41" y="17"/>
                      <a:pt x="70" y="17"/>
                    </a:cubicBezTo>
                    <a:cubicBezTo>
                      <a:pt x="98" y="17"/>
                      <a:pt x="122" y="41"/>
                      <a:pt x="122" y="70"/>
                    </a:cubicBezTo>
                    <a:cubicBezTo>
                      <a:pt x="122" y="99"/>
                      <a:pt x="98" y="122"/>
                      <a:pt x="70" y="1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defRPr/>
                </a:pPr>
                <a:endParaRPr lang="id-ID">
                  <a:solidFill>
                    <a:prstClr val="black"/>
                  </a:solidFill>
                  <a:cs typeface="+mn-ea"/>
                  <a:sym typeface="+mn-lt"/>
                </a:endParaRPr>
              </a:p>
            </p:txBody>
          </p:sp>
          <p:sp>
            <p:nvSpPr>
              <p:cNvPr id="42" name="Freeform 20"/>
              <p:cNvSpPr/>
              <p:nvPr/>
            </p:nvSpPr>
            <p:spPr bwMode="auto">
              <a:xfrm>
                <a:off x="117475" y="106363"/>
                <a:ext cx="157163" cy="155575"/>
              </a:xfrm>
              <a:custGeom>
                <a:avLst/>
                <a:gdLst>
                  <a:gd name="T0" fmla="*/ 0 w 41"/>
                  <a:gd name="T1" fmla="*/ 41 h 41"/>
                  <a:gd name="T2" fmla="*/ 12 w 41"/>
                  <a:gd name="T3" fmla="*/ 41 h 41"/>
                  <a:gd name="T4" fmla="*/ 41 w 41"/>
                  <a:gd name="T5" fmla="*/ 12 h 41"/>
                  <a:gd name="T6" fmla="*/ 41 w 41"/>
                  <a:gd name="T7" fmla="*/ 0 h 41"/>
                  <a:gd name="T8" fmla="*/ 0 w 41"/>
                  <a:gd name="T9" fmla="*/ 41 h 41"/>
                </a:gdLst>
                <a:ahLst/>
                <a:cxnLst>
                  <a:cxn ang="0">
                    <a:pos x="T0" y="T1"/>
                  </a:cxn>
                  <a:cxn ang="0">
                    <a:pos x="T2" y="T3"/>
                  </a:cxn>
                  <a:cxn ang="0">
                    <a:pos x="T4" y="T5"/>
                  </a:cxn>
                  <a:cxn ang="0">
                    <a:pos x="T6" y="T7"/>
                  </a:cxn>
                  <a:cxn ang="0">
                    <a:pos x="T8" y="T9"/>
                  </a:cxn>
                </a:cxnLst>
                <a:rect l="0" t="0" r="r" b="b"/>
                <a:pathLst>
                  <a:path w="41" h="41">
                    <a:moveTo>
                      <a:pt x="0" y="41"/>
                    </a:moveTo>
                    <a:cubicBezTo>
                      <a:pt x="12" y="41"/>
                      <a:pt x="12" y="41"/>
                      <a:pt x="12" y="41"/>
                    </a:cubicBezTo>
                    <a:cubicBezTo>
                      <a:pt x="12" y="25"/>
                      <a:pt x="25" y="12"/>
                      <a:pt x="41" y="12"/>
                    </a:cubicBezTo>
                    <a:cubicBezTo>
                      <a:pt x="41" y="0"/>
                      <a:pt x="41" y="0"/>
                      <a:pt x="41" y="0"/>
                    </a:cubicBezTo>
                    <a:cubicBezTo>
                      <a:pt x="18" y="0"/>
                      <a:pt x="0" y="18"/>
                      <a:pt x="0" y="4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defRPr/>
                </a:pPr>
                <a:endParaRPr lang="id-ID">
                  <a:solidFill>
                    <a:prstClr val="black"/>
                  </a:solidFill>
                  <a:cs typeface="+mn-ea"/>
                  <a:sym typeface="+mn-lt"/>
                </a:endParaRPr>
              </a:p>
            </p:txBody>
          </p:sp>
        </p:grpSp>
      </p:grpSp>
      <p:grpSp>
        <p:nvGrpSpPr>
          <p:cNvPr id="4" name="组合 3"/>
          <p:cNvGrpSpPr/>
          <p:nvPr/>
        </p:nvGrpSpPr>
        <p:grpSpPr>
          <a:xfrm>
            <a:off x="7989602" y="2862452"/>
            <a:ext cx="2944451" cy="1413803"/>
            <a:chOff x="7989602" y="2862452"/>
            <a:chExt cx="2944451" cy="1413803"/>
          </a:xfrm>
        </p:grpSpPr>
        <p:sp>
          <p:nvSpPr>
            <p:cNvPr id="45" name="文本框 44"/>
            <p:cNvSpPr txBox="1"/>
            <p:nvPr/>
          </p:nvSpPr>
          <p:spPr>
            <a:xfrm>
              <a:off x="7989602" y="3199930"/>
              <a:ext cx="2944451" cy="1076325"/>
            </a:xfrm>
            <a:prstGeom prst="rect">
              <a:avLst/>
            </a:prstGeom>
            <a:noFill/>
          </p:spPr>
          <p:txBody>
            <a:bodyPr wrap="square" rtlCol="0">
              <a:spAutoFit/>
            </a:bodyPr>
            <a:lstStyle/>
            <a:p>
              <a:pPr algn="just">
                <a:defRPr/>
              </a:pPr>
              <a:r>
                <a:rPr lang="en-US" altLang="en-US" sz="1600" dirty="0">
                  <a:solidFill>
                    <a:srgbClr val="E7E6E6">
                      <a:lumMod val="25000"/>
                    </a:srgbClr>
                  </a:solidFill>
                  <a:cs typeface="+mn-ea"/>
                  <a:sym typeface="+mn-lt"/>
                </a:rPr>
                <a:t>Measure the percentage of</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natural language commands</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correctly converted into</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structured task data.</a:t>
              </a:r>
              <a:endParaRPr lang="en-US" altLang="en-US" sz="1600" dirty="0">
                <a:solidFill>
                  <a:srgbClr val="E7E6E6">
                    <a:lumMod val="25000"/>
                  </a:srgbClr>
                </a:solidFill>
                <a:cs typeface="+mn-ea"/>
                <a:sym typeface="+mn-lt"/>
              </a:endParaRPr>
            </a:p>
          </p:txBody>
        </p:sp>
        <p:sp>
          <p:nvSpPr>
            <p:cNvPr id="46" name="TextBox 76"/>
            <p:cNvSpPr txBox="1"/>
            <p:nvPr/>
          </p:nvSpPr>
          <p:spPr>
            <a:xfrm>
              <a:off x="7989602" y="2862452"/>
              <a:ext cx="1677035" cy="368300"/>
            </a:xfrm>
            <a:prstGeom prst="rect">
              <a:avLst/>
            </a:prstGeom>
            <a:noFill/>
          </p:spPr>
          <p:txBody>
            <a:bodyPr wrap="none" rtlCol="0">
              <a:spAutoFit/>
            </a:bodyPr>
            <a:lstStyle/>
            <a:p>
              <a:pPr algn="just">
                <a:defRPr/>
              </a:pPr>
              <a:r>
                <a:rPr lang="en-US" altLang="zh-CN" dirty="0">
                  <a:solidFill>
                    <a:prstClr val="black">
                      <a:lumMod val="85000"/>
                      <a:lumOff val="15000"/>
                    </a:prstClr>
                  </a:solidFill>
                  <a:cs typeface="+mn-ea"/>
                  <a:sym typeface="+mn-lt"/>
                </a:rPr>
                <a:t>NLP Accuracy:</a:t>
              </a:r>
              <a:endParaRPr lang="en-US" altLang="zh-CN" dirty="0">
                <a:solidFill>
                  <a:prstClr val="black">
                    <a:lumMod val="85000"/>
                    <a:lumOff val="15000"/>
                  </a:prstClr>
                </a:solidFill>
                <a:cs typeface="+mn-ea"/>
                <a:sym typeface="+mn-lt"/>
              </a:endParaRPr>
            </a:p>
          </p:txBody>
        </p:sp>
      </p:grpSp>
      <p:grpSp>
        <p:nvGrpSpPr>
          <p:cNvPr id="3" name="组合 2"/>
          <p:cNvGrpSpPr/>
          <p:nvPr/>
        </p:nvGrpSpPr>
        <p:grpSpPr>
          <a:xfrm>
            <a:off x="1257947" y="3929265"/>
            <a:ext cx="2944495" cy="1413803"/>
            <a:chOff x="1257947" y="3929265"/>
            <a:chExt cx="2944495" cy="1413803"/>
          </a:xfrm>
        </p:grpSpPr>
        <p:sp>
          <p:nvSpPr>
            <p:cNvPr id="47" name="文本框 46"/>
            <p:cNvSpPr txBox="1"/>
            <p:nvPr/>
          </p:nvSpPr>
          <p:spPr>
            <a:xfrm>
              <a:off x="1257947" y="4266743"/>
              <a:ext cx="2944451" cy="1076325"/>
            </a:xfrm>
            <a:prstGeom prst="rect">
              <a:avLst/>
            </a:prstGeom>
            <a:noFill/>
          </p:spPr>
          <p:txBody>
            <a:bodyPr wrap="square" rtlCol="0">
              <a:spAutoFit/>
            </a:bodyPr>
            <a:lstStyle/>
            <a:p>
              <a:pPr algn="just">
                <a:defRPr/>
              </a:pPr>
              <a:r>
                <a:rPr lang="en-US" altLang="en-US" sz="1600" dirty="0">
                  <a:solidFill>
                    <a:srgbClr val="E7E6E6">
                      <a:lumMod val="25000"/>
                    </a:srgbClr>
                  </a:solidFill>
                  <a:cs typeface="+mn-ea"/>
                  <a:sym typeface="+mn-lt"/>
                </a:rPr>
                <a:t> Evaluate the user's</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perception of ease-of-use and</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time saved compared to</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manual entry.</a:t>
              </a:r>
              <a:endParaRPr lang="en-US" altLang="en-US" sz="1600" dirty="0">
                <a:solidFill>
                  <a:srgbClr val="E7E6E6">
                    <a:lumMod val="25000"/>
                  </a:srgbClr>
                </a:solidFill>
                <a:cs typeface="+mn-ea"/>
                <a:sym typeface="+mn-lt"/>
              </a:endParaRPr>
            </a:p>
          </p:txBody>
        </p:sp>
        <p:sp>
          <p:nvSpPr>
            <p:cNvPr id="48" name="TextBox 76"/>
            <p:cNvSpPr txBox="1"/>
            <p:nvPr/>
          </p:nvSpPr>
          <p:spPr>
            <a:xfrm>
              <a:off x="2115197" y="3929265"/>
              <a:ext cx="2087245" cy="541020"/>
            </a:xfrm>
            <a:prstGeom prst="rect">
              <a:avLst/>
            </a:prstGeom>
            <a:noFill/>
          </p:spPr>
          <p:txBody>
            <a:bodyPr wrap="square" rtlCol="0">
              <a:noAutofit/>
            </a:bodyPr>
            <a:lstStyle/>
            <a:p>
              <a:pPr algn="r">
                <a:defRPr/>
              </a:pPr>
              <a:r>
                <a:rPr lang="en-US" altLang="en-US" dirty="0">
                  <a:solidFill>
                    <a:srgbClr val="E7E6E6">
                      <a:lumMod val="25000"/>
                    </a:srgbClr>
                  </a:solidFill>
                  <a:cs typeface="+mn-ea"/>
                  <a:sym typeface="+mn-lt"/>
                </a:rPr>
                <a:t> UsabilityTesting:</a:t>
              </a:r>
              <a:endParaRPr lang="zh-CN" altLang="en-US" dirty="0">
                <a:solidFill>
                  <a:prstClr val="black">
                    <a:lumMod val="85000"/>
                    <a:lumOff val="15000"/>
                  </a:prstClr>
                </a:solidFill>
                <a:cs typeface="+mn-ea"/>
                <a:sym typeface="+mn-lt"/>
              </a:endParaRPr>
            </a:p>
          </p:txBody>
        </p:sp>
      </p:grpSp>
      <p:grpSp>
        <p:nvGrpSpPr>
          <p:cNvPr id="2" name="组合 1"/>
          <p:cNvGrpSpPr/>
          <p:nvPr/>
        </p:nvGrpSpPr>
        <p:grpSpPr>
          <a:xfrm>
            <a:off x="706755" y="1183005"/>
            <a:ext cx="3495675" cy="1333005"/>
            <a:chOff x="1257947" y="1767858"/>
            <a:chExt cx="2944451" cy="894247"/>
          </a:xfrm>
        </p:grpSpPr>
        <p:sp>
          <p:nvSpPr>
            <p:cNvPr id="49" name="文本框 48"/>
            <p:cNvSpPr txBox="1"/>
            <p:nvPr/>
          </p:nvSpPr>
          <p:spPr>
            <a:xfrm>
              <a:off x="1257947" y="2105336"/>
              <a:ext cx="2944451" cy="556769"/>
            </a:xfrm>
            <a:prstGeom prst="rect">
              <a:avLst/>
            </a:prstGeom>
            <a:noFill/>
          </p:spPr>
          <p:txBody>
            <a:bodyPr wrap="square" rtlCol="0">
              <a:spAutoFit/>
            </a:bodyPr>
            <a:lstStyle/>
            <a:p>
              <a:pPr algn="just">
                <a:defRPr/>
              </a:pPr>
              <a:r>
                <a:rPr lang="en-US" altLang="en-US" sz="1600" dirty="0">
                  <a:solidFill>
                    <a:srgbClr val="E7E6E6">
                      <a:lumMod val="25000"/>
                    </a:srgbClr>
                  </a:solidFill>
                  <a:cs typeface="+mn-ea"/>
                  <a:sym typeface="+mn-lt"/>
                </a:rPr>
                <a:t> Verification of individual </a:t>
              </a:r>
              <a:endParaRPr lang="en-US" altLang="en-US" sz="1600" dirty="0">
                <a:solidFill>
                  <a:srgbClr val="E7E6E6">
                    <a:lumMod val="25000"/>
                  </a:srgbClr>
                </a:solidFill>
                <a:cs typeface="+mn-ea"/>
                <a:sym typeface="+mn-lt"/>
              </a:endParaRPr>
            </a:p>
            <a:p>
              <a:pPr algn="just">
                <a:defRPr/>
              </a:pPr>
              <a:r>
                <a:rPr lang="en-US" altLang="en-US" sz="1600" dirty="0">
                  <a:solidFill>
                    <a:srgbClr val="E7E6E6">
                      <a:lumMod val="25000"/>
                    </a:srgbClr>
                  </a:solidFill>
                  <a:cs typeface="+mn-ea"/>
                  <a:sym typeface="+mn-lt"/>
                </a:rPr>
                <a:t>components (e.g., task scheduling, reminder triggers).</a:t>
              </a:r>
              <a:endParaRPr lang="en-US" altLang="en-US" sz="1600" dirty="0">
                <a:solidFill>
                  <a:srgbClr val="E7E6E6">
                    <a:lumMod val="25000"/>
                  </a:srgbClr>
                </a:solidFill>
                <a:cs typeface="+mn-ea"/>
                <a:sym typeface="+mn-lt"/>
              </a:endParaRPr>
            </a:p>
          </p:txBody>
        </p:sp>
        <p:sp>
          <p:nvSpPr>
            <p:cNvPr id="50" name="TextBox 76"/>
            <p:cNvSpPr txBox="1"/>
            <p:nvPr/>
          </p:nvSpPr>
          <p:spPr>
            <a:xfrm>
              <a:off x="1986664" y="1767858"/>
              <a:ext cx="2215734" cy="357138"/>
            </a:xfrm>
            <a:prstGeom prst="rect">
              <a:avLst/>
            </a:prstGeom>
            <a:noFill/>
          </p:spPr>
          <p:txBody>
            <a:bodyPr wrap="square" rtlCol="0">
              <a:noAutofit/>
            </a:bodyPr>
            <a:lstStyle/>
            <a:p>
              <a:pPr algn="r">
                <a:defRPr/>
              </a:pPr>
              <a:r>
                <a:rPr lang="en-US" altLang="en-US" sz="1600" dirty="0">
                  <a:solidFill>
                    <a:srgbClr val="E7E6E6">
                      <a:lumMod val="25000"/>
                    </a:srgbClr>
                  </a:solidFill>
                  <a:cs typeface="+mn-ea"/>
                  <a:sym typeface="+mn-lt"/>
                </a:rPr>
                <a:t>Functionality Testing (Unit</a:t>
              </a:r>
              <a:endParaRPr lang="en-US" altLang="en-US" sz="1600" dirty="0">
                <a:solidFill>
                  <a:srgbClr val="E7E6E6">
                    <a:lumMod val="25000"/>
                  </a:srgbClr>
                </a:solidFill>
                <a:cs typeface="+mn-ea"/>
                <a:sym typeface="+mn-lt"/>
              </a:endParaRPr>
            </a:p>
            <a:p>
              <a:pPr algn="r">
                <a:defRPr/>
              </a:pPr>
              <a:r>
                <a:rPr lang="en-US" altLang="en-US" sz="1600" dirty="0">
                  <a:solidFill>
                    <a:srgbClr val="E7E6E6">
                      <a:lumMod val="25000"/>
                    </a:srgbClr>
                  </a:solidFill>
                  <a:cs typeface="+mn-ea"/>
                  <a:sym typeface="+mn-lt"/>
                </a:rPr>
                <a:t>Tests):</a:t>
              </a:r>
              <a:endParaRPr lang="zh-CN" altLang="en-US" sz="1600" dirty="0">
                <a:solidFill>
                  <a:prstClr val="black">
                    <a:lumMod val="85000"/>
                    <a:lumOff val="15000"/>
                  </a:prstClr>
                </a:solidFill>
                <a:cs typeface="+mn-ea"/>
                <a:sym typeface="+mn-lt"/>
              </a:endParaRPr>
            </a:p>
          </p:txBody>
        </p:sp>
      </p:grpSp>
      <p:grpSp>
        <p:nvGrpSpPr>
          <p:cNvPr id="7" name="组合 6"/>
          <p:cNvGrpSpPr/>
          <p:nvPr/>
        </p:nvGrpSpPr>
        <p:grpSpPr>
          <a:xfrm>
            <a:off x="6153584" y="2894341"/>
            <a:ext cx="1565042" cy="739346"/>
            <a:chOff x="6153584" y="2894341"/>
            <a:chExt cx="1565042" cy="739346"/>
          </a:xfrm>
        </p:grpSpPr>
        <p:sp>
          <p:nvSpPr>
            <p:cNvPr id="36" name="Connector 32"/>
            <p:cNvSpPr/>
            <p:nvPr/>
          </p:nvSpPr>
          <p:spPr>
            <a:xfrm rot="5400000" flipH="1">
              <a:off x="6566432" y="2481493"/>
              <a:ext cx="739346" cy="1565042"/>
            </a:xfrm>
            <a:prstGeom prst="flowChartOffpageConnector">
              <a:avLst/>
            </a:prstGeom>
            <a:solidFill>
              <a:srgbClr val="52525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defRPr/>
              </a:pPr>
              <a:endParaRPr lang="en-US" sz="3600" dirty="0">
                <a:solidFill>
                  <a:prstClr val="white"/>
                </a:solidFill>
                <a:cs typeface="+mn-ea"/>
                <a:sym typeface="+mn-lt"/>
              </a:endParaRPr>
            </a:p>
          </p:txBody>
        </p:sp>
        <p:grpSp>
          <p:nvGrpSpPr>
            <p:cNvPr id="24" name="组合 23"/>
            <p:cNvGrpSpPr/>
            <p:nvPr/>
          </p:nvGrpSpPr>
          <p:grpSpPr>
            <a:xfrm>
              <a:off x="6823137" y="3079484"/>
              <a:ext cx="463569" cy="461665"/>
              <a:chOff x="6622902" y="4065869"/>
              <a:chExt cx="546329" cy="611888"/>
            </a:xfrm>
            <a:solidFill>
              <a:schemeClr val="bg1"/>
            </a:solidFill>
          </p:grpSpPr>
          <p:sp>
            <p:nvSpPr>
              <p:cNvPr id="25" name="Freeform 628"/>
              <p:cNvSpPr/>
              <p:nvPr/>
            </p:nvSpPr>
            <p:spPr bwMode="auto">
              <a:xfrm>
                <a:off x="6726706" y="4169670"/>
                <a:ext cx="344189" cy="289556"/>
              </a:xfrm>
              <a:custGeom>
                <a:avLst/>
                <a:gdLst>
                  <a:gd name="T0" fmla="*/ 163 w 163"/>
                  <a:gd name="T1" fmla="*/ 81 h 139"/>
                  <a:gd name="T2" fmla="*/ 81 w 163"/>
                  <a:gd name="T3" fmla="*/ 0 h 139"/>
                  <a:gd name="T4" fmla="*/ 0 w 163"/>
                  <a:gd name="T5" fmla="*/ 81 h 139"/>
                  <a:gd name="T6" fmla="*/ 24 w 163"/>
                  <a:gd name="T7" fmla="*/ 139 h 139"/>
                  <a:gd name="T8" fmla="*/ 39 w 163"/>
                  <a:gd name="T9" fmla="*/ 120 h 139"/>
                  <a:gd name="T10" fmla="*/ 24 w 163"/>
                  <a:gd name="T11" fmla="*/ 81 h 139"/>
                  <a:gd name="T12" fmla="*/ 81 w 163"/>
                  <a:gd name="T13" fmla="*/ 24 h 139"/>
                  <a:gd name="T14" fmla="*/ 139 w 163"/>
                  <a:gd name="T15" fmla="*/ 81 h 139"/>
                  <a:gd name="T16" fmla="*/ 123 w 163"/>
                  <a:gd name="T17" fmla="*/ 120 h 139"/>
                  <a:gd name="T18" fmla="*/ 139 w 163"/>
                  <a:gd name="T19" fmla="*/ 139 h 139"/>
                  <a:gd name="T20" fmla="*/ 163 w 163"/>
                  <a:gd name="T21" fmla="*/ 8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139">
                    <a:moveTo>
                      <a:pt x="163" y="81"/>
                    </a:moveTo>
                    <a:cubicBezTo>
                      <a:pt x="163" y="36"/>
                      <a:pt x="126" y="0"/>
                      <a:pt x="81" y="0"/>
                    </a:cubicBezTo>
                    <a:cubicBezTo>
                      <a:pt x="36" y="0"/>
                      <a:pt x="0" y="36"/>
                      <a:pt x="0" y="81"/>
                    </a:cubicBezTo>
                    <a:cubicBezTo>
                      <a:pt x="0" y="104"/>
                      <a:pt x="9" y="124"/>
                      <a:pt x="24" y="139"/>
                    </a:cubicBezTo>
                    <a:cubicBezTo>
                      <a:pt x="28" y="132"/>
                      <a:pt x="33" y="126"/>
                      <a:pt x="39" y="120"/>
                    </a:cubicBezTo>
                    <a:cubicBezTo>
                      <a:pt x="30" y="110"/>
                      <a:pt x="24" y="96"/>
                      <a:pt x="24" y="81"/>
                    </a:cubicBezTo>
                    <a:cubicBezTo>
                      <a:pt x="24" y="50"/>
                      <a:pt x="49" y="24"/>
                      <a:pt x="81" y="24"/>
                    </a:cubicBezTo>
                    <a:cubicBezTo>
                      <a:pt x="113" y="24"/>
                      <a:pt x="139" y="50"/>
                      <a:pt x="139" y="81"/>
                    </a:cubicBezTo>
                    <a:cubicBezTo>
                      <a:pt x="139" y="96"/>
                      <a:pt x="133" y="110"/>
                      <a:pt x="123" y="120"/>
                    </a:cubicBezTo>
                    <a:cubicBezTo>
                      <a:pt x="129" y="125"/>
                      <a:pt x="135" y="132"/>
                      <a:pt x="139" y="139"/>
                    </a:cubicBezTo>
                    <a:cubicBezTo>
                      <a:pt x="153" y="124"/>
                      <a:pt x="163" y="104"/>
                      <a:pt x="163" y="81"/>
                    </a:cubicBezTo>
                    <a:close/>
                  </a:path>
                </a:pathLst>
              </a:custGeom>
              <a:grpFill/>
              <a:ln>
                <a:noFill/>
              </a:ln>
            </p:spPr>
            <p:txBody>
              <a:bodyPr/>
              <a:lstStyle/>
              <a:p>
                <a:pPr>
                  <a:defRPr/>
                </a:pPr>
                <a:endParaRPr lang="zh-CN" altLang="en-US">
                  <a:solidFill>
                    <a:prstClr val="black"/>
                  </a:solidFill>
                  <a:cs typeface="+mn-ea"/>
                  <a:sym typeface="+mn-lt"/>
                </a:endParaRPr>
              </a:p>
            </p:txBody>
          </p:sp>
          <p:sp>
            <p:nvSpPr>
              <p:cNvPr id="26" name="Freeform 629"/>
              <p:cNvSpPr/>
              <p:nvPr/>
            </p:nvSpPr>
            <p:spPr bwMode="auto">
              <a:xfrm>
                <a:off x="6622902" y="4065869"/>
                <a:ext cx="546329" cy="513549"/>
              </a:xfrm>
              <a:custGeom>
                <a:avLst/>
                <a:gdLst>
                  <a:gd name="T0" fmla="*/ 259 w 259"/>
                  <a:gd name="T1" fmla="*/ 129 h 244"/>
                  <a:gd name="T2" fmla="*/ 130 w 259"/>
                  <a:gd name="T3" fmla="*/ 0 h 244"/>
                  <a:gd name="T4" fmla="*/ 0 w 259"/>
                  <a:gd name="T5" fmla="*/ 129 h 244"/>
                  <a:gd name="T6" fmla="*/ 70 w 259"/>
                  <a:gd name="T7" fmla="*/ 244 h 244"/>
                  <a:gd name="T8" fmla="*/ 65 w 259"/>
                  <a:gd name="T9" fmla="*/ 217 h 244"/>
                  <a:gd name="T10" fmla="*/ 65 w 259"/>
                  <a:gd name="T11" fmla="*/ 214 h 244"/>
                  <a:gd name="T12" fmla="*/ 23 w 259"/>
                  <a:gd name="T13" fmla="*/ 129 h 244"/>
                  <a:gd name="T14" fmla="*/ 130 w 259"/>
                  <a:gd name="T15" fmla="*/ 23 h 244"/>
                  <a:gd name="T16" fmla="*/ 236 w 259"/>
                  <a:gd name="T17" fmla="*/ 129 h 244"/>
                  <a:gd name="T18" fmla="*/ 195 w 259"/>
                  <a:gd name="T19" fmla="*/ 214 h 244"/>
                  <a:gd name="T20" fmla="*/ 195 w 259"/>
                  <a:gd name="T21" fmla="*/ 217 h 244"/>
                  <a:gd name="T22" fmla="*/ 191 w 259"/>
                  <a:gd name="T23" fmla="*/ 244 h 244"/>
                  <a:gd name="T24" fmla="*/ 259 w 259"/>
                  <a:gd name="T25" fmla="*/ 129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9" h="244">
                    <a:moveTo>
                      <a:pt x="259" y="129"/>
                    </a:moveTo>
                    <a:cubicBezTo>
                      <a:pt x="259" y="58"/>
                      <a:pt x="201" y="0"/>
                      <a:pt x="130" y="0"/>
                    </a:cubicBezTo>
                    <a:cubicBezTo>
                      <a:pt x="58" y="0"/>
                      <a:pt x="0" y="58"/>
                      <a:pt x="0" y="129"/>
                    </a:cubicBezTo>
                    <a:cubicBezTo>
                      <a:pt x="0" y="179"/>
                      <a:pt x="29" y="223"/>
                      <a:pt x="70" y="244"/>
                    </a:cubicBezTo>
                    <a:cubicBezTo>
                      <a:pt x="67" y="233"/>
                      <a:pt x="65" y="223"/>
                      <a:pt x="65" y="217"/>
                    </a:cubicBezTo>
                    <a:cubicBezTo>
                      <a:pt x="65" y="216"/>
                      <a:pt x="65" y="215"/>
                      <a:pt x="65" y="214"/>
                    </a:cubicBezTo>
                    <a:cubicBezTo>
                      <a:pt x="40" y="195"/>
                      <a:pt x="23" y="164"/>
                      <a:pt x="23" y="129"/>
                    </a:cubicBezTo>
                    <a:cubicBezTo>
                      <a:pt x="23" y="71"/>
                      <a:pt x="71" y="23"/>
                      <a:pt x="130" y="23"/>
                    </a:cubicBezTo>
                    <a:cubicBezTo>
                      <a:pt x="189" y="23"/>
                      <a:pt x="236" y="71"/>
                      <a:pt x="236" y="129"/>
                    </a:cubicBezTo>
                    <a:cubicBezTo>
                      <a:pt x="236" y="164"/>
                      <a:pt x="220" y="194"/>
                      <a:pt x="195" y="214"/>
                    </a:cubicBezTo>
                    <a:cubicBezTo>
                      <a:pt x="195" y="215"/>
                      <a:pt x="195" y="216"/>
                      <a:pt x="195" y="217"/>
                    </a:cubicBezTo>
                    <a:cubicBezTo>
                      <a:pt x="195" y="223"/>
                      <a:pt x="193" y="233"/>
                      <a:pt x="191" y="244"/>
                    </a:cubicBezTo>
                    <a:cubicBezTo>
                      <a:pt x="232" y="222"/>
                      <a:pt x="259" y="179"/>
                      <a:pt x="259" y="129"/>
                    </a:cubicBezTo>
                    <a:close/>
                  </a:path>
                </a:pathLst>
              </a:custGeom>
              <a:grpFill/>
              <a:ln>
                <a:noFill/>
              </a:ln>
            </p:spPr>
            <p:txBody>
              <a:bodyPr/>
              <a:lstStyle/>
              <a:p>
                <a:pPr>
                  <a:defRPr/>
                </a:pPr>
                <a:endParaRPr lang="zh-CN" altLang="en-US">
                  <a:solidFill>
                    <a:prstClr val="black"/>
                  </a:solidFill>
                  <a:cs typeface="+mn-ea"/>
                  <a:sym typeface="+mn-lt"/>
                </a:endParaRPr>
              </a:p>
            </p:txBody>
          </p:sp>
          <p:sp>
            <p:nvSpPr>
              <p:cNvPr id="27" name="Freeform 630"/>
              <p:cNvSpPr/>
              <p:nvPr/>
            </p:nvSpPr>
            <p:spPr bwMode="auto">
              <a:xfrm>
                <a:off x="6808654" y="4437372"/>
                <a:ext cx="174825" cy="240385"/>
              </a:xfrm>
              <a:custGeom>
                <a:avLst/>
                <a:gdLst>
                  <a:gd name="T0" fmla="*/ 21 w 84"/>
                  <a:gd name="T1" fmla="*/ 113 h 113"/>
                  <a:gd name="T2" fmla="*/ 64 w 84"/>
                  <a:gd name="T3" fmla="*/ 113 h 113"/>
                  <a:gd name="T4" fmla="*/ 84 w 84"/>
                  <a:gd name="T5" fmla="*/ 41 h 113"/>
                  <a:gd name="T6" fmla="*/ 43 w 84"/>
                  <a:gd name="T7" fmla="*/ 0 h 113"/>
                  <a:gd name="T8" fmla="*/ 42 w 84"/>
                  <a:gd name="T9" fmla="*/ 0 h 113"/>
                  <a:gd name="T10" fmla="*/ 42 w 84"/>
                  <a:gd name="T11" fmla="*/ 0 h 113"/>
                  <a:gd name="T12" fmla="*/ 42 w 84"/>
                  <a:gd name="T13" fmla="*/ 0 h 113"/>
                  <a:gd name="T14" fmla="*/ 42 w 84"/>
                  <a:gd name="T15" fmla="*/ 0 h 113"/>
                  <a:gd name="T16" fmla="*/ 0 w 84"/>
                  <a:gd name="T17" fmla="*/ 41 h 113"/>
                  <a:gd name="T18" fmla="*/ 21 w 8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113">
                    <a:moveTo>
                      <a:pt x="21" y="113"/>
                    </a:moveTo>
                    <a:cubicBezTo>
                      <a:pt x="64" y="113"/>
                      <a:pt x="64" y="113"/>
                      <a:pt x="64" y="113"/>
                    </a:cubicBezTo>
                    <a:cubicBezTo>
                      <a:pt x="73" y="90"/>
                      <a:pt x="84" y="52"/>
                      <a:pt x="84" y="41"/>
                    </a:cubicBezTo>
                    <a:cubicBezTo>
                      <a:pt x="84" y="19"/>
                      <a:pt x="66" y="0"/>
                      <a:pt x="43" y="0"/>
                    </a:cubicBezTo>
                    <a:cubicBezTo>
                      <a:pt x="43" y="0"/>
                      <a:pt x="43" y="0"/>
                      <a:pt x="42" y="0"/>
                    </a:cubicBezTo>
                    <a:cubicBezTo>
                      <a:pt x="42" y="0"/>
                      <a:pt x="42" y="0"/>
                      <a:pt x="42" y="0"/>
                    </a:cubicBezTo>
                    <a:cubicBezTo>
                      <a:pt x="42" y="0"/>
                      <a:pt x="42" y="0"/>
                      <a:pt x="42" y="0"/>
                    </a:cubicBezTo>
                    <a:cubicBezTo>
                      <a:pt x="42" y="0"/>
                      <a:pt x="42" y="0"/>
                      <a:pt x="42" y="0"/>
                    </a:cubicBezTo>
                    <a:cubicBezTo>
                      <a:pt x="19" y="0"/>
                      <a:pt x="0" y="19"/>
                      <a:pt x="0" y="41"/>
                    </a:cubicBezTo>
                    <a:cubicBezTo>
                      <a:pt x="0" y="52"/>
                      <a:pt x="11" y="90"/>
                      <a:pt x="21" y="113"/>
                    </a:cubicBezTo>
                    <a:close/>
                  </a:path>
                </a:pathLst>
              </a:custGeom>
              <a:grpFill/>
              <a:ln>
                <a:noFill/>
              </a:ln>
            </p:spPr>
            <p:txBody>
              <a:bodyPr/>
              <a:lstStyle/>
              <a:p>
                <a:pPr>
                  <a:defRPr/>
                </a:pPr>
                <a:endParaRPr lang="zh-CN" altLang="en-US">
                  <a:solidFill>
                    <a:prstClr val="black"/>
                  </a:solidFill>
                  <a:cs typeface="+mn-ea"/>
                  <a:sym typeface="+mn-lt"/>
                </a:endParaRPr>
              </a:p>
            </p:txBody>
          </p:sp>
          <p:sp>
            <p:nvSpPr>
              <p:cNvPr id="28" name="Freeform 631"/>
              <p:cNvSpPr/>
              <p:nvPr/>
            </p:nvSpPr>
            <p:spPr bwMode="auto">
              <a:xfrm>
                <a:off x="6830507" y="4273474"/>
                <a:ext cx="125657" cy="131119"/>
              </a:xfrm>
              <a:custGeom>
                <a:avLst/>
                <a:gdLst>
                  <a:gd name="T0" fmla="*/ 60 w 60"/>
                  <a:gd name="T1" fmla="*/ 30 h 61"/>
                  <a:gd name="T2" fmla="*/ 30 w 60"/>
                  <a:gd name="T3" fmla="*/ 0 h 61"/>
                  <a:gd name="T4" fmla="*/ 0 w 60"/>
                  <a:gd name="T5" fmla="*/ 30 h 61"/>
                  <a:gd name="T6" fmla="*/ 14 w 60"/>
                  <a:gd name="T7" fmla="*/ 56 h 61"/>
                  <a:gd name="T8" fmla="*/ 30 w 60"/>
                  <a:gd name="T9" fmla="*/ 61 h 61"/>
                  <a:gd name="T10" fmla="*/ 46 w 60"/>
                  <a:gd name="T11" fmla="*/ 56 h 61"/>
                  <a:gd name="T12" fmla="*/ 60 w 60"/>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60" h="61">
                    <a:moveTo>
                      <a:pt x="60" y="30"/>
                    </a:moveTo>
                    <a:cubicBezTo>
                      <a:pt x="60" y="14"/>
                      <a:pt x="47" y="0"/>
                      <a:pt x="30" y="0"/>
                    </a:cubicBezTo>
                    <a:cubicBezTo>
                      <a:pt x="13" y="0"/>
                      <a:pt x="0" y="14"/>
                      <a:pt x="0" y="30"/>
                    </a:cubicBezTo>
                    <a:cubicBezTo>
                      <a:pt x="0" y="41"/>
                      <a:pt x="5" y="51"/>
                      <a:pt x="14" y="56"/>
                    </a:cubicBezTo>
                    <a:cubicBezTo>
                      <a:pt x="19" y="59"/>
                      <a:pt x="24" y="61"/>
                      <a:pt x="30" y="61"/>
                    </a:cubicBezTo>
                    <a:cubicBezTo>
                      <a:pt x="36" y="61"/>
                      <a:pt x="41" y="59"/>
                      <a:pt x="46" y="56"/>
                    </a:cubicBezTo>
                    <a:cubicBezTo>
                      <a:pt x="55" y="51"/>
                      <a:pt x="60" y="41"/>
                      <a:pt x="60" y="30"/>
                    </a:cubicBezTo>
                    <a:close/>
                  </a:path>
                </a:pathLst>
              </a:custGeom>
              <a:grpFill/>
              <a:ln>
                <a:noFill/>
              </a:ln>
            </p:spPr>
            <p:txBody>
              <a:bodyPr/>
              <a:lstStyle/>
              <a:p>
                <a:pPr>
                  <a:defRPr/>
                </a:pPr>
                <a:endParaRPr lang="zh-CN" altLang="en-US">
                  <a:solidFill>
                    <a:prstClr val="black"/>
                  </a:solidFill>
                  <a:cs typeface="+mn-ea"/>
                  <a:sym typeface="+mn-lt"/>
                </a:endParaRPr>
              </a:p>
            </p:txBody>
          </p:sp>
        </p:grpSp>
      </p:grpSp>
      <p:grpSp>
        <p:nvGrpSpPr>
          <p:cNvPr id="8" name="组合 7"/>
          <p:cNvGrpSpPr/>
          <p:nvPr/>
        </p:nvGrpSpPr>
        <p:grpSpPr>
          <a:xfrm>
            <a:off x="4473374" y="3971894"/>
            <a:ext cx="1565042" cy="739346"/>
            <a:chOff x="4473374" y="3971894"/>
            <a:chExt cx="1565042" cy="739346"/>
          </a:xfrm>
        </p:grpSpPr>
        <p:sp>
          <p:nvSpPr>
            <p:cNvPr id="34" name="Connector 47"/>
            <p:cNvSpPr/>
            <p:nvPr/>
          </p:nvSpPr>
          <p:spPr>
            <a:xfrm rot="16200000">
              <a:off x="4886222" y="3559046"/>
              <a:ext cx="739346" cy="1565042"/>
            </a:xfrm>
            <a:prstGeom prst="flowChartOffpageConnector">
              <a:avLst/>
            </a:prstGeom>
            <a:solidFill>
              <a:srgbClr val="52525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defRPr/>
              </a:pPr>
              <a:endParaRPr lang="en-US" sz="3600" dirty="0">
                <a:solidFill>
                  <a:prstClr val="white"/>
                </a:solidFill>
                <a:cs typeface="+mn-ea"/>
                <a:sym typeface="+mn-lt"/>
              </a:endParaRPr>
            </a:p>
          </p:txBody>
        </p:sp>
        <p:grpSp>
          <p:nvGrpSpPr>
            <p:cNvPr id="29" name="Group 39"/>
            <p:cNvGrpSpPr/>
            <p:nvPr/>
          </p:nvGrpSpPr>
          <p:grpSpPr>
            <a:xfrm>
              <a:off x="4822499" y="4141239"/>
              <a:ext cx="525343" cy="417882"/>
              <a:chOff x="8804275" y="3135313"/>
              <a:chExt cx="449263" cy="476250"/>
            </a:xfrm>
            <a:solidFill>
              <a:schemeClr val="bg1"/>
            </a:solidFill>
            <a:effectLst/>
          </p:grpSpPr>
          <p:sp>
            <p:nvSpPr>
              <p:cNvPr id="30" name="Freeform 40"/>
              <p:cNvSpPr>
                <a:spLocks noEditPoints="1"/>
              </p:cNvSpPr>
              <p:nvPr/>
            </p:nvSpPr>
            <p:spPr bwMode="auto">
              <a:xfrm>
                <a:off x="9040813" y="3322638"/>
                <a:ext cx="212725" cy="288925"/>
              </a:xfrm>
              <a:custGeom>
                <a:avLst/>
                <a:gdLst>
                  <a:gd name="T0" fmla="*/ 43 w 57"/>
                  <a:gd name="T1" fmla="*/ 0 h 77"/>
                  <a:gd name="T2" fmla="*/ 14 w 57"/>
                  <a:gd name="T3" fmla="*/ 0 h 77"/>
                  <a:gd name="T4" fmla="*/ 0 w 57"/>
                  <a:gd name="T5" fmla="*/ 13 h 77"/>
                  <a:gd name="T6" fmla="*/ 0 w 57"/>
                  <a:gd name="T7" fmla="*/ 63 h 77"/>
                  <a:gd name="T8" fmla="*/ 14 w 57"/>
                  <a:gd name="T9" fmla="*/ 77 h 77"/>
                  <a:gd name="T10" fmla="*/ 43 w 57"/>
                  <a:gd name="T11" fmla="*/ 77 h 77"/>
                  <a:gd name="T12" fmla="*/ 57 w 57"/>
                  <a:gd name="T13" fmla="*/ 63 h 77"/>
                  <a:gd name="T14" fmla="*/ 57 w 57"/>
                  <a:gd name="T15" fmla="*/ 13 h 77"/>
                  <a:gd name="T16" fmla="*/ 43 w 57"/>
                  <a:gd name="T17" fmla="*/ 0 h 77"/>
                  <a:gd name="T18" fmla="*/ 28 w 57"/>
                  <a:gd name="T19" fmla="*/ 72 h 77"/>
                  <a:gd name="T20" fmla="*/ 25 w 57"/>
                  <a:gd name="T21" fmla="*/ 69 h 77"/>
                  <a:gd name="T22" fmla="*/ 28 w 57"/>
                  <a:gd name="T23" fmla="*/ 66 h 77"/>
                  <a:gd name="T24" fmla="*/ 31 w 57"/>
                  <a:gd name="T25" fmla="*/ 69 h 77"/>
                  <a:gd name="T26" fmla="*/ 28 w 57"/>
                  <a:gd name="T27" fmla="*/ 72 h 77"/>
                  <a:gd name="T28" fmla="*/ 46 w 57"/>
                  <a:gd name="T29" fmla="*/ 61 h 77"/>
                  <a:gd name="T30" fmla="*/ 11 w 57"/>
                  <a:gd name="T31" fmla="*/ 61 h 77"/>
                  <a:gd name="T32" fmla="*/ 11 w 57"/>
                  <a:gd name="T33" fmla="*/ 10 h 77"/>
                  <a:gd name="T34" fmla="*/ 46 w 57"/>
                  <a:gd name="T35" fmla="*/ 10 h 77"/>
                  <a:gd name="T36" fmla="*/ 46 w 57"/>
                  <a:gd name="T37" fmla="*/ 6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77">
                    <a:moveTo>
                      <a:pt x="43" y="0"/>
                    </a:moveTo>
                    <a:cubicBezTo>
                      <a:pt x="14" y="0"/>
                      <a:pt x="14" y="0"/>
                      <a:pt x="14" y="0"/>
                    </a:cubicBezTo>
                    <a:cubicBezTo>
                      <a:pt x="6" y="0"/>
                      <a:pt x="0" y="6"/>
                      <a:pt x="0" y="13"/>
                    </a:cubicBezTo>
                    <a:cubicBezTo>
                      <a:pt x="0" y="63"/>
                      <a:pt x="0" y="63"/>
                      <a:pt x="0" y="63"/>
                    </a:cubicBezTo>
                    <a:cubicBezTo>
                      <a:pt x="0" y="71"/>
                      <a:pt x="6" y="77"/>
                      <a:pt x="14" y="77"/>
                    </a:cubicBezTo>
                    <a:cubicBezTo>
                      <a:pt x="43" y="77"/>
                      <a:pt x="43" y="77"/>
                      <a:pt x="43" y="77"/>
                    </a:cubicBezTo>
                    <a:cubicBezTo>
                      <a:pt x="51" y="77"/>
                      <a:pt x="57" y="71"/>
                      <a:pt x="57" y="63"/>
                    </a:cubicBezTo>
                    <a:cubicBezTo>
                      <a:pt x="57" y="13"/>
                      <a:pt x="57" y="13"/>
                      <a:pt x="57" y="13"/>
                    </a:cubicBezTo>
                    <a:cubicBezTo>
                      <a:pt x="57" y="6"/>
                      <a:pt x="51" y="0"/>
                      <a:pt x="43" y="0"/>
                    </a:cubicBezTo>
                    <a:close/>
                    <a:moveTo>
                      <a:pt x="28" y="72"/>
                    </a:moveTo>
                    <a:cubicBezTo>
                      <a:pt x="27" y="72"/>
                      <a:pt x="25" y="70"/>
                      <a:pt x="25" y="69"/>
                    </a:cubicBezTo>
                    <a:cubicBezTo>
                      <a:pt x="25" y="67"/>
                      <a:pt x="27" y="66"/>
                      <a:pt x="28" y="66"/>
                    </a:cubicBezTo>
                    <a:cubicBezTo>
                      <a:pt x="30" y="66"/>
                      <a:pt x="31" y="67"/>
                      <a:pt x="31" y="69"/>
                    </a:cubicBezTo>
                    <a:cubicBezTo>
                      <a:pt x="31" y="70"/>
                      <a:pt x="30" y="72"/>
                      <a:pt x="28" y="72"/>
                    </a:cubicBezTo>
                    <a:close/>
                    <a:moveTo>
                      <a:pt x="46" y="61"/>
                    </a:moveTo>
                    <a:cubicBezTo>
                      <a:pt x="11" y="61"/>
                      <a:pt x="11" y="61"/>
                      <a:pt x="11" y="61"/>
                    </a:cubicBezTo>
                    <a:cubicBezTo>
                      <a:pt x="11" y="10"/>
                      <a:pt x="11" y="10"/>
                      <a:pt x="11" y="10"/>
                    </a:cubicBezTo>
                    <a:cubicBezTo>
                      <a:pt x="46" y="10"/>
                      <a:pt x="46" y="10"/>
                      <a:pt x="46" y="10"/>
                    </a:cubicBezTo>
                    <a:lnTo>
                      <a:pt x="46"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rgbClr val="E7E6E6">
                      <a:lumMod val="25000"/>
                    </a:srgbClr>
                  </a:solidFill>
                  <a:cs typeface="+mn-ea"/>
                  <a:sym typeface="+mn-lt"/>
                </a:endParaRPr>
              </a:p>
            </p:txBody>
          </p:sp>
          <p:sp>
            <p:nvSpPr>
              <p:cNvPr id="31" name="Freeform 41"/>
              <p:cNvSpPr/>
              <p:nvPr/>
            </p:nvSpPr>
            <p:spPr bwMode="auto">
              <a:xfrm>
                <a:off x="8804275" y="3135313"/>
                <a:ext cx="412750" cy="461963"/>
              </a:xfrm>
              <a:custGeom>
                <a:avLst/>
                <a:gdLst>
                  <a:gd name="T0" fmla="*/ 37 w 110"/>
                  <a:gd name="T1" fmla="*/ 61 h 123"/>
                  <a:gd name="T2" fmla="*/ 76 w 110"/>
                  <a:gd name="T3" fmla="*/ 42 h 123"/>
                  <a:gd name="T4" fmla="*/ 100 w 110"/>
                  <a:gd name="T5" fmla="*/ 42 h 123"/>
                  <a:gd name="T6" fmla="*/ 102 w 110"/>
                  <a:gd name="T7" fmla="*/ 37 h 123"/>
                  <a:gd name="T8" fmla="*/ 106 w 110"/>
                  <a:gd name="T9" fmla="*/ 33 h 123"/>
                  <a:gd name="T10" fmla="*/ 107 w 110"/>
                  <a:gd name="T11" fmla="*/ 20 h 123"/>
                  <a:gd name="T12" fmla="*/ 91 w 110"/>
                  <a:gd name="T13" fmla="*/ 15 h 123"/>
                  <a:gd name="T14" fmla="*/ 85 w 110"/>
                  <a:gd name="T15" fmla="*/ 21 h 123"/>
                  <a:gd name="T16" fmla="*/ 85 w 110"/>
                  <a:gd name="T17" fmla="*/ 21 h 123"/>
                  <a:gd name="T18" fmla="*/ 75 w 110"/>
                  <a:gd name="T19" fmla="*/ 21 h 123"/>
                  <a:gd name="T20" fmla="*/ 73 w 110"/>
                  <a:gd name="T21" fmla="*/ 14 h 123"/>
                  <a:gd name="T22" fmla="*/ 73 w 110"/>
                  <a:gd name="T23" fmla="*/ 8 h 123"/>
                  <a:gd name="T24" fmla="*/ 58 w 110"/>
                  <a:gd name="T25" fmla="*/ 0 h 123"/>
                  <a:gd name="T26" fmla="*/ 50 w 110"/>
                  <a:gd name="T27" fmla="*/ 10 h 123"/>
                  <a:gd name="T28" fmla="*/ 50 w 110"/>
                  <a:gd name="T29" fmla="*/ 16 h 123"/>
                  <a:gd name="T30" fmla="*/ 50 w 110"/>
                  <a:gd name="T31" fmla="*/ 16 h 123"/>
                  <a:gd name="T32" fmla="*/ 50 w 110"/>
                  <a:gd name="T33" fmla="*/ 17 h 123"/>
                  <a:gd name="T34" fmla="*/ 50 w 110"/>
                  <a:gd name="T35" fmla="*/ 17 h 123"/>
                  <a:gd name="T36" fmla="*/ 49 w 110"/>
                  <a:gd name="T37" fmla="*/ 18 h 123"/>
                  <a:gd name="T38" fmla="*/ 49 w 110"/>
                  <a:gd name="T39" fmla="*/ 19 h 123"/>
                  <a:gd name="T40" fmla="*/ 42 w 110"/>
                  <a:gd name="T41" fmla="*/ 23 h 123"/>
                  <a:gd name="T42" fmla="*/ 36 w 110"/>
                  <a:gd name="T43" fmla="*/ 20 h 123"/>
                  <a:gd name="T44" fmla="*/ 32 w 110"/>
                  <a:gd name="T45" fmla="*/ 15 h 123"/>
                  <a:gd name="T46" fmla="*/ 15 w 110"/>
                  <a:gd name="T47" fmla="*/ 20 h 123"/>
                  <a:gd name="T48" fmla="*/ 17 w 110"/>
                  <a:gd name="T49" fmla="*/ 33 h 123"/>
                  <a:gd name="T50" fmla="*/ 21 w 110"/>
                  <a:gd name="T51" fmla="*/ 37 h 123"/>
                  <a:gd name="T52" fmla="*/ 22 w 110"/>
                  <a:gd name="T53" fmla="*/ 38 h 123"/>
                  <a:gd name="T54" fmla="*/ 22 w 110"/>
                  <a:gd name="T55" fmla="*/ 39 h 123"/>
                  <a:gd name="T56" fmla="*/ 22 w 110"/>
                  <a:gd name="T57" fmla="*/ 39 h 123"/>
                  <a:gd name="T58" fmla="*/ 22 w 110"/>
                  <a:gd name="T59" fmla="*/ 40 h 123"/>
                  <a:gd name="T60" fmla="*/ 23 w 110"/>
                  <a:gd name="T61" fmla="*/ 41 h 123"/>
                  <a:gd name="T62" fmla="*/ 23 w 110"/>
                  <a:gd name="T63" fmla="*/ 41 h 123"/>
                  <a:gd name="T64" fmla="*/ 21 w 110"/>
                  <a:gd name="T65" fmla="*/ 48 h 123"/>
                  <a:gd name="T66" fmla="*/ 14 w 110"/>
                  <a:gd name="T67" fmla="*/ 50 h 123"/>
                  <a:gd name="T68" fmla="*/ 8 w 110"/>
                  <a:gd name="T69" fmla="*/ 50 h 123"/>
                  <a:gd name="T70" fmla="*/ 0 w 110"/>
                  <a:gd name="T71" fmla="*/ 65 h 123"/>
                  <a:gd name="T72" fmla="*/ 10 w 110"/>
                  <a:gd name="T73" fmla="*/ 73 h 123"/>
                  <a:gd name="T74" fmla="*/ 17 w 110"/>
                  <a:gd name="T75" fmla="*/ 73 h 123"/>
                  <a:gd name="T76" fmla="*/ 17 w 110"/>
                  <a:gd name="T77" fmla="*/ 73 h 123"/>
                  <a:gd name="T78" fmla="*/ 23 w 110"/>
                  <a:gd name="T79" fmla="*/ 81 h 123"/>
                  <a:gd name="T80" fmla="*/ 20 w 110"/>
                  <a:gd name="T81" fmla="*/ 87 h 123"/>
                  <a:gd name="T82" fmla="*/ 17 w 110"/>
                  <a:gd name="T83" fmla="*/ 89 h 123"/>
                  <a:gd name="T84" fmla="*/ 15 w 110"/>
                  <a:gd name="T85" fmla="*/ 102 h 123"/>
                  <a:gd name="T86" fmla="*/ 32 w 110"/>
                  <a:gd name="T87" fmla="*/ 107 h 123"/>
                  <a:gd name="T88" fmla="*/ 37 w 110"/>
                  <a:gd name="T89" fmla="*/ 102 h 123"/>
                  <a:gd name="T90" fmla="*/ 38 w 110"/>
                  <a:gd name="T91" fmla="*/ 102 h 123"/>
                  <a:gd name="T92" fmla="*/ 38 w 110"/>
                  <a:gd name="T93" fmla="*/ 101 h 123"/>
                  <a:gd name="T94" fmla="*/ 39 w 110"/>
                  <a:gd name="T95" fmla="*/ 101 h 123"/>
                  <a:gd name="T96" fmla="*/ 40 w 110"/>
                  <a:gd name="T97" fmla="*/ 100 h 123"/>
                  <a:gd name="T98" fmla="*/ 40 w 110"/>
                  <a:gd name="T99" fmla="*/ 100 h 123"/>
                  <a:gd name="T100" fmla="*/ 41 w 110"/>
                  <a:gd name="T101" fmla="*/ 100 h 123"/>
                  <a:gd name="T102" fmla="*/ 41 w 110"/>
                  <a:gd name="T103" fmla="*/ 100 h 123"/>
                  <a:gd name="T104" fmla="*/ 48 w 110"/>
                  <a:gd name="T105" fmla="*/ 102 h 123"/>
                  <a:gd name="T106" fmla="*/ 50 w 110"/>
                  <a:gd name="T107" fmla="*/ 109 h 123"/>
                  <a:gd name="T108" fmla="*/ 50 w 110"/>
                  <a:gd name="T109" fmla="*/ 115 h 123"/>
                  <a:gd name="T110" fmla="*/ 58 w 110"/>
                  <a:gd name="T111" fmla="*/ 123 h 123"/>
                  <a:gd name="T112" fmla="*/ 56 w 110"/>
                  <a:gd name="T113" fmla="*/ 8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0" h="123">
                    <a:moveTo>
                      <a:pt x="56" y="85"/>
                    </a:moveTo>
                    <a:cubicBezTo>
                      <a:pt x="45" y="82"/>
                      <a:pt x="37" y="73"/>
                      <a:pt x="37" y="61"/>
                    </a:cubicBezTo>
                    <a:cubicBezTo>
                      <a:pt x="37" y="48"/>
                      <a:pt x="48" y="37"/>
                      <a:pt x="61" y="37"/>
                    </a:cubicBezTo>
                    <a:cubicBezTo>
                      <a:pt x="67" y="37"/>
                      <a:pt x="72" y="39"/>
                      <a:pt x="76" y="42"/>
                    </a:cubicBezTo>
                    <a:cubicBezTo>
                      <a:pt x="76" y="42"/>
                      <a:pt x="77" y="42"/>
                      <a:pt x="77" y="42"/>
                    </a:cubicBezTo>
                    <a:cubicBezTo>
                      <a:pt x="100" y="42"/>
                      <a:pt x="100" y="42"/>
                      <a:pt x="100" y="42"/>
                    </a:cubicBezTo>
                    <a:cubicBezTo>
                      <a:pt x="100" y="41"/>
                      <a:pt x="100" y="40"/>
                      <a:pt x="100" y="40"/>
                    </a:cubicBezTo>
                    <a:cubicBezTo>
                      <a:pt x="101" y="39"/>
                      <a:pt x="101" y="38"/>
                      <a:pt x="102" y="37"/>
                    </a:cubicBezTo>
                    <a:cubicBezTo>
                      <a:pt x="103" y="36"/>
                      <a:pt x="103" y="36"/>
                      <a:pt x="103" y="36"/>
                    </a:cubicBezTo>
                    <a:cubicBezTo>
                      <a:pt x="106" y="33"/>
                      <a:pt x="106" y="33"/>
                      <a:pt x="106" y="33"/>
                    </a:cubicBezTo>
                    <a:cubicBezTo>
                      <a:pt x="108" y="32"/>
                      <a:pt x="108" y="32"/>
                      <a:pt x="108" y="32"/>
                    </a:cubicBezTo>
                    <a:cubicBezTo>
                      <a:pt x="110" y="28"/>
                      <a:pt x="110" y="24"/>
                      <a:pt x="107" y="20"/>
                    </a:cubicBezTo>
                    <a:cubicBezTo>
                      <a:pt x="102" y="15"/>
                      <a:pt x="102" y="15"/>
                      <a:pt x="102" y="15"/>
                    </a:cubicBezTo>
                    <a:cubicBezTo>
                      <a:pt x="99" y="13"/>
                      <a:pt x="95" y="13"/>
                      <a:pt x="91" y="15"/>
                    </a:cubicBezTo>
                    <a:cubicBezTo>
                      <a:pt x="89" y="17"/>
                      <a:pt x="89" y="17"/>
                      <a:pt x="89" y="17"/>
                    </a:cubicBezTo>
                    <a:cubicBezTo>
                      <a:pt x="85" y="21"/>
                      <a:pt x="85" y="21"/>
                      <a:pt x="85" y="21"/>
                    </a:cubicBezTo>
                    <a:cubicBezTo>
                      <a:pt x="85" y="21"/>
                      <a:pt x="85" y="21"/>
                      <a:pt x="85" y="21"/>
                    </a:cubicBezTo>
                    <a:cubicBezTo>
                      <a:pt x="85" y="21"/>
                      <a:pt x="85" y="21"/>
                      <a:pt x="85" y="21"/>
                    </a:cubicBezTo>
                    <a:cubicBezTo>
                      <a:pt x="83" y="23"/>
                      <a:pt x="80" y="23"/>
                      <a:pt x="77" y="22"/>
                    </a:cubicBezTo>
                    <a:cubicBezTo>
                      <a:pt x="77" y="22"/>
                      <a:pt x="76" y="21"/>
                      <a:pt x="75" y="21"/>
                    </a:cubicBezTo>
                    <a:cubicBezTo>
                      <a:pt x="74" y="19"/>
                      <a:pt x="73" y="18"/>
                      <a:pt x="73" y="16"/>
                    </a:cubicBezTo>
                    <a:cubicBezTo>
                      <a:pt x="73" y="14"/>
                      <a:pt x="73" y="14"/>
                      <a:pt x="73" y="14"/>
                    </a:cubicBezTo>
                    <a:cubicBezTo>
                      <a:pt x="73" y="10"/>
                      <a:pt x="73" y="10"/>
                      <a:pt x="73" y="10"/>
                    </a:cubicBezTo>
                    <a:cubicBezTo>
                      <a:pt x="73" y="8"/>
                      <a:pt x="73" y="8"/>
                      <a:pt x="73" y="8"/>
                    </a:cubicBezTo>
                    <a:cubicBezTo>
                      <a:pt x="72" y="4"/>
                      <a:pt x="69" y="0"/>
                      <a:pt x="65" y="0"/>
                    </a:cubicBezTo>
                    <a:cubicBezTo>
                      <a:pt x="58" y="0"/>
                      <a:pt x="58" y="0"/>
                      <a:pt x="58" y="0"/>
                    </a:cubicBezTo>
                    <a:cubicBezTo>
                      <a:pt x="54" y="0"/>
                      <a:pt x="50" y="4"/>
                      <a:pt x="50" y="8"/>
                    </a:cubicBezTo>
                    <a:cubicBezTo>
                      <a:pt x="50" y="10"/>
                      <a:pt x="50" y="10"/>
                      <a:pt x="50" y="10"/>
                    </a:cubicBezTo>
                    <a:cubicBezTo>
                      <a:pt x="50" y="14"/>
                      <a:pt x="50" y="14"/>
                      <a:pt x="50" y="14"/>
                    </a:cubicBezTo>
                    <a:cubicBezTo>
                      <a:pt x="50" y="16"/>
                      <a:pt x="50" y="16"/>
                      <a:pt x="50" y="16"/>
                    </a:cubicBezTo>
                    <a:cubicBezTo>
                      <a:pt x="50" y="16"/>
                      <a:pt x="50" y="16"/>
                      <a:pt x="50" y="16"/>
                    </a:cubicBezTo>
                    <a:cubicBezTo>
                      <a:pt x="50" y="16"/>
                      <a:pt x="50" y="16"/>
                      <a:pt x="50" y="16"/>
                    </a:cubicBezTo>
                    <a:cubicBezTo>
                      <a:pt x="50" y="16"/>
                      <a:pt x="50" y="16"/>
                      <a:pt x="50" y="17"/>
                    </a:cubicBezTo>
                    <a:cubicBezTo>
                      <a:pt x="50" y="17"/>
                      <a:pt x="50" y="17"/>
                      <a:pt x="50" y="17"/>
                    </a:cubicBezTo>
                    <a:cubicBezTo>
                      <a:pt x="50" y="17"/>
                      <a:pt x="50" y="17"/>
                      <a:pt x="50" y="17"/>
                    </a:cubicBezTo>
                    <a:cubicBezTo>
                      <a:pt x="50" y="17"/>
                      <a:pt x="50" y="17"/>
                      <a:pt x="50" y="17"/>
                    </a:cubicBezTo>
                    <a:cubicBezTo>
                      <a:pt x="50" y="18"/>
                      <a:pt x="49" y="18"/>
                      <a:pt x="49" y="18"/>
                    </a:cubicBezTo>
                    <a:cubicBezTo>
                      <a:pt x="49" y="18"/>
                      <a:pt x="49" y="18"/>
                      <a:pt x="49" y="18"/>
                    </a:cubicBezTo>
                    <a:cubicBezTo>
                      <a:pt x="49" y="18"/>
                      <a:pt x="49" y="18"/>
                      <a:pt x="49" y="19"/>
                    </a:cubicBezTo>
                    <a:cubicBezTo>
                      <a:pt x="49" y="19"/>
                      <a:pt x="49" y="19"/>
                      <a:pt x="49" y="19"/>
                    </a:cubicBezTo>
                    <a:cubicBezTo>
                      <a:pt x="49" y="20"/>
                      <a:pt x="48" y="20"/>
                      <a:pt x="47" y="21"/>
                    </a:cubicBezTo>
                    <a:cubicBezTo>
                      <a:pt x="46" y="22"/>
                      <a:pt x="44" y="23"/>
                      <a:pt x="42" y="23"/>
                    </a:cubicBezTo>
                    <a:cubicBezTo>
                      <a:pt x="40" y="23"/>
                      <a:pt x="39" y="22"/>
                      <a:pt x="37" y="21"/>
                    </a:cubicBezTo>
                    <a:cubicBezTo>
                      <a:pt x="36" y="20"/>
                      <a:pt x="36" y="20"/>
                      <a:pt x="36" y="20"/>
                    </a:cubicBezTo>
                    <a:cubicBezTo>
                      <a:pt x="33" y="17"/>
                      <a:pt x="33" y="17"/>
                      <a:pt x="33" y="17"/>
                    </a:cubicBezTo>
                    <a:cubicBezTo>
                      <a:pt x="32" y="15"/>
                      <a:pt x="32" y="15"/>
                      <a:pt x="32" y="15"/>
                    </a:cubicBezTo>
                    <a:cubicBezTo>
                      <a:pt x="28" y="13"/>
                      <a:pt x="24" y="13"/>
                      <a:pt x="20" y="15"/>
                    </a:cubicBezTo>
                    <a:cubicBezTo>
                      <a:pt x="15" y="20"/>
                      <a:pt x="15" y="20"/>
                      <a:pt x="15" y="20"/>
                    </a:cubicBezTo>
                    <a:cubicBezTo>
                      <a:pt x="13" y="24"/>
                      <a:pt x="13" y="28"/>
                      <a:pt x="15" y="32"/>
                    </a:cubicBezTo>
                    <a:cubicBezTo>
                      <a:pt x="17" y="33"/>
                      <a:pt x="17" y="33"/>
                      <a:pt x="17" y="33"/>
                    </a:cubicBezTo>
                    <a:cubicBezTo>
                      <a:pt x="21" y="37"/>
                      <a:pt x="21" y="37"/>
                      <a:pt x="21" y="37"/>
                    </a:cubicBezTo>
                    <a:cubicBezTo>
                      <a:pt x="21" y="37"/>
                      <a:pt x="21" y="37"/>
                      <a:pt x="21" y="37"/>
                    </a:cubicBezTo>
                    <a:cubicBezTo>
                      <a:pt x="21" y="38"/>
                      <a:pt x="21" y="38"/>
                      <a:pt x="21" y="38"/>
                    </a:cubicBezTo>
                    <a:cubicBezTo>
                      <a:pt x="21" y="38"/>
                      <a:pt x="21" y="38"/>
                      <a:pt x="22" y="38"/>
                    </a:cubicBezTo>
                    <a:cubicBezTo>
                      <a:pt x="22" y="38"/>
                      <a:pt x="22" y="38"/>
                      <a:pt x="22" y="38"/>
                    </a:cubicBezTo>
                    <a:cubicBezTo>
                      <a:pt x="22" y="38"/>
                      <a:pt x="22" y="38"/>
                      <a:pt x="22" y="39"/>
                    </a:cubicBezTo>
                    <a:cubicBezTo>
                      <a:pt x="22" y="39"/>
                      <a:pt x="22" y="39"/>
                      <a:pt x="22" y="39"/>
                    </a:cubicBezTo>
                    <a:cubicBezTo>
                      <a:pt x="22" y="39"/>
                      <a:pt x="22" y="39"/>
                      <a:pt x="22" y="39"/>
                    </a:cubicBezTo>
                    <a:cubicBezTo>
                      <a:pt x="22" y="39"/>
                      <a:pt x="22" y="40"/>
                      <a:pt x="22" y="40"/>
                    </a:cubicBezTo>
                    <a:cubicBezTo>
                      <a:pt x="22" y="40"/>
                      <a:pt x="22" y="40"/>
                      <a:pt x="22" y="40"/>
                    </a:cubicBezTo>
                    <a:cubicBezTo>
                      <a:pt x="22" y="40"/>
                      <a:pt x="23" y="40"/>
                      <a:pt x="23" y="40"/>
                    </a:cubicBezTo>
                    <a:cubicBezTo>
                      <a:pt x="23" y="40"/>
                      <a:pt x="23" y="41"/>
                      <a:pt x="23" y="41"/>
                    </a:cubicBezTo>
                    <a:cubicBezTo>
                      <a:pt x="23" y="41"/>
                      <a:pt x="23" y="41"/>
                      <a:pt x="23" y="41"/>
                    </a:cubicBezTo>
                    <a:cubicBezTo>
                      <a:pt x="23" y="41"/>
                      <a:pt x="23" y="41"/>
                      <a:pt x="23" y="41"/>
                    </a:cubicBezTo>
                    <a:cubicBezTo>
                      <a:pt x="23" y="44"/>
                      <a:pt x="22" y="46"/>
                      <a:pt x="21" y="48"/>
                    </a:cubicBezTo>
                    <a:cubicBezTo>
                      <a:pt x="21" y="48"/>
                      <a:pt x="21" y="48"/>
                      <a:pt x="21" y="48"/>
                    </a:cubicBezTo>
                    <a:cubicBezTo>
                      <a:pt x="19" y="49"/>
                      <a:pt x="18" y="50"/>
                      <a:pt x="16" y="50"/>
                    </a:cubicBezTo>
                    <a:cubicBezTo>
                      <a:pt x="14" y="50"/>
                      <a:pt x="14" y="50"/>
                      <a:pt x="14" y="50"/>
                    </a:cubicBezTo>
                    <a:cubicBezTo>
                      <a:pt x="10" y="50"/>
                      <a:pt x="10" y="50"/>
                      <a:pt x="10" y="50"/>
                    </a:cubicBezTo>
                    <a:cubicBezTo>
                      <a:pt x="8" y="50"/>
                      <a:pt x="8" y="50"/>
                      <a:pt x="8" y="50"/>
                    </a:cubicBezTo>
                    <a:cubicBezTo>
                      <a:pt x="4" y="50"/>
                      <a:pt x="0" y="54"/>
                      <a:pt x="0" y="58"/>
                    </a:cubicBezTo>
                    <a:cubicBezTo>
                      <a:pt x="0" y="65"/>
                      <a:pt x="0" y="65"/>
                      <a:pt x="0" y="65"/>
                    </a:cubicBezTo>
                    <a:cubicBezTo>
                      <a:pt x="0" y="69"/>
                      <a:pt x="4" y="72"/>
                      <a:pt x="8" y="73"/>
                    </a:cubicBezTo>
                    <a:cubicBezTo>
                      <a:pt x="10" y="73"/>
                      <a:pt x="10" y="73"/>
                      <a:pt x="10" y="73"/>
                    </a:cubicBezTo>
                    <a:cubicBezTo>
                      <a:pt x="16" y="73"/>
                      <a:pt x="16" y="73"/>
                      <a:pt x="16" y="73"/>
                    </a:cubicBezTo>
                    <a:cubicBezTo>
                      <a:pt x="16" y="73"/>
                      <a:pt x="16" y="73"/>
                      <a:pt x="17" y="73"/>
                    </a:cubicBezTo>
                    <a:cubicBezTo>
                      <a:pt x="17" y="73"/>
                      <a:pt x="17" y="73"/>
                      <a:pt x="17" y="73"/>
                    </a:cubicBezTo>
                    <a:cubicBezTo>
                      <a:pt x="17" y="73"/>
                      <a:pt x="17" y="73"/>
                      <a:pt x="17" y="73"/>
                    </a:cubicBezTo>
                    <a:cubicBezTo>
                      <a:pt x="21" y="74"/>
                      <a:pt x="23" y="77"/>
                      <a:pt x="23" y="81"/>
                    </a:cubicBezTo>
                    <a:cubicBezTo>
                      <a:pt x="23" y="81"/>
                      <a:pt x="23" y="81"/>
                      <a:pt x="23" y="81"/>
                    </a:cubicBezTo>
                    <a:cubicBezTo>
                      <a:pt x="23" y="82"/>
                      <a:pt x="22" y="84"/>
                      <a:pt x="21" y="85"/>
                    </a:cubicBezTo>
                    <a:cubicBezTo>
                      <a:pt x="20" y="87"/>
                      <a:pt x="20" y="87"/>
                      <a:pt x="20" y="87"/>
                    </a:cubicBezTo>
                    <a:cubicBezTo>
                      <a:pt x="20" y="87"/>
                      <a:pt x="20" y="87"/>
                      <a:pt x="20" y="87"/>
                    </a:cubicBezTo>
                    <a:cubicBezTo>
                      <a:pt x="17" y="89"/>
                      <a:pt x="17" y="89"/>
                      <a:pt x="17" y="89"/>
                    </a:cubicBezTo>
                    <a:cubicBezTo>
                      <a:pt x="15" y="91"/>
                      <a:pt x="15" y="91"/>
                      <a:pt x="15" y="91"/>
                    </a:cubicBezTo>
                    <a:cubicBezTo>
                      <a:pt x="13" y="94"/>
                      <a:pt x="13" y="99"/>
                      <a:pt x="15" y="102"/>
                    </a:cubicBezTo>
                    <a:cubicBezTo>
                      <a:pt x="20" y="107"/>
                      <a:pt x="20" y="107"/>
                      <a:pt x="20" y="107"/>
                    </a:cubicBezTo>
                    <a:cubicBezTo>
                      <a:pt x="24" y="110"/>
                      <a:pt x="28" y="110"/>
                      <a:pt x="32" y="107"/>
                    </a:cubicBezTo>
                    <a:cubicBezTo>
                      <a:pt x="33" y="106"/>
                      <a:pt x="33" y="106"/>
                      <a:pt x="33" y="106"/>
                    </a:cubicBezTo>
                    <a:cubicBezTo>
                      <a:pt x="37" y="102"/>
                      <a:pt x="37" y="102"/>
                      <a:pt x="37" y="102"/>
                    </a:cubicBezTo>
                    <a:cubicBezTo>
                      <a:pt x="37" y="102"/>
                      <a:pt x="37" y="102"/>
                      <a:pt x="37" y="102"/>
                    </a:cubicBezTo>
                    <a:cubicBezTo>
                      <a:pt x="37" y="102"/>
                      <a:pt x="38" y="102"/>
                      <a:pt x="38" y="102"/>
                    </a:cubicBezTo>
                    <a:cubicBezTo>
                      <a:pt x="38" y="101"/>
                      <a:pt x="38" y="101"/>
                      <a:pt x="38" y="101"/>
                    </a:cubicBezTo>
                    <a:cubicBezTo>
                      <a:pt x="38" y="101"/>
                      <a:pt x="38" y="101"/>
                      <a:pt x="38" y="101"/>
                    </a:cubicBezTo>
                    <a:cubicBezTo>
                      <a:pt x="38" y="101"/>
                      <a:pt x="38" y="101"/>
                      <a:pt x="39" y="101"/>
                    </a:cubicBezTo>
                    <a:cubicBezTo>
                      <a:pt x="39" y="101"/>
                      <a:pt x="39" y="101"/>
                      <a:pt x="39" y="101"/>
                    </a:cubicBezTo>
                    <a:cubicBezTo>
                      <a:pt x="39" y="101"/>
                      <a:pt x="39" y="101"/>
                      <a:pt x="39" y="101"/>
                    </a:cubicBezTo>
                    <a:cubicBezTo>
                      <a:pt x="39" y="100"/>
                      <a:pt x="40" y="100"/>
                      <a:pt x="40" y="100"/>
                    </a:cubicBezTo>
                    <a:cubicBezTo>
                      <a:pt x="40" y="100"/>
                      <a:pt x="40" y="100"/>
                      <a:pt x="40" y="100"/>
                    </a:cubicBezTo>
                    <a:cubicBezTo>
                      <a:pt x="40" y="100"/>
                      <a:pt x="40" y="100"/>
                      <a:pt x="40" y="100"/>
                    </a:cubicBezTo>
                    <a:cubicBezTo>
                      <a:pt x="40" y="100"/>
                      <a:pt x="40" y="100"/>
                      <a:pt x="41" y="100"/>
                    </a:cubicBezTo>
                    <a:cubicBezTo>
                      <a:pt x="41" y="100"/>
                      <a:pt x="41" y="100"/>
                      <a:pt x="41" y="100"/>
                    </a:cubicBezTo>
                    <a:cubicBezTo>
                      <a:pt x="41" y="100"/>
                      <a:pt x="41" y="100"/>
                      <a:pt x="41" y="100"/>
                    </a:cubicBezTo>
                    <a:cubicBezTo>
                      <a:pt x="41" y="100"/>
                      <a:pt x="41" y="100"/>
                      <a:pt x="41" y="100"/>
                    </a:cubicBezTo>
                    <a:cubicBezTo>
                      <a:pt x="41" y="100"/>
                      <a:pt x="42" y="100"/>
                      <a:pt x="42" y="100"/>
                    </a:cubicBezTo>
                    <a:cubicBezTo>
                      <a:pt x="44" y="100"/>
                      <a:pt x="46" y="101"/>
                      <a:pt x="48" y="102"/>
                    </a:cubicBezTo>
                    <a:cubicBezTo>
                      <a:pt x="49" y="103"/>
                      <a:pt x="50" y="105"/>
                      <a:pt x="50" y="107"/>
                    </a:cubicBezTo>
                    <a:cubicBezTo>
                      <a:pt x="50" y="109"/>
                      <a:pt x="50" y="109"/>
                      <a:pt x="50" y="109"/>
                    </a:cubicBezTo>
                    <a:cubicBezTo>
                      <a:pt x="50" y="113"/>
                      <a:pt x="50" y="113"/>
                      <a:pt x="50" y="113"/>
                    </a:cubicBezTo>
                    <a:cubicBezTo>
                      <a:pt x="50" y="115"/>
                      <a:pt x="50" y="115"/>
                      <a:pt x="50" y="115"/>
                    </a:cubicBezTo>
                    <a:cubicBezTo>
                      <a:pt x="50" y="119"/>
                      <a:pt x="54" y="122"/>
                      <a:pt x="58" y="123"/>
                    </a:cubicBezTo>
                    <a:cubicBezTo>
                      <a:pt x="58" y="123"/>
                      <a:pt x="58" y="123"/>
                      <a:pt x="58" y="123"/>
                    </a:cubicBezTo>
                    <a:cubicBezTo>
                      <a:pt x="56" y="120"/>
                      <a:pt x="56" y="117"/>
                      <a:pt x="56" y="113"/>
                    </a:cubicBezTo>
                    <a:lnTo>
                      <a:pt x="56"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rgbClr val="E7E6E6">
                      <a:lumMod val="25000"/>
                    </a:srgbClr>
                  </a:solidFill>
                  <a:cs typeface="+mn-ea"/>
                  <a:sym typeface="+mn-lt"/>
                </a:endParaRPr>
              </a:p>
            </p:txBody>
          </p:sp>
        </p:grpSp>
      </p:grpSp>
      <p:sp>
        <p:nvSpPr>
          <p:cNvPr id="10" name="Text Box 9"/>
          <p:cNvSpPr txBox="1"/>
          <p:nvPr/>
        </p:nvSpPr>
        <p:spPr>
          <a:xfrm>
            <a:off x="3471545" y="461645"/>
            <a:ext cx="4730750" cy="460375"/>
          </a:xfrm>
          <a:prstGeom prst="rect">
            <a:avLst/>
          </a:prstGeom>
          <a:noFill/>
        </p:spPr>
        <p:txBody>
          <a:bodyPr wrap="square" rtlCol="0">
            <a:spAutoFit/>
          </a:bodyPr>
          <a:p>
            <a:pPr algn="ctr"/>
            <a:r>
              <a:rPr lang="en-US" altLang="en-US" sz="2400" b="1">
                <a:latin typeface="Times New Roman" panose="02020603050405020304" charset="0"/>
                <a:cs typeface="Times New Roman" panose="02020603050405020304" charset="0"/>
              </a:rPr>
              <a:t>System Testing &amp; Evaluation</a:t>
            </a:r>
            <a:endParaRPr lang="en-US" altLang="en-US" sz="2400" b="1">
              <a:latin typeface="Times New Roman" panose="02020603050405020304" charset="0"/>
              <a:cs typeface="Times New Roman" panose="02020603050405020304" charset="0"/>
            </a:endParaRPr>
          </a:p>
        </p:txBody>
      </p:sp>
      <p:pic>
        <p:nvPicPr>
          <p:cNvPr id="11" name="图片 55"/>
          <p:cNvPicPr>
            <a:picLocks noChangeAspect="1"/>
          </p:cNvPicPr>
          <p:nvPr/>
        </p:nvPicPr>
        <p:blipFill>
          <a:blip r:embed="rId1">
            <a:alphaModFix amt="40000"/>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3660209" y="271"/>
            <a:ext cx="8532090" cy="714465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16200000" flipV="1">
            <a:off x="7098030" y="1261745"/>
            <a:ext cx="5850255" cy="4338320"/>
          </a:xfrm>
          <a:prstGeom prst="rect">
            <a:avLst/>
          </a:prstGeom>
        </p:spPr>
      </p:pic>
      <p:grpSp>
        <p:nvGrpSpPr>
          <p:cNvPr id="3" name="组合 2"/>
          <p:cNvGrpSpPr/>
          <p:nvPr/>
        </p:nvGrpSpPr>
        <p:grpSpPr>
          <a:xfrm>
            <a:off x="2003952" y="626519"/>
            <a:ext cx="7269696" cy="4853778"/>
            <a:chOff x="2461152" y="2532154"/>
            <a:chExt cx="7269696" cy="4853778"/>
          </a:xfrm>
        </p:grpSpPr>
        <p:sp>
          <p:nvSpPr>
            <p:cNvPr id="4" name="Shape 6922"/>
            <p:cNvSpPr/>
            <p:nvPr/>
          </p:nvSpPr>
          <p:spPr>
            <a:xfrm>
              <a:off x="2461152" y="3616572"/>
              <a:ext cx="7269696" cy="3769360"/>
            </a:xfrm>
            <a:prstGeom prst="rect">
              <a:avLst/>
            </a:prstGeom>
            <a:ln w="12700">
              <a:round/>
            </a:ln>
          </p:spPr>
          <p:txBody>
            <a:bodyPr wrap="square" lIns="38100" tIns="38100" rIns="38100" bIns="38100">
              <a:spAutoFit/>
            </a:bodyPr>
            <a:lstStyle>
              <a:lvl1pPr>
                <a:buClr>
                  <a:srgbClr val="B5B5B5"/>
                </a:buClr>
                <a:defRPr sz="1100">
                  <a:solidFill>
                    <a:srgbClr val="B5B5B5"/>
                  </a:solidFill>
                  <a:uFill>
                    <a:solidFill>
                      <a:srgbClr val="B5B5B5"/>
                    </a:solidFill>
                  </a:uFill>
                </a:defRPr>
              </a:lvl1pPr>
            </a:lstStyle>
            <a:p>
              <a:pPr algn="just" defTabSz="1216025">
                <a:lnSpc>
                  <a:spcPct val="100000"/>
                </a:lnSpc>
                <a:spcBef>
                  <a:spcPct val="20000"/>
                </a:spcBef>
              </a:pPr>
              <a:r>
                <a:rPr kumimoji="0" lang="en-US" altLang="en-US" sz="2400" b="0" i="0" u="none" strike="noStrike" kern="0" cap="none" spc="0" normalizeH="0" baseline="0" noProof="0" dirty="0">
                  <a:ln>
                    <a:noFill/>
                  </a:ln>
                  <a:solidFill>
                    <a:schemeClr val="tx1">
                      <a:lumMod val="65000"/>
                      <a:lumOff val="35000"/>
                    </a:schemeClr>
                  </a:solidFill>
                  <a:effectLst/>
                  <a:uLnTx/>
                  <a:uFillTx/>
                  <a:latin typeface="Times New Roman" panose="02020603050405020304" charset="0"/>
                  <a:cs typeface="Times New Roman" panose="02020603050405020304" charset="0"/>
                  <a:sym typeface="+mn-lt"/>
                </a:rPr>
                <a:t>TASKWISE successfully addresses the critical limitations of manual task entry by utilizing a dedicated AI engine, significantly streamlining task management. Moving forward, our key areas of future work include integrating the system with popular calendar services (Google/Outlook), adding functionality for location-based reminders, and incorporating a Task Prioritization LLM to enhance organizational intelligence, which will be the focus of the post-presentation Questions and Answers session.</a:t>
              </a:r>
              <a:endParaRPr kumimoji="0" lang="en-US" altLang="en-US" sz="2400" b="0" i="0" u="none" strike="noStrike" kern="0" cap="none" spc="0" normalizeH="0" baseline="0" noProof="0" dirty="0">
                <a:ln>
                  <a:noFill/>
                </a:ln>
                <a:solidFill>
                  <a:schemeClr val="tx1">
                    <a:lumMod val="65000"/>
                    <a:lumOff val="35000"/>
                  </a:schemeClr>
                </a:solidFill>
                <a:effectLst/>
                <a:uLnTx/>
                <a:uFillTx/>
                <a:latin typeface="Times New Roman" panose="02020603050405020304" charset="0"/>
                <a:cs typeface="Times New Roman" panose="02020603050405020304" charset="0"/>
                <a:sym typeface="+mn-lt"/>
              </a:endParaRPr>
            </a:p>
          </p:txBody>
        </p:sp>
        <p:sp>
          <p:nvSpPr>
            <p:cNvPr id="6" name="矩形 5"/>
            <p:cNvSpPr/>
            <p:nvPr/>
          </p:nvSpPr>
          <p:spPr>
            <a:xfrm>
              <a:off x="3937425" y="3213257"/>
              <a:ext cx="309880" cy="583565"/>
            </a:xfrm>
            <a:prstGeom prst="rect">
              <a:avLst/>
            </a:prstGeom>
          </p:spPr>
          <p:txBody>
            <a:bodyPr wrap="none">
              <a:spAutoFit/>
            </a:bodyPr>
            <a:lstStyle/>
            <a:p>
              <a:endParaRPr lang="zh-CN" altLang="en-US" sz="3200" spc="300">
                <a:solidFill>
                  <a:schemeClr val="tx1">
                    <a:lumMod val="75000"/>
                    <a:lumOff val="25000"/>
                  </a:schemeClr>
                </a:solidFill>
                <a:cs typeface="+mn-ea"/>
                <a:sym typeface="+mn-lt"/>
              </a:endParaRPr>
            </a:p>
          </p:txBody>
        </p:sp>
        <p:sp>
          <p:nvSpPr>
            <p:cNvPr id="7" name="文本框 6"/>
            <p:cNvSpPr txBox="1"/>
            <p:nvPr/>
          </p:nvSpPr>
          <p:spPr>
            <a:xfrm>
              <a:off x="4896548" y="2532154"/>
              <a:ext cx="2452588" cy="3987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charset="0"/>
                  <a:cs typeface="Times New Roman" panose="02020603050405020304" charset="0"/>
                  <a:sym typeface="+mn-lt"/>
                </a:rPr>
                <a:t>CONCLUSION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charset="0"/>
                <a:cs typeface="Times New Roman" panose="02020603050405020304"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right)">
                                      <p:cBhvr>
                                        <p:cTn id="7" dur="750"/>
                                        <p:tgtEl>
                                          <p:spTgt spid="56"/>
                                        </p:tgtEl>
                                      </p:cBhvr>
                                    </p:animEffect>
                                  </p:childTnLst>
                                </p:cTn>
                              </p:par>
                            </p:childTnLst>
                          </p:cTn>
                        </p:par>
                        <p:par>
                          <p:cTn id="8" fill="hold">
                            <p:stCondLst>
                              <p:cond delay="1000"/>
                            </p:stCondLst>
                            <p:childTnLst>
                              <p:par>
                                <p:cTn id="9" presetID="47"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alphaModFix amt="60000"/>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6200000" flipV="1">
            <a:off x="7098030" y="1261745"/>
            <a:ext cx="5850255" cy="4338320"/>
          </a:xfrm>
          <a:prstGeom prst="rect">
            <a:avLst/>
          </a:prstGeom>
        </p:spPr>
      </p:pic>
      <p:grpSp>
        <p:nvGrpSpPr>
          <p:cNvPr id="3" name="组合 2"/>
          <p:cNvGrpSpPr/>
          <p:nvPr/>
        </p:nvGrpSpPr>
        <p:grpSpPr>
          <a:xfrm>
            <a:off x="2003952" y="626519"/>
            <a:ext cx="7269696" cy="1529553"/>
            <a:chOff x="2461152" y="2532154"/>
            <a:chExt cx="7269696" cy="1529553"/>
          </a:xfrm>
        </p:grpSpPr>
        <p:sp>
          <p:nvSpPr>
            <p:cNvPr id="4" name="Shape 6922"/>
            <p:cNvSpPr/>
            <p:nvPr/>
          </p:nvSpPr>
          <p:spPr>
            <a:xfrm>
              <a:off x="2461152" y="3616572"/>
              <a:ext cx="7269696" cy="445135"/>
            </a:xfrm>
            <a:prstGeom prst="rect">
              <a:avLst/>
            </a:prstGeom>
            <a:ln w="12700">
              <a:round/>
            </a:ln>
          </p:spPr>
          <p:txBody>
            <a:bodyPr wrap="square" lIns="38100" tIns="38100" rIns="38100" bIns="38100">
              <a:spAutoFit/>
            </a:bodyPr>
            <a:lstStyle>
              <a:lvl1pPr>
                <a:buClr>
                  <a:srgbClr val="B5B5B5"/>
                </a:buClr>
                <a:defRPr sz="1100">
                  <a:solidFill>
                    <a:srgbClr val="B5B5B5"/>
                  </a:solidFill>
                  <a:uFill>
                    <a:solidFill>
                      <a:srgbClr val="B5B5B5"/>
                    </a:solidFill>
                  </a:uFill>
                </a:defRPr>
              </a:lvl1pPr>
            </a:lstStyle>
            <a:p>
              <a:pPr algn="just" defTabSz="1216025">
                <a:lnSpc>
                  <a:spcPct val="100000"/>
                </a:lnSpc>
                <a:spcBef>
                  <a:spcPct val="20000"/>
                </a:spcBef>
              </a:pPr>
              <a:endParaRPr kumimoji="0" lang="en-US" altLang="en-US" sz="2400" b="0" i="0" u="none" strike="noStrike" kern="0" cap="none" spc="0" normalizeH="0" baseline="0" noProof="0" dirty="0">
                <a:ln>
                  <a:noFill/>
                </a:ln>
                <a:solidFill>
                  <a:schemeClr val="tx1">
                    <a:lumMod val="65000"/>
                    <a:lumOff val="35000"/>
                  </a:schemeClr>
                </a:solidFill>
                <a:effectLst/>
                <a:uLnTx/>
                <a:uFillTx/>
                <a:latin typeface="Times New Roman" panose="02020603050405020304" charset="0"/>
                <a:cs typeface="Times New Roman" panose="02020603050405020304" charset="0"/>
                <a:sym typeface="+mn-lt"/>
              </a:endParaRPr>
            </a:p>
          </p:txBody>
        </p:sp>
        <p:sp>
          <p:nvSpPr>
            <p:cNvPr id="6" name="矩形 5"/>
            <p:cNvSpPr/>
            <p:nvPr/>
          </p:nvSpPr>
          <p:spPr>
            <a:xfrm>
              <a:off x="3937425" y="3213257"/>
              <a:ext cx="309880" cy="583565"/>
            </a:xfrm>
            <a:prstGeom prst="rect">
              <a:avLst/>
            </a:prstGeom>
          </p:spPr>
          <p:txBody>
            <a:bodyPr wrap="none">
              <a:spAutoFit/>
            </a:bodyPr>
            <a:lstStyle/>
            <a:p>
              <a:endParaRPr lang="zh-CN" altLang="en-US" sz="3200" spc="300">
                <a:solidFill>
                  <a:schemeClr val="tx1">
                    <a:lumMod val="75000"/>
                    <a:lumOff val="25000"/>
                  </a:schemeClr>
                </a:solidFill>
                <a:cs typeface="+mn-ea"/>
                <a:sym typeface="+mn-lt"/>
              </a:endParaRPr>
            </a:p>
          </p:txBody>
        </p:sp>
        <p:sp>
          <p:nvSpPr>
            <p:cNvPr id="7" name="文本框 6"/>
            <p:cNvSpPr txBox="1"/>
            <p:nvPr/>
          </p:nvSpPr>
          <p:spPr>
            <a:xfrm>
              <a:off x="4896548" y="2532154"/>
              <a:ext cx="2452588" cy="3987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charset="0"/>
                  <a:cs typeface="Times New Roman" panose="02020603050405020304" charset="0"/>
                  <a:sym typeface="+mn-lt"/>
                </a:rPr>
                <a:t>REFERENCES</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charset="0"/>
                <a:cs typeface="Times New Roman" panose="02020603050405020304" charset="0"/>
                <a:sym typeface="+mn-lt"/>
              </a:endParaRPr>
            </a:p>
          </p:txBody>
        </p:sp>
      </p:grpSp>
      <p:graphicFrame>
        <p:nvGraphicFramePr>
          <p:cNvPr id="5" name="Table 4"/>
          <p:cNvGraphicFramePr/>
          <p:nvPr/>
        </p:nvGraphicFramePr>
        <p:xfrm>
          <a:off x="1828800" y="2667000"/>
          <a:ext cx="8533765" cy="1524000"/>
        </p:xfrm>
        <a:graphic>
          <a:graphicData uri="http://schemas.openxmlformats.org/drawingml/2006/table">
            <a:tbl>
              <a:tblPr firstRow="1" bandRow="1">
                <a:tableStyleId>{5DA37D80-6434-44D0-A028-1B22A696006F}</a:tableStyleId>
              </a:tblPr>
              <a:tblGrid>
                <a:gridCol w="4266565"/>
                <a:gridCol w="4266565"/>
              </a:tblGrid>
              <a:tr h="381000">
                <a:tc>
                  <a:txBody>
                    <a:bodyPr/>
                    <a:p>
                      <a:pPr algn="ctr">
                        <a:buNone/>
                      </a:pPr>
                      <a:r>
                        <a:rPr lang="en-US" altLang="en-US">
                          <a:latin typeface="Times New Roman" panose="02020603050405020304" charset="0"/>
                          <a:cs typeface="Times New Roman" panose="02020603050405020304" charset="0"/>
                        </a:rPr>
                        <a:t>In-Text Citation (from Table)</a:t>
                      </a:r>
                      <a:endParaRPr lang="en-US" altLang="en-US">
                        <a:latin typeface="Times New Roman" panose="02020603050405020304" charset="0"/>
                        <a:cs typeface="Times New Roman" panose="02020603050405020304" charset="0"/>
                      </a:endParaRPr>
                    </a:p>
                  </a:txBody>
                  <a:tcPr/>
                </a:tc>
                <a:tc>
                  <a:txBody>
                    <a:bodyPr/>
                    <a:p>
                      <a:pPr algn="ctr">
                        <a:buNone/>
                      </a:pPr>
                      <a:r>
                        <a:rPr lang="en-US" altLang="en-US">
                          <a:latin typeface="Times New Roman" panose="02020603050405020304" charset="0"/>
                          <a:cs typeface="Times New Roman" panose="02020603050405020304" charset="0"/>
                        </a:rPr>
                        <a:t>Full Reference </a:t>
                      </a:r>
                      <a:endParaRPr lang="en-US" altLang="en-US">
                        <a:latin typeface="Times New Roman" panose="02020603050405020304" charset="0"/>
                        <a:cs typeface="Times New Roman" panose="02020603050405020304" charset="0"/>
                      </a:endParaRPr>
                    </a:p>
                  </a:txBody>
                  <a:tcPr/>
                </a:tc>
              </a:tr>
              <a:tr h="381000">
                <a:tc>
                  <a:txBody>
                    <a:bodyPr/>
                    <a:p>
                      <a:pPr>
                        <a:buNone/>
                      </a:pPr>
                      <a:r>
                        <a:rPr lang="en-US" altLang="en-US"/>
                        <a:t>(McKinsey, 2025)</a:t>
                      </a:r>
                      <a:endParaRPr lang="en-US" altLang="en-US"/>
                    </a:p>
                  </a:txBody>
                  <a:tcPr/>
                </a:tc>
                <a:tc>
                  <a:txBody>
                    <a:bodyPr/>
                    <a:p>
                      <a:pPr>
                        <a:buNone/>
                      </a:pPr>
                      <a:r>
                        <a:rPr lang="en-US" altLang="en-US"/>
                        <a:t>McKinsey, 2025</a:t>
                      </a:r>
                      <a:endParaRPr lang="en-US" altLang="en-US"/>
                    </a:p>
                  </a:txBody>
                  <a:tcPr/>
                </a:tc>
              </a:tr>
              <a:tr h="381000">
                <a:tc>
                  <a:txBody>
                    <a:bodyPr/>
                    <a:p>
                      <a:pPr>
                        <a:buNone/>
                      </a:pPr>
                      <a:r>
                        <a:rPr lang="en-US" altLang="en-US"/>
                        <a:t>(Microsoft Research, 2025)</a:t>
                      </a:r>
                      <a:endParaRPr lang="en-US" altLang="en-US"/>
                    </a:p>
                  </a:txBody>
                  <a:tcPr/>
                </a:tc>
                <a:tc>
                  <a:txBody>
                    <a:bodyPr/>
                    <a:p>
                      <a:pPr>
                        <a:buNone/>
                      </a:pPr>
                      <a:r>
                        <a:rPr lang="en-US" altLang="en-US"/>
                        <a:t>Microsoft Research, 2025</a:t>
                      </a:r>
                      <a:endParaRPr lang="en-US" altLang="en-US"/>
                    </a:p>
                  </a:txBody>
                  <a:tcPr/>
                </a:tc>
              </a:tr>
              <a:tr h="381000">
                <a:tc>
                  <a:txBody>
                    <a:bodyPr/>
                    <a:p>
                      <a:pPr>
                        <a:buNone/>
                      </a:pPr>
                      <a:r>
                        <a:rPr lang="en-US" altLang="en-US"/>
                        <a:t>(Kumar et al., 2025)</a:t>
                      </a:r>
                      <a:endParaRPr lang="en-US" altLang="en-US"/>
                    </a:p>
                  </a:txBody>
                  <a:tcPr/>
                </a:tc>
                <a:tc>
                  <a:txBody>
                    <a:bodyPr/>
                    <a:p>
                      <a:pPr>
                        <a:buNone/>
                      </a:pPr>
                      <a:r>
                        <a:rPr lang="en-US" altLang="en-US"/>
                        <a:t>Kumar et al., 2025</a:t>
                      </a:r>
                      <a:endParaRPr lang="en-US"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right)">
                                      <p:cBhvr>
                                        <p:cTn id="7" dur="750"/>
                                        <p:tgtEl>
                                          <p:spTgt spid="56"/>
                                        </p:tgtEl>
                                      </p:cBhvr>
                                    </p:animEffect>
                                  </p:childTnLst>
                                </p:cTn>
                              </p:par>
                            </p:childTnLst>
                          </p:cTn>
                        </p:par>
                        <p:par>
                          <p:cTn id="8" fill="hold">
                            <p:stCondLst>
                              <p:cond delay="1000"/>
                            </p:stCondLst>
                            <p:childTnLst>
                              <p:par>
                                <p:cTn id="9" presetID="47"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3.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4.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5.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6.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7.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8.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9.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0.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1.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2.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3.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4.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5.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6.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7.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8.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19.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0.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1.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2.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3.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4.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5.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6.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7.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8.xml><?xml version="1.0" encoding="utf-8"?>
<p:tagLst xmlns:p="http://schemas.openxmlformats.org/presentationml/2006/main">
  <p:tag name="KSO_WM_DIAGRAM_VIRTUALLY_FRAME" val="{&quot;height&quot;:322.26535433070865,&quot;left&quot;:106.77047244094487,&quot;top&quot;:121.22629921259843,&quot;width&quot;:753.4744094488191}"/>
</p:tagLst>
</file>

<file path=ppt/tags/tag29.xml><?xml version="1.0" encoding="utf-8"?>
<p:tagLst xmlns:p="http://schemas.openxmlformats.org/presentationml/2006/main">
  <p:tag name="KSO_WM_DIAGRAM_VIRTUALLY_FRAME" val="{&quot;height&quot;:439.20007874015744,&quot;left&quot;:27.2,&quot;top&quot;:82.8,&quot;width&quot;:904.35000271088}"/>
</p:tagLst>
</file>

<file path=ppt/tags/tag30.xml><?xml version="1.0" encoding="utf-8"?>
<p:tagLst xmlns:p="http://schemas.openxmlformats.org/presentationml/2006/main">
  <p:tag name="KSO_WM_DIAGRAM_VIRTUALLY_FRAME" val="{&quot;height&quot;:439.20007874015744,&quot;left&quot;:27.2,&quot;top&quot;:82.8,&quot;width&quot;:904.35000271088}"/>
</p:tagLst>
</file>

<file path=ppt/tags/tag31.xml><?xml version="1.0" encoding="utf-8"?>
<p:tagLst xmlns:p="http://schemas.openxmlformats.org/presentationml/2006/main">
  <p:tag name="KSO_WM_DIAGRAM_VIRTUALLY_FRAME" val="{&quot;height&quot;:439.20007874015744,&quot;left&quot;:27.2,&quot;top&quot;:82.8,&quot;width&quot;:904.35000271088}"/>
</p:tagLst>
</file>

<file path=ppt/tags/tag32.xml><?xml version="1.0" encoding="utf-8"?>
<p:tagLst xmlns:p="http://schemas.openxmlformats.org/presentationml/2006/main">
  <p:tag name="KSO_WM_DIAGRAM_VIRTUALLY_FRAME" val="{&quot;height&quot;:439.20007874015744,&quot;left&quot;:27.2,&quot;top&quot;:82.8,&quot;width&quot;:904.35000271088}"/>
</p:tagLst>
</file>

<file path=ppt/tags/tag33.xml><?xml version="1.0" encoding="utf-8"?>
<p:tagLst xmlns:p="http://schemas.openxmlformats.org/presentationml/2006/main">
  <p:tag name="KSO_WM_DIAGRAM_VIRTUALLY_FRAME" val="{&quot;height&quot;:439.20007874015744,&quot;left&quot;:27.2,&quot;top&quot;:82.8,&quot;width&quot;:904.35000271088}"/>
</p:tagLst>
</file>

<file path=ppt/tags/tag34.xml><?xml version="1.0" encoding="utf-8"?>
<p:tagLst xmlns:p="http://schemas.openxmlformats.org/presentationml/2006/main">
  <p:tag name="KSO_WM_DIAGRAM_VIRTUALLY_FRAME" val="{&quot;height&quot;:439.20007874015744,&quot;left&quot;:27.2,&quot;top&quot;:82.8,&quot;width&quot;:904.35000271088}"/>
</p:tagLst>
</file>

<file path=ppt/tags/tag35.xml><?xml version="1.0" encoding="utf-8"?>
<p:tagLst xmlns:p="http://schemas.openxmlformats.org/presentationml/2006/main">
  <p:tag name="TABLE_ENDDRAG_ORIGIN_RECT" val="898*450"/>
  <p:tag name="TABLE_ENDDRAG_RECT" val="24*66*898*450"/>
</p:tagLst>
</file>

<file path=ppt/tags/tag36.xml><?xml version="1.0" encoding="utf-8"?>
<p:tagLst xmlns:p="http://schemas.openxmlformats.org/presentationml/2006/main">
  <p:tag name="TABLE_ENDDRAG_ORIGIN_RECT" val="906*424"/>
  <p:tag name="TABLE_ENDDRAG_RECT" val="29*92*906*424"/>
</p:tagLst>
</file>

<file path=ppt/tags/tag37.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38.xml><?xml version="1.0" encoding="utf-8"?>
<p:tagLst xmlns:p="http://schemas.openxmlformats.org/presentationml/2006/main">
  <p:tag name="KSO_WM_DIAGRAM_VIRTUALLY_FRAME" val="{&quot;height&quot;:247.49338582677166,&quot;left&quot;:17.915984251968503,&quot;top&quot;:212.0996062992126,&quot;width&quot;:901.4277165354331}"/>
</p:tagLst>
</file>

<file path=ppt/tags/tag39.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40.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41.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42.xml><?xml version="1.0" encoding="utf-8"?>
<p:tagLst xmlns:p="http://schemas.openxmlformats.org/presentationml/2006/main">
  <p:tag name="KSO_WM_DIAGRAM_VIRTUALLY_FRAME" val="{&quot;height&quot;:247.49338582677166,&quot;left&quot;:17.915984251968503,&quot;top&quot;:212.0996062992126,&quot;width&quot;:901.4277165354331}"/>
</p:tagLst>
</file>

<file path=ppt/tags/tag43.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44.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45.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46.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47.xml><?xml version="1.0" encoding="utf-8"?>
<p:tagLst xmlns:p="http://schemas.openxmlformats.org/presentationml/2006/main">
  <p:tag name="KSO_WM_DIAGRAM_VIRTUALLY_FRAME" val="{&quot;height&quot;:247.49338582677166,&quot;left&quot;:17.915984251968503,&quot;top&quot;:212.0996062992126,&quot;width&quot;:901.4277165354331}"/>
</p:tagLst>
</file>

<file path=ppt/tags/tag48.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49.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50.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51.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52.xml><?xml version="1.0" encoding="utf-8"?>
<p:tagLst xmlns:p="http://schemas.openxmlformats.org/presentationml/2006/main">
  <p:tag name="KSO_WM_DIAGRAM_VIRTUALLY_FRAME" val="{&quot;height&quot;:247.49338582677166,&quot;left&quot;:17.915984251968503,&quot;top&quot;:212.0996062992126,&quot;width&quot;:901.4277165354331}"/>
</p:tagLst>
</file>

<file path=ppt/tags/tag53.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54.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55.xml><?xml version="1.0" encoding="utf-8"?>
<p:tagLst xmlns:p="http://schemas.openxmlformats.org/presentationml/2006/main">
  <p:tag name="KSO_WM_DIAGRAM_VIRTUALLY_FRAME" val="{&quot;height&quot;:247.49338582677166,&quot;left&quot;:17.915984251968503,&quot;top&quot;:212.0996062992126,&quot;width&quot;:901.4277165354331}"/>
</p:tagLst>
</file>

<file path=ppt/tags/tag56.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ags/tag57.xml><?xml version="1.0" encoding="utf-8"?>
<p:tagLst xmlns:p="http://schemas.openxmlformats.org/presentationml/2006/main">
  <p:tag name="KSO_WM_DIAGRAM_VIRTUALLY_FRAME" val="{&quot;height&quot;:304.6269290895578,&quot;left&quot;:17.915984251968503,&quot;top&quot;:155.0996062992126,&quot;width&quot;:901.42771653543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xywe0c1y">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xywe0c1y">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xywe0c1y">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xywe0c1y">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xywe0c1y">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Default Theme">
  <a:themeElements>
    <a:clrScheme name="Motagua - Coloured 6 - Light">
      <a:dk1>
        <a:srgbClr val="7E7E7E"/>
      </a:dk1>
      <a:lt1>
        <a:sysClr val="window" lastClr="FFFFFF"/>
      </a:lt1>
      <a:dk2>
        <a:srgbClr val="6B6B6B"/>
      </a:dk2>
      <a:lt2>
        <a:srgbClr val="FFFFFF"/>
      </a:lt2>
      <a:accent1>
        <a:srgbClr val="81B94F"/>
      </a:accent1>
      <a:accent2>
        <a:srgbClr val="46A4DB"/>
      </a:accent2>
      <a:accent3>
        <a:srgbClr val="E5583A"/>
      </a:accent3>
      <a:accent4>
        <a:srgbClr val="F9B439"/>
      </a:accent4>
      <a:accent5>
        <a:srgbClr val="7C69A8"/>
      </a:accent5>
      <a:accent6>
        <a:srgbClr val="404F64"/>
      </a:accent6>
      <a:hlink>
        <a:srgbClr val="F33B48"/>
      </a:hlink>
      <a:folHlink>
        <a:srgbClr val="FFC000"/>
      </a:folHlink>
    </a:clrScheme>
    <a:fontScheme name="xywe0c1y">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xywe0c1y">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5735</Words>
  <Application>WPS Presentation</Application>
  <PresentationFormat>宽屏</PresentationFormat>
  <Paragraphs>252</Paragraphs>
  <Slides>14</Slides>
  <Notes>5</Notes>
  <HiddenSlides>0</HiddenSlides>
  <MMClips>0</MMClips>
  <ScaleCrop>false</ScaleCrop>
  <HeadingPairs>
    <vt:vector size="6" baseType="variant">
      <vt:variant>
        <vt:lpstr>已用的字体</vt:lpstr>
      </vt:variant>
      <vt:variant>
        <vt:i4>13</vt:i4>
      </vt:variant>
      <vt:variant>
        <vt:lpstr>主题</vt:lpstr>
      </vt:variant>
      <vt:variant>
        <vt:i4>7</vt:i4>
      </vt:variant>
      <vt:variant>
        <vt:lpstr>幻灯片标题</vt:lpstr>
      </vt:variant>
      <vt:variant>
        <vt:i4>14</vt:i4>
      </vt:variant>
    </vt:vector>
  </HeadingPairs>
  <TitlesOfParts>
    <vt:vector size="34" baseType="lpstr">
      <vt:lpstr>Arial</vt:lpstr>
      <vt:lpstr>SimSun</vt:lpstr>
      <vt:lpstr>Wingdings</vt:lpstr>
      <vt:lpstr>Calibri</vt:lpstr>
      <vt:lpstr>Lato Regular</vt:lpstr>
      <vt:lpstr>Segoe Print</vt:lpstr>
      <vt:lpstr>Times New Roman</vt:lpstr>
      <vt:lpstr>Calibri</vt:lpstr>
      <vt:lpstr>Microsoft YaHei</vt:lpstr>
      <vt:lpstr>Arial Unicode MS</vt:lpstr>
      <vt:lpstr>Georgia</vt:lpstr>
      <vt:lpstr>Cascadia Mono</vt:lpstr>
      <vt:lpstr>Cascadia Code SemiBold</vt:lpstr>
      <vt:lpstr>Office Theme</vt:lpstr>
      <vt:lpstr>1_Office 主题</vt:lpstr>
      <vt:lpstr>1_Office Theme</vt:lpstr>
      <vt:lpstr>2_Office Theme</vt:lpstr>
      <vt:lpstr>Office 主题</vt:lpstr>
      <vt:lpstr>1_Default Theme</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WPS_1731568379</cp:lastModifiedBy>
  <cp:revision>491</cp:revision>
  <dcterms:created xsi:type="dcterms:W3CDTF">2018-08-24T08:38:00Z</dcterms:created>
  <dcterms:modified xsi:type="dcterms:W3CDTF">2025-11-11T18:40:59Z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1033-12.2.0.23131</vt:lpwstr>
  </property>
  <property fmtid="{D5CDD505-2E9C-101B-9397-08002B2CF9AE}" pid="3" name="ICV">
    <vt:lpwstr>F5E5FFE390E44BBE88CE7124CF8AF5A2_13</vt:lpwstr>
  </property>
</Properties>
</file>